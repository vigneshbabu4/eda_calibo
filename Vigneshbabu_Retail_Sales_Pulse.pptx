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77" r:id="rId4"/>
    <p:sldId id="258" r:id="rId5"/>
    <p:sldId id="259" r:id="rId6"/>
    <p:sldId id="272" r:id="rId7"/>
    <p:sldId id="260" r:id="rId8"/>
    <p:sldId id="273" r:id="rId9"/>
    <p:sldId id="261" r:id="rId10"/>
    <p:sldId id="274" r:id="rId11"/>
    <p:sldId id="262" r:id="rId12"/>
    <p:sldId id="263" r:id="rId13"/>
    <p:sldId id="275" r:id="rId14"/>
    <p:sldId id="264" r:id="rId15"/>
    <p:sldId id="265" r:id="rId16"/>
    <p:sldId id="276" r:id="rId17"/>
    <p:sldId id="278" r:id="rId18"/>
    <p:sldId id="266" r:id="rId19"/>
    <p:sldId id="267" r:id="rId20"/>
    <p:sldId id="268" r:id="rId21"/>
    <p:sldId id="269" r:id="rId22"/>
    <p:sldId id="280" r:id="rId23"/>
    <p:sldId id="279" r:id="rId24"/>
    <p:sldId id="281" r:id="rId25"/>
    <p:sldId id="270" r:id="rId26"/>
    <p:sldId id="271" r:id="rId27"/>
    <p:sldId id="282" r:id="rId28"/>
    <p:sldId id="28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95E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725"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3E73F2-78EE-45B1-8146-3E67A2C29411}" type="datetimeFigureOut">
              <a:rPr lang="en-US" smtClean="0"/>
              <a:t>9/4/2026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5FE262-3D4E-47EB-B0D4-1A67ECC648BB}" type="slidenum">
              <a:rPr lang="en-US" smtClean="0"/>
              <a:t>‹#›</a:t>
            </a:fld>
            <a:endParaRPr lang="en-US"/>
          </a:p>
        </p:txBody>
      </p:sp>
    </p:spTree>
    <p:extLst>
      <p:ext uri="{BB962C8B-B14F-4D97-AF65-F5344CB8AC3E}">
        <p14:creationId xmlns:p14="http://schemas.microsoft.com/office/powerpoint/2010/main" val="1527312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5FE262-3D4E-47EB-B0D4-1A67ECC648BB}" type="slidenum">
              <a:rPr lang="en-US" smtClean="0"/>
              <a:t>1</a:t>
            </a:fld>
            <a:endParaRPr lang="en-US"/>
          </a:p>
        </p:txBody>
      </p:sp>
    </p:spTree>
    <p:extLst>
      <p:ext uri="{BB962C8B-B14F-4D97-AF65-F5344CB8AC3E}">
        <p14:creationId xmlns:p14="http://schemas.microsoft.com/office/powerpoint/2010/main" val="2299544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7FF"/>
        </a:solidFill>
        <a:effectLst/>
      </p:bgPr>
    </p:bg>
    <p:spTree>
      <p:nvGrpSpPr>
        <p:cNvPr id="1" name=""/>
        <p:cNvGrpSpPr/>
        <p:nvPr/>
      </p:nvGrpSpPr>
      <p:grpSpPr>
        <a:xfrm>
          <a:off x="0" y="0"/>
          <a:ext cx="0" cy="0"/>
          <a:chOff x="0" y="0"/>
          <a:chExt cx="0" cy="0"/>
        </a:xfrm>
      </p:grpSpPr>
      <p:sp>
        <p:nvSpPr>
          <p:cNvPr id="14" name="Rounded Rectangle 8">
            <a:extLst>
              <a:ext uri="{FF2B5EF4-FFF2-40B4-BE49-F238E27FC236}">
                <a16:creationId xmlns:a16="http://schemas.microsoft.com/office/drawing/2014/main" id="{CCA9A6F0-935F-7A5D-0169-882F1EFFF81B}"/>
              </a:ext>
            </a:extLst>
          </p:cNvPr>
          <p:cNvSpPr/>
          <p:nvPr/>
        </p:nvSpPr>
        <p:spPr>
          <a:xfrm>
            <a:off x="8188960" y="4660616"/>
            <a:ext cx="1991988" cy="962944"/>
          </a:xfrm>
          <a:prstGeom prst="roundRect">
            <a:avLst/>
          </a:prstGeom>
          <a:solidFill>
            <a:srgbClr val="6C43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Oval 1"/>
          <p:cNvSpPr/>
          <p:nvPr/>
        </p:nvSpPr>
        <p:spPr>
          <a:xfrm>
            <a:off x="10652760" y="-320040"/>
            <a:ext cx="1828800" cy="182880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411480" y="5623560"/>
            <a:ext cx="1554480" cy="155448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01400" y="5440680"/>
            <a:ext cx="1188720" cy="11887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046720" y="731520"/>
            <a:ext cx="3017520" cy="30175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418320" y="1828800"/>
            <a:ext cx="2194560" cy="219456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557606"/>
            <a:ext cx="6414961" cy="1569660"/>
          </a:xfrm>
          <a:prstGeom prst="rect">
            <a:avLst/>
          </a:prstGeom>
          <a:noFill/>
        </p:spPr>
        <p:txBody>
          <a:bodyPr wrap="none">
            <a:spAutoFit/>
          </a:bodyPr>
          <a:lstStyle/>
          <a:p>
            <a:pPr>
              <a:defRPr sz="3800" b="1">
                <a:solidFill>
                  <a:srgbClr val="2D1F44"/>
                </a:solidFill>
                <a:latin typeface="Aptos Display"/>
              </a:defRPr>
            </a:pPr>
            <a:r>
              <a:rPr sz="4800" dirty="0"/>
              <a:t>RETAIL SALES PULSE</a:t>
            </a:r>
          </a:p>
          <a:p>
            <a:pPr>
              <a:defRPr sz="2600">
                <a:solidFill>
                  <a:srgbClr val="6C43B4"/>
                </a:solidFill>
                <a:latin typeface="Aptos Display"/>
              </a:defRPr>
            </a:pPr>
            <a:r>
              <a:rPr sz="4800" dirty="0"/>
              <a:t>From Analysis to Pipeline</a:t>
            </a:r>
          </a:p>
        </p:txBody>
      </p:sp>
      <p:sp>
        <p:nvSpPr>
          <p:cNvPr id="8" name="TextBox 7"/>
          <p:cNvSpPr txBox="1"/>
          <p:nvPr/>
        </p:nvSpPr>
        <p:spPr>
          <a:xfrm>
            <a:off x="777240" y="3116826"/>
            <a:ext cx="6257226" cy="400110"/>
          </a:xfrm>
          <a:prstGeom prst="rect">
            <a:avLst/>
          </a:prstGeom>
          <a:noFill/>
        </p:spPr>
        <p:txBody>
          <a:bodyPr wrap="none">
            <a:spAutoFit/>
          </a:bodyPr>
          <a:lstStyle/>
          <a:p>
            <a:pPr>
              <a:defRPr sz="1500">
                <a:solidFill>
                  <a:srgbClr val="645B6E"/>
                </a:solidFill>
                <a:latin typeface="Aptos"/>
              </a:defRPr>
            </a:pPr>
            <a:r>
              <a:rPr sz="2000" dirty="0"/>
              <a:t>Retail / E-commerce  |  Jan–Jun 2026 + weekly API pulse</a:t>
            </a:r>
          </a:p>
        </p:txBody>
      </p:sp>
      <p:sp>
        <p:nvSpPr>
          <p:cNvPr id="9" name="Rounded Rectangle 8"/>
          <p:cNvSpPr/>
          <p:nvPr/>
        </p:nvSpPr>
        <p:spPr>
          <a:xfrm>
            <a:off x="829494" y="3742509"/>
            <a:ext cx="3418042" cy="603350"/>
          </a:xfrm>
          <a:prstGeom prst="roundRect">
            <a:avLst/>
          </a:prstGeom>
          <a:solidFill>
            <a:srgbClr val="6C43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48366" y="3843092"/>
            <a:ext cx="3101556" cy="400110"/>
          </a:xfrm>
          <a:prstGeom prst="rect">
            <a:avLst/>
          </a:prstGeom>
          <a:noFill/>
        </p:spPr>
        <p:txBody>
          <a:bodyPr wrap="square">
            <a:spAutoFit/>
          </a:bodyPr>
          <a:lstStyle/>
          <a:p>
            <a:pPr algn="ctr">
              <a:defRPr sz="1100" b="1">
                <a:solidFill>
                  <a:srgbClr val="FFFFFF"/>
                </a:solidFill>
              </a:defRPr>
            </a:pPr>
            <a:r>
              <a:rPr sz="2000" dirty="0"/>
              <a:t>EDA + DATA PIPELINE</a:t>
            </a:r>
          </a:p>
        </p:txBody>
      </p:sp>
      <p:sp>
        <p:nvSpPr>
          <p:cNvPr id="12" name="TextBox 11">
            <a:extLst>
              <a:ext uri="{FF2B5EF4-FFF2-40B4-BE49-F238E27FC236}">
                <a16:creationId xmlns:a16="http://schemas.microsoft.com/office/drawing/2014/main" id="{F489BB4C-ABF3-871F-7444-12E8408E3231}"/>
              </a:ext>
            </a:extLst>
          </p:cNvPr>
          <p:cNvSpPr txBox="1"/>
          <p:nvPr/>
        </p:nvSpPr>
        <p:spPr>
          <a:xfrm>
            <a:off x="8266084" y="4732794"/>
            <a:ext cx="1991988" cy="1015663"/>
          </a:xfrm>
          <a:prstGeom prst="rect">
            <a:avLst/>
          </a:prstGeom>
          <a:noFill/>
        </p:spPr>
        <p:txBody>
          <a:bodyPr wrap="square">
            <a:spAutoFit/>
          </a:bodyPr>
          <a:lstStyle/>
          <a:p>
            <a:r>
              <a:rPr lang="en-US" sz="2000" b="1" dirty="0">
                <a:solidFill>
                  <a:schemeClr val="bg1"/>
                </a:solidFill>
                <a:latin typeface="Bahnschrift SemiBold SemiConden" panose="020B0502040204020203" pitchFamily="34" charset="0"/>
                <a:ea typeface="Calibri Light" panose="020F0302020204030204" pitchFamily="34" charset="0"/>
                <a:cs typeface="Calibri Light" panose="020F0302020204030204" pitchFamily="34" charset="0"/>
              </a:rPr>
              <a:t>  Presented by</a:t>
            </a:r>
          </a:p>
          <a:p>
            <a:r>
              <a:rPr lang="en-US" sz="2000" b="1" dirty="0" err="1">
                <a:solidFill>
                  <a:schemeClr val="bg1"/>
                </a:solidFill>
                <a:latin typeface="Bahnschrift SemiBold SemiConden" panose="020B0502040204020203" pitchFamily="34" charset="0"/>
                <a:ea typeface="Calibri Light" panose="020F0302020204030204" pitchFamily="34" charset="0"/>
                <a:cs typeface="Calibri Light" panose="020F0302020204030204" pitchFamily="34" charset="0"/>
              </a:rPr>
              <a:t>G.Vignesh</a:t>
            </a:r>
            <a:r>
              <a:rPr lang="en-US" sz="2000" b="1" dirty="0">
                <a:solidFill>
                  <a:schemeClr val="bg1"/>
                </a:solidFill>
                <a:latin typeface="Bahnschrift SemiBold SemiConden" panose="020B0502040204020203" pitchFamily="34" charset="0"/>
                <a:ea typeface="Calibri Light" panose="020F0302020204030204" pitchFamily="34" charset="0"/>
                <a:cs typeface="Calibri Light" panose="020F0302020204030204" pitchFamily="34" charset="0"/>
              </a:rPr>
              <a:t> babu</a:t>
            </a:r>
          </a:p>
          <a:p>
            <a:endParaRPr lang="en-US" sz="2000" b="1" dirty="0">
              <a:solidFill>
                <a:schemeClr val="bg1"/>
              </a:solidFill>
              <a:latin typeface="Bahnschrift SemiBold SemiConden" panose="020B0502040204020203" pitchFamily="34" charset="0"/>
              <a:ea typeface="Calibri Light" panose="020F0302020204030204" pitchFamily="34" charset="0"/>
              <a:cs typeface="Calibri Light" panose="020F03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7FF"/>
        </a:solidFill>
        <a:effectLst/>
      </p:bgPr>
    </p:bg>
    <p:spTree>
      <p:nvGrpSpPr>
        <p:cNvPr id="1" name=""/>
        <p:cNvGrpSpPr/>
        <p:nvPr/>
      </p:nvGrpSpPr>
      <p:grpSpPr>
        <a:xfrm>
          <a:off x="0" y="0"/>
          <a:ext cx="0" cy="0"/>
          <a:chOff x="0" y="0"/>
          <a:chExt cx="0" cy="0"/>
        </a:xfrm>
      </p:grpSpPr>
      <p:sp>
        <p:nvSpPr>
          <p:cNvPr id="2" name="Oval 1"/>
          <p:cNvSpPr/>
          <p:nvPr/>
        </p:nvSpPr>
        <p:spPr>
          <a:xfrm>
            <a:off x="10652760" y="-320040"/>
            <a:ext cx="1828800" cy="182880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411480" y="5623560"/>
            <a:ext cx="1554480" cy="155448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01400" y="5440680"/>
            <a:ext cx="1188720" cy="11887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47472"/>
            <a:ext cx="10972800" cy="594360"/>
          </a:xfrm>
          <a:prstGeom prst="rect">
            <a:avLst/>
          </a:prstGeom>
          <a:noFill/>
        </p:spPr>
        <p:txBody>
          <a:bodyPr wrap="none">
            <a:spAutoFit/>
          </a:bodyPr>
          <a:lstStyle/>
          <a:p>
            <a:pPr>
              <a:defRPr sz="2800" b="1">
                <a:solidFill>
                  <a:srgbClr val="2D1F44"/>
                </a:solidFill>
                <a:latin typeface="Aptos Display"/>
              </a:defRPr>
            </a:pPr>
            <a:r>
              <a:t>One business story: analysis → automation</a:t>
            </a:r>
          </a:p>
        </p:txBody>
      </p:sp>
      <p:sp>
        <p:nvSpPr>
          <p:cNvPr id="6" name="Rounded Rectangle 5"/>
          <p:cNvSpPr/>
          <p:nvPr/>
        </p:nvSpPr>
        <p:spPr>
          <a:xfrm>
            <a:off x="640080" y="1417320"/>
            <a:ext cx="5394960" cy="4389120"/>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96109" y="1731698"/>
            <a:ext cx="64010" cy="3708982"/>
          </a:xfrm>
          <a:prstGeom prst="roundRect">
            <a:avLst/>
          </a:prstGeom>
          <a:solidFill>
            <a:srgbClr val="6C43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4712" y="1702786"/>
            <a:ext cx="3890489" cy="461665"/>
          </a:xfrm>
          <a:prstGeom prst="rect">
            <a:avLst/>
          </a:prstGeom>
          <a:noFill/>
        </p:spPr>
        <p:txBody>
          <a:bodyPr wrap="none">
            <a:spAutoFit/>
          </a:bodyPr>
          <a:lstStyle/>
          <a:p>
            <a:pPr>
              <a:defRPr sz="1500" b="1">
                <a:solidFill>
                  <a:srgbClr val="2D1F44"/>
                </a:solidFill>
                <a:latin typeface="Aptos"/>
              </a:defRPr>
            </a:pPr>
            <a:r>
              <a:rPr sz="2400" dirty="0"/>
              <a:t>Part 1 — Retail Sales Pulse</a:t>
            </a:r>
          </a:p>
        </p:txBody>
      </p:sp>
      <p:sp>
        <p:nvSpPr>
          <p:cNvPr id="9" name="TextBox 8"/>
          <p:cNvSpPr txBox="1"/>
          <p:nvPr/>
        </p:nvSpPr>
        <p:spPr>
          <a:xfrm>
            <a:off x="1124712" y="2477328"/>
            <a:ext cx="4864608" cy="1938992"/>
          </a:xfrm>
          <a:prstGeom prst="rect">
            <a:avLst/>
          </a:prstGeom>
          <a:noFill/>
        </p:spPr>
        <p:txBody>
          <a:bodyPr wrap="square">
            <a:spAutoFit/>
          </a:bodyPr>
          <a:lstStyle/>
          <a:p>
            <a:pPr>
              <a:defRPr sz="1600">
                <a:solidFill>
                  <a:srgbClr val="2D1F44"/>
                </a:solidFill>
                <a:latin typeface="Aptos"/>
              </a:defRPr>
            </a:pPr>
            <a:r>
              <a:rPr sz="2000" dirty="0"/>
              <a:t>5.1 Load &amp; inspect</a:t>
            </a:r>
            <a:br>
              <a:rPr sz="2000" dirty="0"/>
            </a:br>
            <a:r>
              <a:rPr sz="2000" dirty="0"/>
              <a:t>5.2 Revenue by store</a:t>
            </a:r>
            <a:br>
              <a:rPr sz="2000" dirty="0"/>
            </a:br>
            <a:r>
              <a:rPr sz="2000" dirty="0"/>
              <a:t>5.3 Category trends</a:t>
            </a:r>
            <a:br>
              <a:rPr sz="2000" dirty="0"/>
            </a:br>
            <a:r>
              <a:rPr sz="2000" dirty="0"/>
              <a:t>5.4 Day-of-week &amp; monthly patterns</a:t>
            </a:r>
            <a:br>
              <a:rPr sz="2000" dirty="0"/>
            </a:br>
            <a:r>
              <a:rPr sz="2000" dirty="0"/>
              <a:t>5.5 Anomaly identification</a:t>
            </a:r>
            <a:br>
              <a:rPr sz="2000" dirty="0"/>
            </a:br>
            <a:r>
              <a:rPr sz="2000" dirty="0"/>
              <a:t>5.6 Business recommendation</a:t>
            </a:r>
          </a:p>
        </p:txBody>
      </p:sp>
      <p:sp>
        <p:nvSpPr>
          <p:cNvPr id="10" name="Rounded Rectangle 9"/>
          <p:cNvSpPr/>
          <p:nvPr/>
        </p:nvSpPr>
        <p:spPr>
          <a:xfrm>
            <a:off x="6172200" y="1417320"/>
            <a:ext cx="5394960" cy="4389120"/>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364224" y="1731698"/>
            <a:ext cx="45720" cy="3708982"/>
          </a:xfrm>
          <a:prstGeom prst="roundRect">
            <a:avLst/>
          </a:prstGeom>
          <a:solidFill>
            <a:srgbClr val="E65C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9672" y="1731698"/>
            <a:ext cx="4376454" cy="461665"/>
          </a:xfrm>
          <a:prstGeom prst="rect">
            <a:avLst/>
          </a:prstGeom>
          <a:noFill/>
        </p:spPr>
        <p:txBody>
          <a:bodyPr wrap="none">
            <a:spAutoFit/>
          </a:bodyPr>
          <a:lstStyle/>
          <a:p>
            <a:pPr>
              <a:defRPr sz="1500" b="1">
                <a:solidFill>
                  <a:srgbClr val="2D1F44"/>
                </a:solidFill>
                <a:latin typeface="Aptos"/>
              </a:defRPr>
            </a:pPr>
            <a:r>
              <a:rPr sz="2400" dirty="0"/>
              <a:t>Part 2 — Automating the Pulse</a:t>
            </a:r>
          </a:p>
        </p:txBody>
      </p:sp>
      <p:sp>
        <p:nvSpPr>
          <p:cNvPr id="13" name="TextBox 12"/>
          <p:cNvSpPr txBox="1"/>
          <p:nvPr/>
        </p:nvSpPr>
        <p:spPr>
          <a:xfrm>
            <a:off x="6547104" y="2578608"/>
            <a:ext cx="4864608" cy="1631216"/>
          </a:xfrm>
          <a:prstGeom prst="rect">
            <a:avLst/>
          </a:prstGeom>
          <a:noFill/>
        </p:spPr>
        <p:txBody>
          <a:bodyPr wrap="square">
            <a:spAutoFit/>
          </a:bodyPr>
          <a:lstStyle/>
          <a:p>
            <a:pPr>
              <a:defRPr sz="1600">
                <a:solidFill>
                  <a:srgbClr val="2D1F44"/>
                </a:solidFill>
                <a:latin typeface="Aptos"/>
              </a:defRPr>
            </a:pPr>
            <a:r>
              <a:rPr sz="2000" dirty="0"/>
              <a:t>5.7 Understand JSON structure</a:t>
            </a:r>
            <a:br>
              <a:rPr sz="2000" dirty="0"/>
            </a:br>
            <a:r>
              <a:rPr sz="2000" dirty="0"/>
              <a:t>5.8 Ingest &amp; parse API response</a:t>
            </a:r>
            <a:br>
              <a:rPr sz="2000" dirty="0"/>
            </a:br>
            <a:r>
              <a:rPr sz="2000" dirty="0"/>
              <a:t>5.9 Validate corrupt data</a:t>
            </a:r>
            <a:br>
              <a:rPr sz="2000" dirty="0"/>
            </a:br>
            <a:r>
              <a:rPr sz="2000" dirty="0"/>
              <a:t>5.10 Transform &amp; aggregate</a:t>
            </a:r>
            <a:br>
              <a:rPr sz="2000" dirty="0"/>
            </a:br>
            <a:r>
              <a:rPr sz="2000" dirty="0"/>
              <a:t>5.11 Generate weekly summary</a:t>
            </a:r>
          </a:p>
        </p:txBody>
      </p:sp>
      <p:sp>
        <p:nvSpPr>
          <p:cNvPr id="14" name="TextBox 13"/>
          <p:cNvSpPr txBox="1"/>
          <p:nvPr/>
        </p:nvSpPr>
        <p:spPr>
          <a:xfrm>
            <a:off x="10881360" y="6446520"/>
            <a:ext cx="640080" cy="228600"/>
          </a:xfrm>
          <a:prstGeom prst="rect">
            <a:avLst/>
          </a:prstGeom>
          <a:noFill/>
        </p:spPr>
        <p:txBody>
          <a:bodyPr wrap="none">
            <a:spAutoFit/>
          </a:bodyPr>
          <a:lstStyle/>
          <a:p>
            <a:pPr algn="r">
              <a:defRPr sz="900">
                <a:solidFill>
                  <a:srgbClr val="645B6E"/>
                </a:solidFill>
              </a:defRPr>
            </a:pPr>
            <a:r>
              <a:t>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animBg="1"/>
      <p:bldP spid="11" grpId="0" animBg="1"/>
      <p:bldP spid="12" grpId="0"/>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7FF"/>
        </a:solidFill>
        <a:effectLst/>
      </p:bgPr>
    </p:bg>
    <p:spTree>
      <p:nvGrpSpPr>
        <p:cNvPr id="1" name="">
          <a:extLst>
            <a:ext uri="{FF2B5EF4-FFF2-40B4-BE49-F238E27FC236}">
              <a16:creationId xmlns:a16="http://schemas.microsoft.com/office/drawing/2014/main" id="{4C9902B0-576D-9DDB-3566-32151EF50AA2}"/>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C9639BE2-5FAC-D2D4-2DEF-11B0171D48A8}"/>
              </a:ext>
            </a:extLst>
          </p:cNvPr>
          <p:cNvSpPr/>
          <p:nvPr/>
        </p:nvSpPr>
        <p:spPr>
          <a:xfrm>
            <a:off x="10652760" y="-320040"/>
            <a:ext cx="1828800" cy="182880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DD495F81-6A6F-FF38-66BF-8C3F33A899EF}"/>
              </a:ext>
            </a:extLst>
          </p:cNvPr>
          <p:cNvSpPr/>
          <p:nvPr/>
        </p:nvSpPr>
        <p:spPr>
          <a:xfrm>
            <a:off x="-411480" y="5623560"/>
            <a:ext cx="1554480" cy="155448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18346F5-CD23-13BD-712A-45A6439AC577}"/>
              </a:ext>
            </a:extLst>
          </p:cNvPr>
          <p:cNvSpPr/>
          <p:nvPr/>
        </p:nvSpPr>
        <p:spPr>
          <a:xfrm>
            <a:off x="11201400" y="5440680"/>
            <a:ext cx="1188720" cy="11887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25A58610-603F-288A-5828-39FBC6E78AB4}"/>
              </a:ext>
            </a:extLst>
          </p:cNvPr>
          <p:cNvSpPr txBox="1"/>
          <p:nvPr/>
        </p:nvSpPr>
        <p:spPr>
          <a:xfrm>
            <a:off x="10881360" y="6446520"/>
            <a:ext cx="640080" cy="228600"/>
          </a:xfrm>
          <a:prstGeom prst="rect">
            <a:avLst/>
          </a:prstGeom>
          <a:noFill/>
        </p:spPr>
        <p:txBody>
          <a:bodyPr wrap="none">
            <a:spAutoFit/>
          </a:bodyPr>
          <a:lstStyle/>
          <a:p>
            <a:pPr algn="r">
              <a:defRPr sz="900">
                <a:solidFill>
                  <a:srgbClr val="645B6E"/>
                </a:solidFill>
              </a:defRPr>
            </a:pPr>
            <a:r>
              <a:t>2</a:t>
            </a:r>
          </a:p>
        </p:txBody>
      </p:sp>
      <p:sp>
        <p:nvSpPr>
          <p:cNvPr id="16" name="TextBox 15">
            <a:extLst>
              <a:ext uri="{FF2B5EF4-FFF2-40B4-BE49-F238E27FC236}">
                <a16:creationId xmlns:a16="http://schemas.microsoft.com/office/drawing/2014/main" id="{A0AC8D99-5A90-881E-D256-BF1774C029B4}"/>
              </a:ext>
            </a:extLst>
          </p:cNvPr>
          <p:cNvSpPr txBox="1"/>
          <p:nvPr/>
        </p:nvSpPr>
        <p:spPr>
          <a:xfrm>
            <a:off x="1322109" y="2563172"/>
            <a:ext cx="9738360" cy="1015663"/>
          </a:xfrm>
          <a:prstGeom prst="rect">
            <a:avLst/>
          </a:prstGeom>
          <a:noFill/>
        </p:spPr>
        <p:txBody>
          <a:bodyPr wrap="square">
            <a:spAutoFit/>
          </a:bodyPr>
          <a:lstStyle/>
          <a:p>
            <a:pPr>
              <a:defRPr sz="1500" b="1">
                <a:solidFill>
                  <a:srgbClr val="2D1F44"/>
                </a:solidFill>
                <a:latin typeface="Aptos"/>
              </a:defRPr>
            </a:pPr>
            <a:r>
              <a:rPr lang="en-US" sz="6000" dirty="0"/>
              <a:t>Part 1 — Retail Sales Pulse</a:t>
            </a:r>
          </a:p>
        </p:txBody>
      </p:sp>
    </p:spTree>
    <p:extLst>
      <p:ext uri="{BB962C8B-B14F-4D97-AF65-F5344CB8AC3E}">
        <p14:creationId xmlns:p14="http://schemas.microsoft.com/office/powerpoint/2010/main" val="3701735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7FF"/>
        </a:solidFill>
        <a:effectLst/>
      </p:bgPr>
    </p:bg>
    <p:spTree>
      <p:nvGrpSpPr>
        <p:cNvPr id="1" name=""/>
        <p:cNvGrpSpPr/>
        <p:nvPr/>
      </p:nvGrpSpPr>
      <p:grpSpPr>
        <a:xfrm>
          <a:off x="0" y="0"/>
          <a:ext cx="0" cy="0"/>
          <a:chOff x="0" y="0"/>
          <a:chExt cx="0" cy="0"/>
        </a:xfrm>
      </p:grpSpPr>
      <p:sp>
        <p:nvSpPr>
          <p:cNvPr id="2" name="Oval 1"/>
          <p:cNvSpPr/>
          <p:nvPr/>
        </p:nvSpPr>
        <p:spPr>
          <a:xfrm>
            <a:off x="10652760" y="-320040"/>
            <a:ext cx="1828800" cy="182880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411480" y="5623560"/>
            <a:ext cx="1554480" cy="155448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01400" y="5440680"/>
            <a:ext cx="1188720" cy="11887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47472"/>
            <a:ext cx="10972800" cy="594360"/>
          </a:xfrm>
          <a:prstGeom prst="rect">
            <a:avLst/>
          </a:prstGeom>
          <a:noFill/>
        </p:spPr>
        <p:txBody>
          <a:bodyPr wrap="none">
            <a:spAutoFit/>
          </a:bodyPr>
          <a:lstStyle/>
          <a:p>
            <a:pPr>
              <a:defRPr sz="2800" b="1">
                <a:solidFill>
                  <a:srgbClr val="2D1F44"/>
                </a:solidFill>
                <a:latin typeface="Aptos Display"/>
              </a:defRPr>
            </a:pPr>
            <a:r>
              <a:t>5.1 — Load and inspect the data</a:t>
            </a:r>
          </a:p>
        </p:txBody>
      </p:sp>
      <p:sp>
        <p:nvSpPr>
          <p:cNvPr id="6" name="Rounded Rectangle 5"/>
          <p:cNvSpPr/>
          <p:nvPr/>
        </p:nvSpPr>
        <p:spPr>
          <a:xfrm>
            <a:off x="685800" y="1325880"/>
            <a:ext cx="2560320" cy="1325880"/>
          </a:xfrm>
          <a:prstGeom prst="roundRect">
            <a:avLst/>
          </a:prstGeom>
          <a:solidFill>
            <a:srgbClr val="FFFFFF"/>
          </a:solidFill>
          <a:ln>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490472"/>
            <a:ext cx="2286000" cy="502920"/>
          </a:xfrm>
          <a:prstGeom prst="rect">
            <a:avLst/>
          </a:prstGeom>
          <a:noFill/>
        </p:spPr>
        <p:txBody>
          <a:bodyPr wrap="none">
            <a:spAutoFit/>
          </a:bodyPr>
          <a:lstStyle/>
          <a:p>
            <a:pPr algn="ctr">
              <a:defRPr sz="2300" b="1">
                <a:solidFill>
                  <a:srgbClr val="6C43B4"/>
                </a:solidFill>
                <a:latin typeface="Aptos Display"/>
              </a:defRPr>
            </a:pPr>
            <a:r>
              <a:t>107,836</a:t>
            </a:r>
          </a:p>
        </p:txBody>
      </p:sp>
      <p:sp>
        <p:nvSpPr>
          <p:cNvPr id="8" name="TextBox 7"/>
          <p:cNvSpPr txBox="1"/>
          <p:nvPr/>
        </p:nvSpPr>
        <p:spPr>
          <a:xfrm>
            <a:off x="822960" y="2075688"/>
            <a:ext cx="2286000" cy="502919"/>
          </a:xfrm>
          <a:prstGeom prst="rect">
            <a:avLst/>
          </a:prstGeom>
          <a:noFill/>
        </p:spPr>
        <p:txBody>
          <a:bodyPr wrap="none">
            <a:spAutoFit/>
          </a:bodyPr>
          <a:lstStyle/>
          <a:p>
            <a:pPr algn="ctr">
              <a:defRPr sz="1100">
                <a:solidFill>
                  <a:srgbClr val="645B6E"/>
                </a:solidFill>
                <a:latin typeface="Aptos"/>
              </a:defRPr>
            </a:pPr>
            <a:r>
              <a:t>transactions</a:t>
            </a:r>
          </a:p>
        </p:txBody>
      </p:sp>
      <p:sp>
        <p:nvSpPr>
          <p:cNvPr id="9" name="Rounded Rectangle 8"/>
          <p:cNvSpPr/>
          <p:nvPr/>
        </p:nvSpPr>
        <p:spPr>
          <a:xfrm>
            <a:off x="3429000" y="1325880"/>
            <a:ext cx="2560320" cy="1325880"/>
          </a:xfrm>
          <a:prstGeom prst="roundRect">
            <a:avLst/>
          </a:prstGeom>
          <a:solidFill>
            <a:srgbClr val="FFFFFF"/>
          </a:solidFill>
          <a:ln>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66160" y="1490472"/>
            <a:ext cx="2286000" cy="502920"/>
          </a:xfrm>
          <a:prstGeom prst="rect">
            <a:avLst/>
          </a:prstGeom>
          <a:noFill/>
        </p:spPr>
        <p:txBody>
          <a:bodyPr wrap="none">
            <a:spAutoFit/>
          </a:bodyPr>
          <a:lstStyle/>
          <a:p>
            <a:pPr algn="ctr">
              <a:defRPr sz="2300" b="1">
                <a:solidFill>
                  <a:srgbClr val="6C43B4"/>
                </a:solidFill>
                <a:latin typeface="Aptos Display"/>
              </a:defRPr>
            </a:pPr>
            <a:r>
              <a:t>10</a:t>
            </a:r>
          </a:p>
        </p:txBody>
      </p:sp>
      <p:sp>
        <p:nvSpPr>
          <p:cNvPr id="11" name="TextBox 10"/>
          <p:cNvSpPr txBox="1"/>
          <p:nvPr/>
        </p:nvSpPr>
        <p:spPr>
          <a:xfrm>
            <a:off x="3566160" y="2075688"/>
            <a:ext cx="2286000" cy="502919"/>
          </a:xfrm>
          <a:prstGeom prst="rect">
            <a:avLst/>
          </a:prstGeom>
          <a:noFill/>
        </p:spPr>
        <p:txBody>
          <a:bodyPr wrap="none">
            <a:spAutoFit/>
          </a:bodyPr>
          <a:lstStyle/>
          <a:p>
            <a:pPr algn="ctr">
              <a:defRPr sz="1100">
                <a:solidFill>
                  <a:srgbClr val="645B6E"/>
                </a:solidFill>
                <a:latin typeface="Aptos"/>
              </a:defRPr>
            </a:pPr>
            <a:r>
              <a:t>columns</a:t>
            </a:r>
          </a:p>
        </p:txBody>
      </p:sp>
      <p:sp>
        <p:nvSpPr>
          <p:cNvPr id="12" name="Rounded Rectangle 11"/>
          <p:cNvSpPr/>
          <p:nvPr/>
        </p:nvSpPr>
        <p:spPr>
          <a:xfrm>
            <a:off x="6172200" y="1325880"/>
            <a:ext cx="2560320" cy="1325880"/>
          </a:xfrm>
          <a:prstGeom prst="roundRect">
            <a:avLst/>
          </a:prstGeom>
          <a:solidFill>
            <a:srgbClr val="FFFFFF"/>
          </a:solidFill>
          <a:ln>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09360" y="1490472"/>
            <a:ext cx="2286000" cy="502920"/>
          </a:xfrm>
          <a:prstGeom prst="rect">
            <a:avLst/>
          </a:prstGeom>
          <a:noFill/>
        </p:spPr>
        <p:txBody>
          <a:bodyPr wrap="none">
            <a:spAutoFit/>
          </a:bodyPr>
          <a:lstStyle/>
          <a:p>
            <a:pPr algn="ctr">
              <a:defRPr sz="2300" b="1">
                <a:solidFill>
                  <a:srgbClr val="6C43B4"/>
                </a:solidFill>
                <a:latin typeface="Aptos Display"/>
              </a:defRPr>
            </a:pPr>
            <a:r>
              <a:t>0</a:t>
            </a:r>
          </a:p>
        </p:txBody>
      </p:sp>
      <p:sp>
        <p:nvSpPr>
          <p:cNvPr id="14" name="TextBox 13"/>
          <p:cNvSpPr txBox="1"/>
          <p:nvPr/>
        </p:nvSpPr>
        <p:spPr>
          <a:xfrm>
            <a:off x="6309360" y="2075688"/>
            <a:ext cx="2286000" cy="502919"/>
          </a:xfrm>
          <a:prstGeom prst="rect">
            <a:avLst/>
          </a:prstGeom>
          <a:noFill/>
        </p:spPr>
        <p:txBody>
          <a:bodyPr wrap="none">
            <a:spAutoFit/>
          </a:bodyPr>
          <a:lstStyle/>
          <a:p>
            <a:pPr algn="ctr">
              <a:defRPr sz="1100">
                <a:solidFill>
                  <a:srgbClr val="645B6E"/>
                </a:solidFill>
                <a:latin typeface="Aptos"/>
              </a:defRPr>
            </a:pPr>
            <a:r>
              <a:t>null values</a:t>
            </a:r>
          </a:p>
        </p:txBody>
      </p:sp>
      <p:sp>
        <p:nvSpPr>
          <p:cNvPr id="15" name="Rounded Rectangle 14"/>
          <p:cNvSpPr/>
          <p:nvPr/>
        </p:nvSpPr>
        <p:spPr>
          <a:xfrm>
            <a:off x="8915400" y="1325880"/>
            <a:ext cx="2560320" cy="1325880"/>
          </a:xfrm>
          <a:prstGeom prst="roundRect">
            <a:avLst/>
          </a:prstGeom>
          <a:solidFill>
            <a:srgbClr val="FFFFFF"/>
          </a:solidFill>
          <a:ln>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52560" y="1490472"/>
            <a:ext cx="2286000" cy="502920"/>
          </a:xfrm>
          <a:prstGeom prst="rect">
            <a:avLst/>
          </a:prstGeom>
          <a:noFill/>
        </p:spPr>
        <p:txBody>
          <a:bodyPr wrap="none">
            <a:spAutoFit/>
          </a:bodyPr>
          <a:lstStyle/>
          <a:p>
            <a:pPr algn="ctr">
              <a:defRPr sz="2300" b="1">
                <a:solidFill>
                  <a:srgbClr val="6C43B4"/>
                </a:solidFill>
                <a:latin typeface="Aptos Display"/>
              </a:defRPr>
            </a:pPr>
            <a:r>
              <a:t>Jan–Jun</a:t>
            </a:r>
          </a:p>
        </p:txBody>
      </p:sp>
      <p:sp>
        <p:nvSpPr>
          <p:cNvPr id="17" name="TextBox 16"/>
          <p:cNvSpPr txBox="1"/>
          <p:nvPr/>
        </p:nvSpPr>
        <p:spPr>
          <a:xfrm>
            <a:off x="9052560" y="2075688"/>
            <a:ext cx="2286000" cy="502919"/>
          </a:xfrm>
          <a:prstGeom prst="rect">
            <a:avLst/>
          </a:prstGeom>
          <a:noFill/>
        </p:spPr>
        <p:txBody>
          <a:bodyPr wrap="none">
            <a:spAutoFit/>
          </a:bodyPr>
          <a:lstStyle/>
          <a:p>
            <a:pPr algn="ctr">
              <a:defRPr sz="1100">
                <a:solidFill>
                  <a:srgbClr val="645B6E"/>
                </a:solidFill>
                <a:latin typeface="Aptos"/>
              </a:defRPr>
            </a:pPr>
            <a:r>
              <a:t>2026 coverage</a:t>
            </a:r>
          </a:p>
        </p:txBody>
      </p:sp>
      <p:sp>
        <p:nvSpPr>
          <p:cNvPr id="18" name="Rounded Rectangle 17"/>
          <p:cNvSpPr/>
          <p:nvPr/>
        </p:nvSpPr>
        <p:spPr>
          <a:xfrm>
            <a:off x="1161488" y="4430416"/>
            <a:ext cx="4745736" cy="1947278"/>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389888" y="4494276"/>
            <a:ext cx="45719" cy="1788537"/>
          </a:xfrm>
          <a:prstGeom prst="roundRect">
            <a:avLst/>
          </a:prstGeom>
          <a:solidFill>
            <a:srgbClr val="6C43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536192" y="4644857"/>
            <a:ext cx="4846320" cy="320040"/>
          </a:xfrm>
          <a:prstGeom prst="rect">
            <a:avLst/>
          </a:prstGeom>
          <a:noFill/>
        </p:spPr>
        <p:txBody>
          <a:bodyPr wrap="square">
            <a:spAutoFit/>
          </a:bodyPr>
          <a:lstStyle/>
          <a:p>
            <a:pPr>
              <a:defRPr sz="1500" b="1">
                <a:solidFill>
                  <a:srgbClr val="2D1F44"/>
                </a:solidFill>
                <a:latin typeface="Aptos"/>
              </a:defRPr>
            </a:pPr>
            <a:r>
              <a:rPr dirty="0"/>
              <a:t>Observation 1</a:t>
            </a:r>
          </a:p>
        </p:txBody>
      </p:sp>
      <p:sp>
        <p:nvSpPr>
          <p:cNvPr id="21" name="TextBox 20"/>
          <p:cNvSpPr txBox="1"/>
          <p:nvPr/>
        </p:nvSpPr>
        <p:spPr>
          <a:xfrm>
            <a:off x="1490471" y="5080933"/>
            <a:ext cx="4308494" cy="954107"/>
          </a:xfrm>
          <a:prstGeom prst="rect">
            <a:avLst/>
          </a:prstGeom>
          <a:noFill/>
        </p:spPr>
        <p:txBody>
          <a:bodyPr wrap="square">
            <a:spAutoFit/>
          </a:bodyPr>
          <a:lstStyle/>
          <a:p>
            <a:pPr>
              <a:defRPr sz="1500">
                <a:solidFill>
                  <a:srgbClr val="2D1F44"/>
                </a:solidFill>
                <a:latin typeface="Aptos"/>
              </a:defRPr>
            </a:pPr>
            <a:r>
              <a:rPr sz="1400" dirty="0"/>
              <a:t>Average transaction revenue is about ₹4,263.92, while the maximum is ₹355,090.88. The very large maximum suggests that unusually high-value transactions should be monitored.</a:t>
            </a:r>
          </a:p>
        </p:txBody>
      </p:sp>
      <p:sp>
        <p:nvSpPr>
          <p:cNvPr id="22" name="Rounded Rectangle 21"/>
          <p:cNvSpPr/>
          <p:nvPr/>
        </p:nvSpPr>
        <p:spPr>
          <a:xfrm>
            <a:off x="6134442" y="4452735"/>
            <a:ext cx="4791657" cy="1893102"/>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3" name="Rounded Rectangle 22"/>
          <p:cNvSpPr/>
          <p:nvPr/>
        </p:nvSpPr>
        <p:spPr>
          <a:xfrm>
            <a:off x="6290677" y="4507698"/>
            <a:ext cx="73152" cy="1775115"/>
          </a:xfrm>
          <a:prstGeom prst="roundRect">
            <a:avLst/>
          </a:prstGeom>
          <a:solidFill>
            <a:srgbClr val="E65C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09730" y="4653608"/>
            <a:ext cx="4846320" cy="320040"/>
          </a:xfrm>
          <a:prstGeom prst="rect">
            <a:avLst/>
          </a:prstGeom>
          <a:noFill/>
        </p:spPr>
        <p:txBody>
          <a:bodyPr wrap="none">
            <a:spAutoFit/>
          </a:bodyPr>
          <a:lstStyle/>
          <a:p>
            <a:pPr>
              <a:defRPr sz="1500" b="1">
                <a:solidFill>
                  <a:srgbClr val="2D1F44"/>
                </a:solidFill>
                <a:latin typeface="Aptos"/>
              </a:defRPr>
            </a:pPr>
            <a:r>
              <a:rPr dirty="0"/>
              <a:t>Observation 2</a:t>
            </a:r>
          </a:p>
        </p:txBody>
      </p:sp>
      <p:sp>
        <p:nvSpPr>
          <p:cNvPr id="25" name="TextBox 24"/>
          <p:cNvSpPr txBox="1"/>
          <p:nvPr/>
        </p:nvSpPr>
        <p:spPr>
          <a:xfrm>
            <a:off x="6547104" y="4973648"/>
            <a:ext cx="4181856" cy="1246495"/>
          </a:xfrm>
          <a:prstGeom prst="rect">
            <a:avLst/>
          </a:prstGeom>
          <a:noFill/>
        </p:spPr>
        <p:txBody>
          <a:bodyPr wrap="square">
            <a:spAutoFit/>
          </a:bodyPr>
          <a:lstStyle/>
          <a:p>
            <a:pPr>
              <a:defRPr sz="1500">
                <a:solidFill>
                  <a:srgbClr val="2D1F44"/>
                </a:solidFill>
                <a:latin typeface="Aptos"/>
              </a:defRPr>
            </a:pPr>
            <a:r>
              <a:rPr dirty="0"/>
              <a:t>Average units sold is 2.58 per transaction. This suggests most transactions involve only a small number of items, so revenue performance is strongly influenced by transaction </a:t>
            </a:r>
            <a:r>
              <a:rPr sz="1400" dirty="0"/>
              <a:t>value</a:t>
            </a:r>
            <a:r>
              <a:rPr dirty="0"/>
              <a:t> and product mix.</a:t>
            </a:r>
          </a:p>
        </p:txBody>
      </p:sp>
      <p:sp>
        <p:nvSpPr>
          <p:cNvPr id="26" name="TextBox 25"/>
          <p:cNvSpPr txBox="1"/>
          <p:nvPr/>
        </p:nvSpPr>
        <p:spPr>
          <a:xfrm>
            <a:off x="10881360" y="6446520"/>
            <a:ext cx="640080" cy="228600"/>
          </a:xfrm>
          <a:prstGeom prst="rect">
            <a:avLst/>
          </a:prstGeom>
          <a:noFill/>
        </p:spPr>
        <p:txBody>
          <a:bodyPr wrap="none">
            <a:spAutoFit/>
          </a:bodyPr>
          <a:lstStyle/>
          <a:p>
            <a:pPr algn="r">
              <a:defRPr sz="900">
                <a:solidFill>
                  <a:srgbClr val="645B6E"/>
                </a:solidFill>
              </a:defRPr>
            </a:pPr>
            <a:r>
              <a:t>3</a:t>
            </a:r>
          </a:p>
        </p:txBody>
      </p:sp>
      <p:sp>
        <p:nvSpPr>
          <p:cNvPr id="27" name="Rounded Rectangle 8">
            <a:extLst>
              <a:ext uri="{FF2B5EF4-FFF2-40B4-BE49-F238E27FC236}">
                <a16:creationId xmlns:a16="http://schemas.microsoft.com/office/drawing/2014/main" id="{AA73E4C0-287C-0CC8-D473-6EF203DE00E5}"/>
              </a:ext>
            </a:extLst>
          </p:cNvPr>
          <p:cNvSpPr/>
          <p:nvPr/>
        </p:nvSpPr>
        <p:spPr>
          <a:xfrm>
            <a:off x="4812792" y="2843882"/>
            <a:ext cx="2560320" cy="1325880"/>
          </a:xfrm>
          <a:prstGeom prst="roundRect">
            <a:avLst/>
          </a:prstGeom>
          <a:solidFill>
            <a:srgbClr val="FFFFFF"/>
          </a:solidFill>
          <a:ln>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0E4AE4C3-7F83-B59C-4033-572205FBF936}"/>
              </a:ext>
            </a:extLst>
          </p:cNvPr>
          <p:cNvSpPr txBox="1"/>
          <p:nvPr/>
        </p:nvSpPr>
        <p:spPr>
          <a:xfrm>
            <a:off x="5909076" y="3009556"/>
            <a:ext cx="343364" cy="446276"/>
          </a:xfrm>
          <a:prstGeom prst="rect">
            <a:avLst/>
          </a:prstGeom>
          <a:noFill/>
        </p:spPr>
        <p:txBody>
          <a:bodyPr wrap="none">
            <a:spAutoFit/>
          </a:bodyPr>
          <a:lstStyle/>
          <a:p>
            <a:pPr algn="ctr">
              <a:defRPr sz="2300" b="1">
                <a:solidFill>
                  <a:srgbClr val="6C43B4"/>
                </a:solidFill>
                <a:latin typeface="Aptos Display"/>
              </a:defRPr>
            </a:pPr>
            <a:r>
              <a:rPr dirty="0"/>
              <a:t>0</a:t>
            </a:r>
          </a:p>
        </p:txBody>
      </p:sp>
      <p:sp>
        <p:nvSpPr>
          <p:cNvPr id="29" name="TextBox 28">
            <a:extLst>
              <a:ext uri="{FF2B5EF4-FFF2-40B4-BE49-F238E27FC236}">
                <a16:creationId xmlns:a16="http://schemas.microsoft.com/office/drawing/2014/main" id="{F34C369B-607E-33E1-D60C-3B68157E4986}"/>
              </a:ext>
            </a:extLst>
          </p:cNvPr>
          <p:cNvSpPr txBox="1"/>
          <p:nvPr/>
        </p:nvSpPr>
        <p:spPr>
          <a:xfrm>
            <a:off x="5658208" y="3594772"/>
            <a:ext cx="845104" cy="261610"/>
          </a:xfrm>
          <a:prstGeom prst="rect">
            <a:avLst/>
          </a:prstGeom>
          <a:noFill/>
        </p:spPr>
        <p:txBody>
          <a:bodyPr wrap="none">
            <a:spAutoFit/>
          </a:bodyPr>
          <a:lstStyle/>
          <a:p>
            <a:pPr algn="ctr">
              <a:defRPr sz="1100">
                <a:solidFill>
                  <a:srgbClr val="645B6E"/>
                </a:solidFill>
                <a:latin typeface="Aptos"/>
              </a:defRPr>
            </a:pPr>
            <a:r>
              <a:rPr lang="en-US" dirty="0"/>
              <a:t>Duplicates</a:t>
            </a:r>
            <a:endParaRPr dirty="0"/>
          </a:p>
        </p:txBody>
      </p:sp>
      <p:sp>
        <p:nvSpPr>
          <p:cNvPr id="30" name="Rounded Rectangle 8">
            <a:extLst>
              <a:ext uri="{FF2B5EF4-FFF2-40B4-BE49-F238E27FC236}">
                <a16:creationId xmlns:a16="http://schemas.microsoft.com/office/drawing/2014/main" id="{998C6119-C533-7F92-A946-11572D18B2BE}"/>
              </a:ext>
            </a:extLst>
          </p:cNvPr>
          <p:cNvSpPr/>
          <p:nvPr/>
        </p:nvSpPr>
        <p:spPr>
          <a:xfrm>
            <a:off x="7961678" y="2851945"/>
            <a:ext cx="2560320" cy="1325880"/>
          </a:xfrm>
          <a:prstGeom prst="roundRect">
            <a:avLst/>
          </a:prstGeom>
          <a:solidFill>
            <a:srgbClr val="FFFFFF"/>
          </a:solidFill>
          <a:ln>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1" name="TextBox 30">
            <a:extLst>
              <a:ext uri="{FF2B5EF4-FFF2-40B4-BE49-F238E27FC236}">
                <a16:creationId xmlns:a16="http://schemas.microsoft.com/office/drawing/2014/main" id="{D5CC1634-63EC-9068-624B-2EF793DA6F88}"/>
              </a:ext>
            </a:extLst>
          </p:cNvPr>
          <p:cNvSpPr txBox="1"/>
          <p:nvPr/>
        </p:nvSpPr>
        <p:spPr>
          <a:xfrm>
            <a:off x="9070156" y="3060546"/>
            <a:ext cx="343364" cy="446276"/>
          </a:xfrm>
          <a:prstGeom prst="rect">
            <a:avLst/>
          </a:prstGeom>
          <a:noFill/>
        </p:spPr>
        <p:txBody>
          <a:bodyPr wrap="none">
            <a:spAutoFit/>
          </a:bodyPr>
          <a:lstStyle/>
          <a:p>
            <a:pPr algn="ctr">
              <a:defRPr sz="2300" b="1">
                <a:solidFill>
                  <a:srgbClr val="6C43B4"/>
                </a:solidFill>
                <a:latin typeface="Aptos Display"/>
              </a:defRPr>
            </a:pPr>
            <a:r>
              <a:rPr dirty="0"/>
              <a:t>0</a:t>
            </a:r>
          </a:p>
        </p:txBody>
      </p:sp>
      <p:sp>
        <p:nvSpPr>
          <p:cNvPr id="32" name="TextBox 31">
            <a:extLst>
              <a:ext uri="{FF2B5EF4-FFF2-40B4-BE49-F238E27FC236}">
                <a16:creationId xmlns:a16="http://schemas.microsoft.com/office/drawing/2014/main" id="{825F0CEB-4692-B749-57B9-AD4DC1954A52}"/>
              </a:ext>
            </a:extLst>
          </p:cNvPr>
          <p:cNvSpPr txBox="1"/>
          <p:nvPr/>
        </p:nvSpPr>
        <p:spPr>
          <a:xfrm>
            <a:off x="8787230" y="3609522"/>
            <a:ext cx="909223" cy="261610"/>
          </a:xfrm>
          <a:prstGeom prst="rect">
            <a:avLst/>
          </a:prstGeom>
          <a:noFill/>
        </p:spPr>
        <p:txBody>
          <a:bodyPr wrap="none">
            <a:spAutoFit/>
          </a:bodyPr>
          <a:lstStyle/>
          <a:p>
            <a:pPr algn="ctr">
              <a:defRPr sz="1100">
                <a:solidFill>
                  <a:srgbClr val="645B6E"/>
                </a:solidFill>
                <a:latin typeface="Aptos"/>
              </a:defRPr>
            </a:pPr>
            <a:r>
              <a:rPr lang="en-US" dirty="0"/>
              <a:t>Invalid Data</a:t>
            </a:r>
            <a:endParaRPr dirty="0"/>
          </a:p>
        </p:txBody>
      </p:sp>
      <p:sp>
        <p:nvSpPr>
          <p:cNvPr id="33" name="Rounded Rectangle 8">
            <a:extLst>
              <a:ext uri="{FF2B5EF4-FFF2-40B4-BE49-F238E27FC236}">
                <a16:creationId xmlns:a16="http://schemas.microsoft.com/office/drawing/2014/main" id="{A822856E-6AAE-2D52-147B-A67A58B2127A}"/>
              </a:ext>
            </a:extLst>
          </p:cNvPr>
          <p:cNvSpPr/>
          <p:nvPr/>
        </p:nvSpPr>
        <p:spPr>
          <a:xfrm>
            <a:off x="1839696" y="2851945"/>
            <a:ext cx="2560320" cy="1325880"/>
          </a:xfrm>
          <a:prstGeom prst="roundRect">
            <a:avLst/>
          </a:prstGeom>
          <a:solidFill>
            <a:srgbClr val="FFFFFF"/>
          </a:solidFill>
          <a:ln>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4" name="TextBox 33">
            <a:extLst>
              <a:ext uri="{FF2B5EF4-FFF2-40B4-BE49-F238E27FC236}">
                <a16:creationId xmlns:a16="http://schemas.microsoft.com/office/drawing/2014/main" id="{08B2D425-DF2E-A2E4-CD8A-D322E8E07A0D}"/>
              </a:ext>
            </a:extLst>
          </p:cNvPr>
          <p:cNvSpPr txBox="1"/>
          <p:nvPr/>
        </p:nvSpPr>
        <p:spPr>
          <a:xfrm>
            <a:off x="2517392" y="3153459"/>
            <a:ext cx="1119217" cy="446276"/>
          </a:xfrm>
          <a:prstGeom prst="rect">
            <a:avLst/>
          </a:prstGeom>
          <a:noFill/>
        </p:spPr>
        <p:txBody>
          <a:bodyPr wrap="none">
            <a:spAutoFit/>
          </a:bodyPr>
          <a:lstStyle/>
          <a:p>
            <a:pPr algn="ctr">
              <a:defRPr sz="2300" b="1">
                <a:solidFill>
                  <a:srgbClr val="6C43B4"/>
                </a:solidFill>
                <a:latin typeface="Aptos Display"/>
              </a:defRPr>
            </a:pPr>
            <a:r>
              <a:rPr lang="en-US" sz="2300" b="1" dirty="0"/>
              <a:t>₹45+Cr</a:t>
            </a:r>
            <a:endParaRPr dirty="0"/>
          </a:p>
        </p:txBody>
      </p:sp>
      <p:sp>
        <p:nvSpPr>
          <p:cNvPr id="35" name="TextBox 34">
            <a:extLst>
              <a:ext uri="{FF2B5EF4-FFF2-40B4-BE49-F238E27FC236}">
                <a16:creationId xmlns:a16="http://schemas.microsoft.com/office/drawing/2014/main" id="{3C9D5A66-5B4E-6CA6-5656-49C81E561688}"/>
              </a:ext>
            </a:extLst>
          </p:cNvPr>
          <p:cNvSpPr txBox="1"/>
          <p:nvPr/>
        </p:nvSpPr>
        <p:spPr>
          <a:xfrm>
            <a:off x="2574300" y="3629188"/>
            <a:ext cx="1005404" cy="261610"/>
          </a:xfrm>
          <a:prstGeom prst="rect">
            <a:avLst/>
          </a:prstGeom>
          <a:noFill/>
        </p:spPr>
        <p:txBody>
          <a:bodyPr wrap="none">
            <a:spAutoFit/>
          </a:bodyPr>
          <a:lstStyle/>
          <a:p>
            <a:pPr algn="ctr">
              <a:defRPr sz="1100">
                <a:solidFill>
                  <a:srgbClr val="645B6E"/>
                </a:solidFill>
                <a:latin typeface="Aptos"/>
              </a:defRPr>
            </a:pPr>
            <a:r>
              <a:rPr lang="en-US" dirty="0"/>
              <a:t>Total </a:t>
            </a:r>
            <a:r>
              <a:rPr lang="en-US" sz="1100" dirty="0"/>
              <a:t>revenue</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500"/>
                                        <p:tgtEl>
                                          <p:spTgt spid="3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500"/>
                                        <p:tgtEl>
                                          <p:spTgt spid="3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fade">
                                      <p:cBhvr>
                                        <p:cTn id="57" dur="500"/>
                                        <p:tgtEl>
                                          <p:spTgt spid="3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fade">
                                      <p:cBhvr>
                                        <p:cTn id="62" dur="500"/>
                                        <p:tgtEl>
                                          <p:spTgt spid="29"/>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500"/>
                                        <p:tgtEl>
                                          <p:spTgt spid="2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500"/>
                                        <p:tgtEl>
                                          <p:spTgt spid="28"/>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500"/>
                                        <p:tgtEl>
                                          <p:spTgt spid="3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500"/>
                                        <p:tgtEl>
                                          <p:spTgt spid="31"/>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500"/>
                                        <p:tgtEl>
                                          <p:spTgt spid="30"/>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21"/>
                                        </p:tgtEl>
                                        <p:attrNameLst>
                                          <p:attrName>style.visibility</p:attrName>
                                        </p:attrNameLst>
                                      </p:cBhvr>
                                      <p:to>
                                        <p:strVal val="visible"/>
                                      </p:to>
                                    </p:set>
                                    <p:animEffect transition="in" filter="fade">
                                      <p:cBhvr>
                                        <p:cTn id="84" dur="500"/>
                                        <p:tgtEl>
                                          <p:spTgt spid="2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500"/>
                                        <p:tgtEl>
                                          <p:spTgt spid="2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18"/>
                                        </p:tgtEl>
                                        <p:attrNameLst>
                                          <p:attrName>style.visibility</p:attrName>
                                        </p:attrNameLst>
                                      </p:cBhvr>
                                      <p:to>
                                        <p:strVal val="visible"/>
                                      </p:to>
                                    </p:set>
                                    <p:animEffect transition="in" filter="fade">
                                      <p:cBhvr>
                                        <p:cTn id="90" dur="500"/>
                                        <p:tgtEl>
                                          <p:spTgt spid="18"/>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19"/>
                                        </p:tgtEl>
                                        <p:attrNameLst>
                                          <p:attrName>style.visibility</p:attrName>
                                        </p:attrNameLst>
                                      </p:cBhvr>
                                      <p:to>
                                        <p:strVal val="visible"/>
                                      </p:to>
                                    </p:set>
                                    <p:animEffect transition="in" filter="fade">
                                      <p:cBhvr>
                                        <p:cTn id="93" dur="500"/>
                                        <p:tgtEl>
                                          <p:spTgt spid="19"/>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5"/>
                                        </p:tgtEl>
                                        <p:attrNameLst>
                                          <p:attrName>style.visibility</p:attrName>
                                        </p:attrNameLst>
                                      </p:cBhvr>
                                      <p:to>
                                        <p:strVal val="visible"/>
                                      </p:to>
                                    </p:set>
                                    <p:animEffect transition="in" filter="fade">
                                      <p:cBhvr>
                                        <p:cTn id="96" dur="500"/>
                                        <p:tgtEl>
                                          <p:spTgt spid="25"/>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24"/>
                                        </p:tgtEl>
                                        <p:attrNameLst>
                                          <p:attrName>style.visibility</p:attrName>
                                        </p:attrNameLst>
                                      </p:cBhvr>
                                      <p:to>
                                        <p:strVal val="visible"/>
                                      </p:to>
                                    </p:set>
                                    <p:animEffect transition="in" filter="fade">
                                      <p:cBhvr>
                                        <p:cTn id="99" dur="500"/>
                                        <p:tgtEl>
                                          <p:spTgt spid="2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22"/>
                                        </p:tgtEl>
                                        <p:attrNameLst>
                                          <p:attrName>style.visibility</p:attrName>
                                        </p:attrNameLst>
                                      </p:cBhvr>
                                      <p:to>
                                        <p:strVal val="visible"/>
                                      </p:to>
                                    </p:set>
                                    <p:animEffect transition="in" filter="fade">
                                      <p:cBhvr>
                                        <p:cTn id="102" dur="500"/>
                                        <p:tgtEl>
                                          <p:spTgt spid="22"/>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23"/>
                                        </p:tgtEl>
                                        <p:attrNameLst>
                                          <p:attrName>style.visibility</p:attrName>
                                        </p:attrNameLst>
                                      </p:cBhvr>
                                      <p:to>
                                        <p:strVal val="visible"/>
                                      </p:to>
                                    </p:set>
                                    <p:animEffect transition="in" filter="fade">
                                      <p:cBhvr>
                                        <p:cTn id="10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9" grpId="0" animBg="1"/>
      <p:bldP spid="10" grpId="0"/>
      <p:bldP spid="11" grpId="0"/>
      <p:bldP spid="12" grpId="0" animBg="1"/>
      <p:bldP spid="13" grpId="0"/>
      <p:bldP spid="14" grpId="0"/>
      <p:bldP spid="15" grpId="0" animBg="1"/>
      <p:bldP spid="16" grpId="0"/>
      <p:bldP spid="17" grpId="0"/>
      <p:bldP spid="18" grpId="0" animBg="1"/>
      <p:bldP spid="19" grpId="0" animBg="1"/>
      <p:bldP spid="20" grpId="0"/>
      <p:bldP spid="21" grpId="0"/>
      <p:bldP spid="22" grpId="0" animBg="1"/>
      <p:bldP spid="23" grpId="0" animBg="1"/>
      <p:bldP spid="24" grpId="0"/>
      <p:bldP spid="25" grpId="0"/>
      <p:bldP spid="27" grpId="0" animBg="1"/>
      <p:bldP spid="28" grpId="0"/>
      <p:bldP spid="29" grpId="0"/>
      <p:bldP spid="30" grpId="0" animBg="1"/>
      <p:bldP spid="31" grpId="0"/>
      <p:bldP spid="32" grpId="0"/>
      <p:bldP spid="33" grpId="0" animBg="1"/>
      <p:bldP spid="34" grpId="0"/>
      <p:bldP spid="3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7FF"/>
        </a:solidFill>
        <a:effectLst/>
      </p:bgPr>
    </p:bg>
    <p:spTree>
      <p:nvGrpSpPr>
        <p:cNvPr id="1" name=""/>
        <p:cNvGrpSpPr/>
        <p:nvPr/>
      </p:nvGrpSpPr>
      <p:grpSpPr>
        <a:xfrm>
          <a:off x="0" y="0"/>
          <a:ext cx="0" cy="0"/>
          <a:chOff x="0" y="0"/>
          <a:chExt cx="0" cy="0"/>
        </a:xfrm>
      </p:grpSpPr>
      <p:sp>
        <p:nvSpPr>
          <p:cNvPr id="2" name="Oval 1"/>
          <p:cNvSpPr/>
          <p:nvPr/>
        </p:nvSpPr>
        <p:spPr>
          <a:xfrm>
            <a:off x="10652760" y="-320040"/>
            <a:ext cx="1828800" cy="182880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411480" y="5623560"/>
            <a:ext cx="1554480" cy="155448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01400" y="5440680"/>
            <a:ext cx="1188720" cy="11887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47472"/>
            <a:ext cx="10972800" cy="594360"/>
          </a:xfrm>
          <a:prstGeom prst="rect">
            <a:avLst/>
          </a:prstGeom>
          <a:noFill/>
        </p:spPr>
        <p:txBody>
          <a:bodyPr wrap="none">
            <a:spAutoFit/>
          </a:bodyPr>
          <a:lstStyle/>
          <a:p>
            <a:pPr>
              <a:defRPr sz="2800" b="1">
                <a:solidFill>
                  <a:srgbClr val="2D1F44"/>
                </a:solidFill>
                <a:latin typeface="Aptos Display"/>
              </a:defRPr>
            </a:pPr>
            <a:r>
              <a:t>5.2 — Revenue by store</a:t>
            </a:r>
          </a:p>
        </p:txBody>
      </p:sp>
      <p:sp>
        <p:nvSpPr>
          <p:cNvPr id="6" name="TextBox 5"/>
          <p:cNvSpPr txBox="1"/>
          <p:nvPr/>
        </p:nvSpPr>
        <p:spPr>
          <a:xfrm>
            <a:off x="624840" y="781812"/>
            <a:ext cx="10515600" cy="365760"/>
          </a:xfrm>
          <a:prstGeom prst="rect">
            <a:avLst/>
          </a:prstGeom>
          <a:noFill/>
        </p:spPr>
        <p:txBody>
          <a:bodyPr wrap="none">
            <a:spAutoFit/>
          </a:bodyPr>
          <a:lstStyle/>
          <a:p>
            <a:pPr>
              <a:defRPr sz="1200">
                <a:solidFill>
                  <a:srgbClr val="645B6E"/>
                </a:solidFill>
                <a:latin typeface="Aptos"/>
              </a:defRPr>
            </a:pPr>
            <a:r>
              <a:rPr dirty="0"/>
              <a:t>Six-month revenue, ranked highest to lowest</a:t>
            </a:r>
          </a:p>
        </p:txBody>
      </p:sp>
      <p:sp>
        <p:nvSpPr>
          <p:cNvPr id="7" name="Rounded Rectangle 6"/>
          <p:cNvSpPr/>
          <p:nvPr/>
        </p:nvSpPr>
        <p:spPr>
          <a:xfrm>
            <a:off x="93224" y="1046375"/>
            <a:ext cx="7545944" cy="5265935"/>
          </a:xfrm>
          <a:prstGeom prst="roundRect">
            <a:avLst/>
          </a:prstGeom>
          <a:solidFill>
            <a:srgbClr val="F7F1FB"/>
          </a:solidFill>
          <a:ln w="19050">
            <a:solidFill>
              <a:srgbClr val="6C43B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0</a:t>
            </a:r>
            <a:endParaRPr dirty="0"/>
          </a:p>
        </p:txBody>
      </p:sp>
      <p:sp>
        <p:nvSpPr>
          <p:cNvPr id="9" name="Rounded Rectangle 8"/>
          <p:cNvSpPr/>
          <p:nvPr/>
        </p:nvSpPr>
        <p:spPr>
          <a:xfrm>
            <a:off x="7723728" y="1234440"/>
            <a:ext cx="3931920" cy="2057400"/>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890384" y="1389888"/>
            <a:ext cx="73152" cy="1746504"/>
          </a:xfrm>
          <a:prstGeom prst="roundRect">
            <a:avLst/>
          </a:prstGeom>
          <a:solidFill>
            <a:srgbClr val="6C43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00696" y="1435608"/>
            <a:ext cx="3429000" cy="320040"/>
          </a:xfrm>
          <a:prstGeom prst="rect">
            <a:avLst/>
          </a:prstGeom>
          <a:noFill/>
        </p:spPr>
        <p:txBody>
          <a:bodyPr wrap="none">
            <a:spAutoFit/>
          </a:bodyPr>
          <a:lstStyle/>
          <a:p>
            <a:pPr>
              <a:defRPr sz="1500" b="1">
                <a:solidFill>
                  <a:srgbClr val="2D1F44"/>
                </a:solidFill>
                <a:latin typeface="Aptos"/>
              </a:defRPr>
            </a:pPr>
            <a:r>
              <a:t>Top 3</a:t>
            </a:r>
          </a:p>
        </p:txBody>
      </p:sp>
      <p:sp>
        <p:nvSpPr>
          <p:cNvPr id="12" name="TextBox 11"/>
          <p:cNvSpPr txBox="1"/>
          <p:nvPr/>
        </p:nvSpPr>
        <p:spPr>
          <a:xfrm>
            <a:off x="8100696" y="1856232"/>
            <a:ext cx="3401568" cy="1280160"/>
          </a:xfrm>
          <a:prstGeom prst="rect">
            <a:avLst/>
          </a:prstGeom>
          <a:noFill/>
        </p:spPr>
        <p:txBody>
          <a:bodyPr wrap="square">
            <a:spAutoFit/>
          </a:bodyPr>
          <a:lstStyle/>
          <a:p>
            <a:pPr>
              <a:defRPr sz="1300">
                <a:solidFill>
                  <a:srgbClr val="2D1F44"/>
                </a:solidFill>
                <a:latin typeface="Aptos"/>
              </a:defRPr>
            </a:pPr>
            <a:r>
              <a:rPr dirty="0"/>
              <a:t>S01 — Vijayawada: ₹5.9</a:t>
            </a:r>
            <a:r>
              <a:rPr lang="en-US" dirty="0"/>
              <a:t>1 </a:t>
            </a:r>
            <a:r>
              <a:rPr dirty="0"/>
              <a:t>Cr</a:t>
            </a:r>
            <a:br>
              <a:rPr dirty="0"/>
            </a:br>
            <a:r>
              <a:rPr dirty="0"/>
              <a:t>S03 — Guntur: ₹5.3</a:t>
            </a:r>
            <a:r>
              <a:rPr lang="en-US" dirty="0"/>
              <a:t>2</a:t>
            </a:r>
            <a:r>
              <a:rPr dirty="0"/>
              <a:t> Cr</a:t>
            </a:r>
            <a:br>
              <a:rPr dirty="0"/>
            </a:br>
            <a:r>
              <a:rPr dirty="0"/>
              <a:t>S07 — Tirupati: ₹4.8</a:t>
            </a:r>
            <a:r>
              <a:rPr lang="en-US" dirty="0"/>
              <a:t>5 </a:t>
            </a:r>
            <a:r>
              <a:rPr dirty="0"/>
              <a:t>Cr</a:t>
            </a:r>
          </a:p>
        </p:txBody>
      </p:sp>
      <p:sp>
        <p:nvSpPr>
          <p:cNvPr id="13" name="Rounded Rectangle 12"/>
          <p:cNvSpPr/>
          <p:nvPr/>
        </p:nvSpPr>
        <p:spPr>
          <a:xfrm>
            <a:off x="7753224" y="3520440"/>
            <a:ext cx="3931920" cy="2057400"/>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890384" y="3675888"/>
            <a:ext cx="73152" cy="1746504"/>
          </a:xfrm>
          <a:prstGeom prst="roundRect">
            <a:avLst/>
          </a:prstGeom>
          <a:solidFill>
            <a:srgbClr val="E65C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00696" y="3721608"/>
            <a:ext cx="3429000" cy="320040"/>
          </a:xfrm>
          <a:prstGeom prst="rect">
            <a:avLst/>
          </a:prstGeom>
          <a:noFill/>
        </p:spPr>
        <p:txBody>
          <a:bodyPr wrap="none">
            <a:spAutoFit/>
          </a:bodyPr>
          <a:lstStyle/>
          <a:p>
            <a:pPr>
              <a:defRPr sz="1500" b="1">
                <a:solidFill>
                  <a:srgbClr val="2D1F44"/>
                </a:solidFill>
                <a:latin typeface="Aptos"/>
              </a:defRPr>
            </a:pPr>
            <a:r>
              <a:t>Bottom 3</a:t>
            </a:r>
          </a:p>
        </p:txBody>
      </p:sp>
      <p:sp>
        <p:nvSpPr>
          <p:cNvPr id="16" name="TextBox 15"/>
          <p:cNvSpPr txBox="1"/>
          <p:nvPr/>
        </p:nvSpPr>
        <p:spPr>
          <a:xfrm>
            <a:off x="8100696" y="4142232"/>
            <a:ext cx="3401568" cy="692497"/>
          </a:xfrm>
          <a:prstGeom prst="rect">
            <a:avLst/>
          </a:prstGeom>
          <a:noFill/>
        </p:spPr>
        <p:txBody>
          <a:bodyPr wrap="square">
            <a:spAutoFit/>
          </a:bodyPr>
          <a:lstStyle/>
          <a:p>
            <a:pPr>
              <a:defRPr sz="1300">
                <a:solidFill>
                  <a:srgbClr val="2D1F44"/>
                </a:solidFill>
                <a:latin typeface="Aptos"/>
              </a:defRPr>
            </a:pPr>
            <a:r>
              <a:rPr lang="en-US" dirty="0"/>
              <a:t>S05</a:t>
            </a:r>
            <a:r>
              <a:rPr dirty="0"/>
              <a:t> — </a:t>
            </a:r>
            <a:r>
              <a:rPr lang="en-US" dirty="0"/>
              <a:t>Rajahmundry</a:t>
            </a:r>
            <a:r>
              <a:rPr dirty="0"/>
              <a:t>: ₹2.5</a:t>
            </a:r>
            <a:r>
              <a:rPr lang="en-US" dirty="0"/>
              <a:t>2</a:t>
            </a:r>
            <a:r>
              <a:rPr dirty="0"/>
              <a:t> Cr</a:t>
            </a:r>
            <a:br>
              <a:rPr dirty="0"/>
            </a:br>
            <a:r>
              <a:rPr dirty="0"/>
              <a:t>S</a:t>
            </a:r>
            <a:r>
              <a:rPr lang="en-US" dirty="0"/>
              <a:t>10</a:t>
            </a:r>
            <a:r>
              <a:rPr dirty="0"/>
              <a:t> — </a:t>
            </a:r>
            <a:r>
              <a:rPr lang="en-US" dirty="0"/>
              <a:t>Nellore </a:t>
            </a:r>
            <a:r>
              <a:rPr dirty="0"/>
              <a:t>: ₹2.2</a:t>
            </a:r>
            <a:r>
              <a:rPr lang="en-US" dirty="0"/>
              <a:t>2</a:t>
            </a:r>
            <a:r>
              <a:rPr dirty="0"/>
              <a:t> Cr</a:t>
            </a:r>
            <a:br>
              <a:rPr dirty="0"/>
            </a:br>
            <a:r>
              <a:rPr dirty="0"/>
              <a:t>S</a:t>
            </a:r>
            <a:r>
              <a:rPr lang="en-US" dirty="0"/>
              <a:t>12</a:t>
            </a:r>
            <a:r>
              <a:rPr dirty="0"/>
              <a:t> —</a:t>
            </a:r>
            <a:r>
              <a:rPr lang="en-US" dirty="0"/>
              <a:t>  Kakinada </a:t>
            </a:r>
            <a:r>
              <a:rPr dirty="0"/>
              <a:t>: ₹2.2</a:t>
            </a:r>
            <a:r>
              <a:rPr lang="en-US" dirty="0"/>
              <a:t>0 </a:t>
            </a:r>
            <a:r>
              <a:rPr dirty="0"/>
              <a:t>Cr</a:t>
            </a:r>
          </a:p>
        </p:txBody>
      </p:sp>
      <p:sp>
        <p:nvSpPr>
          <p:cNvPr id="17" name="TextBox 16"/>
          <p:cNvSpPr txBox="1"/>
          <p:nvPr/>
        </p:nvSpPr>
        <p:spPr>
          <a:xfrm>
            <a:off x="10881360" y="6446520"/>
            <a:ext cx="640080" cy="228600"/>
          </a:xfrm>
          <a:prstGeom prst="rect">
            <a:avLst/>
          </a:prstGeom>
          <a:noFill/>
        </p:spPr>
        <p:txBody>
          <a:bodyPr wrap="none">
            <a:spAutoFit/>
          </a:bodyPr>
          <a:lstStyle/>
          <a:p>
            <a:pPr algn="r">
              <a:defRPr sz="900">
                <a:solidFill>
                  <a:srgbClr val="645B6E"/>
                </a:solidFill>
              </a:defRPr>
            </a:pPr>
            <a:r>
              <a:t>4</a:t>
            </a:r>
          </a:p>
        </p:txBody>
      </p:sp>
      <p:pic>
        <p:nvPicPr>
          <p:cNvPr id="18" name="Picture 17">
            <a:extLst>
              <a:ext uri="{FF2B5EF4-FFF2-40B4-BE49-F238E27FC236}">
                <a16:creationId xmlns:a16="http://schemas.microsoft.com/office/drawing/2014/main" id="{FD65A4AA-9B5B-E5AD-F16F-F1365DB2932A}"/>
              </a:ext>
            </a:extLst>
          </p:cNvPr>
          <p:cNvPicPr>
            <a:picLocks noChangeAspect="1"/>
          </p:cNvPicPr>
          <p:nvPr/>
        </p:nvPicPr>
        <p:blipFill>
          <a:blip r:embed="rId2"/>
          <a:stretch>
            <a:fillRect/>
          </a:stretch>
        </p:blipFill>
        <p:spPr>
          <a:xfrm>
            <a:off x="536352" y="1234440"/>
            <a:ext cx="6631277" cy="483275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p:bldP spid="12" grpId="0"/>
      <p:bldP spid="13" grpId="0" animBg="1"/>
      <p:bldP spid="14" grpId="0" animBg="1"/>
      <p:bldP spid="15"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7FF"/>
        </a:solidFill>
        <a:effectLst/>
      </p:bgPr>
    </p:bg>
    <p:spTree>
      <p:nvGrpSpPr>
        <p:cNvPr id="1" name="">
          <a:extLst>
            <a:ext uri="{FF2B5EF4-FFF2-40B4-BE49-F238E27FC236}">
              <a16:creationId xmlns:a16="http://schemas.microsoft.com/office/drawing/2014/main" id="{C936D5C6-FFF1-09DE-1786-EA87ACC58044}"/>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79450E94-1AB6-E60C-248F-2A0930CDDDA1}"/>
              </a:ext>
            </a:extLst>
          </p:cNvPr>
          <p:cNvSpPr/>
          <p:nvPr/>
        </p:nvSpPr>
        <p:spPr>
          <a:xfrm>
            <a:off x="10652760" y="-320040"/>
            <a:ext cx="1828800" cy="182880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767B7A12-65A3-7D16-4163-8051C230AA91}"/>
              </a:ext>
            </a:extLst>
          </p:cNvPr>
          <p:cNvSpPr/>
          <p:nvPr/>
        </p:nvSpPr>
        <p:spPr>
          <a:xfrm>
            <a:off x="-411480" y="5623560"/>
            <a:ext cx="1554480" cy="155448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AE2C973C-E23E-FAFB-B488-6EEBE36129F2}"/>
              </a:ext>
            </a:extLst>
          </p:cNvPr>
          <p:cNvSpPr/>
          <p:nvPr/>
        </p:nvSpPr>
        <p:spPr>
          <a:xfrm>
            <a:off x="11201400" y="5440680"/>
            <a:ext cx="1188720" cy="11887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D566AC5C-C720-A11D-9790-3DF01775DD1E}"/>
              </a:ext>
            </a:extLst>
          </p:cNvPr>
          <p:cNvSpPr txBox="1"/>
          <p:nvPr/>
        </p:nvSpPr>
        <p:spPr>
          <a:xfrm>
            <a:off x="556896" y="425196"/>
            <a:ext cx="10972800" cy="594360"/>
          </a:xfrm>
          <a:prstGeom prst="rect">
            <a:avLst/>
          </a:prstGeom>
          <a:noFill/>
        </p:spPr>
        <p:txBody>
          <a:bodyPr wrap="none">
            <a:spAutoFit/>
          </a:bodyPr>
          <a:lstStyle/>
          <a:p>
            <a:pPr>
              <a:defRPr sz="2800" b="1">
                <a:solidFill>
                  <a:srgbClr val="2D1F44"/>
                </a:solidFill>
                <a:latin typeface="Aptos Display"/>
              </a:defRPr>
            </a:pPr>
            <a:r>
              <a:t>5.2 — Revenue by store</a:t>
            </a:r>
          </a:p>
        </p:txBody>
      </p:sp>
      <p:sp>
        <p:nvSpPr>
          <p:cNvPr id="13" name="Rounded Rectangle 12">
            <a:extLst>
              <a:ext uri="{FF2B5EF4-FFF2-40B4-BE49-F238E27FC236}">
                <a16:creationId xmlns:a16="http://schemas.microsoft.com/office/drawing/2014/main" id="{B2EFF3E5-40A2-CC0B-9426-E5EE455FC2C3}"/>
              </a:ext>
            </a:extLst>
          </p:cNvPr>
          <p:cNvSpPr/>
          <p:nvPr/>
        </p:nvSpPr>
        <p:spPr>
          <a:xfrm>
            <a:off x="989814" y="1508760"/>
            <a:ext cx="9304256" cy="4812949"/>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Follow the chart with 2–3 sentences on what stands out and what it might signal to the operations team.</a:t>
            </a:r>
            <a:endParaRPr/>
          </a:p>
        </p:txBody>
      </p:sp>
      <p:sp>
        <p:nvSpPr>
          <p:cNvPr id="17" name="TextBox 16">
            <a:extLst>
              <a:ext uri="{FF2B5EF4-FFF2-40B4-BE49-F238E27FC236}">
                <a16:creationId xmlns:a16="http://schemas.microsoft.com/office/drawing/2014/main" id="{C5D35156-27A7-533F-0F29-3DA01BD0AA54}"/>
              </a:ext>
            </a:extLst>
          </p:cNvPr>
          <p:cNvSpPr txBox="1"/>
          <p:nvPr/>
        </p:nvSpPr>
        <p:spPr>
          <a:xfrm>
            <a:off x="10881360" y="6446520"/>
            <a:ext cx="640080" cy="228600"/>
          </a:xfrm>
          <a:prstGeom prst="rect">
            <a:avLst/>
          </a:prstGeom>
          <a:noFill/>
        </p:spPr>
        <p:txBody>
          <a:bodyPr wrap="none">
            <a:spAutoFit/>
          </a:bodyPr>
          <a:lstStyle/>
          <a:p>
            <a:pPr algn="r">
              <a:defRPr sz="900">
                <a:solidFill>
                  <a:srgbClr val="645B6E"/>
                </a:solidFill>
              </a:defRPr>
            </a:pPr>
            <a:r>
              <a:t>4</a:t>
            </a:r>
          </a:p>
        </p:txBody>
      </p:sp>
      <p:sp>
        <p:nvSpPr>
          <p:cNvPr id="18" name="Rectangle 2">
            <a:extLst>
              <a:ext uri="{FF2B5EF4-FFF2-40B4-BE49-F238E27FC236}">
                <a16:creationId xmlns:a16="http://schemas.microsoft.com/office/drawing/2014/main" id="{2553B2AF-EF9E-2979-6F8E-43A04F15C6BF}"/>
              </a:ext>
            </a:extLst>
          </p:cNvPr>
          <p:cNvSpPr>
            <a:spLocks noChangeArrowheads="1"/>
          </p:cNvSpPr>
          <p:nvPr/>
        </p:nvSpPr>
        <p:spPr bwMode="auto">
          <a:xfrm>
            <a:off x="1461155" y="3142607"/>
            <a:ext cx="883291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Arial" panose="020B0604020202020204" pitchFamily="34" charset="0"/>
              </a:rPr>
              <a:t>The chart shows that </a:t>
            </a:r>
            <a:r>
              <a:rPr kumimoji="0" lang="en-US" altLang="en-US" sz="1600" b="1" i="0" u="none" strike="noStrike" cap="none" normalizeH="0" baseline="0" dirty="0">
                <a:ln>
                  <a:noFill/>
                </a:ln>
                <a:solidFill>
                  <a:schemeClr val="tx1"/>
                </a:solidFill>
                <a:effectLst/>
                <a:latin typeface="Arial" panose="020B0604020202020204" pitchFamily="34" charset="0"/>
              </a:rPr>
              <a:t>S01 – Vijayawada</a:t>
            </a:r>
            <a:r>
              <a:rPr kumimoji="0" lang="en-US" altLang="en-US" sz="1600" b="0" i="0" u="none" strike="noStrike" cap="none" normalizeH="0" baseline="0" dirty="0">
                <a:ln>
                  <a:noFill/>
                </a:ln>
                <a:solidFill>
                  <a:schemeClr val="tx1"/>
                </a:solidFill>
                <a:effectLst/>
                <a:latin typeface="Arial" panose="020B0604020202020204" pitchFamily="34" charset="0"/>
              </a:rPr>
              <a:t> has the highest six-month revenue at approximately </a:t>
            </a:r>
            <a:r>
              <a:rPr kumimoji="0" lang="en-US" altLang="en-US" sz="1600" b="1" i="0" u="none" strike="noStrike" cap="none" normalizeH="0" baseline="0" dirty="0">
                <a:ln>
                  <a:noFill/>
                </a:ln>
                <a:solidFill>
                  <a:schemeClr val="tx1"/>
                </a:solidFill>
                <a:effectLst/>
                <a:latin typeface="Arial" panose="020B0604020202020204" pitchFamily="34" charset="0"/>
              </a:rPr>
              <a:t>₹5.91 crore</a:t>
            </a:r>
            <a:r>
              <a:rPr kumimoji="0" lang="en-US" altLang="en-US" sz="1600" b="0" i="0" u="none" strike="noStrike" cap="none" normalizeH="0" baseline="0" dirty="0">
                <a:ln>
                  <a:noFill/>
                </a:ln>
                <a:solidFill>
                  <a:schemeClr val="tx1"/>
                </a:solidFill>
                <a:effectLst/>
                <a:latin typeface="Arial" panose="020B0604020202020204" pitchFamily="34" charset="0"/>
              </a:rPr>
              <a:t>, while </a:t>
            </a:r>
            <a:r>
              <a:rPr kumimoji="0" lang="en-US" altLang="en-US" sz="1600" b="1" i="0" u="none" strike="noStrike" cap="none" normalizeH="0" baseline="0" dirty="0">
                <a:ln>
                  <a:noFill/>
                </a:ln>
                <a:solidFill>
                  <a:schemeClr val="tx1"/>
                </a:solidFill>
                <a:effectLst/>
                <a:latin typeface="Arial" panose="020B0604020202020204" pitchFamily="34" charset="0"/>
              </a:rPr>
              <a:t>S12 – Kakinada</a:t>
            </a:r>
            <a:r>
              <a:rPr kumimoji="0" lang="en-US" altLang="en-US" sz="1600" b="0" i="0" u="none" strike="noStrike" cap="none" normalizeH="0" baseline="0" dirty="0">
                <a:ln>
                  <a:noFill/>
                </a:ln>
                <a:solidFill>
                  <a:schemeClr val="tx1"/>
                </a:solidFill>
                <a:effectLst/>
                <a:latin typeface="Arial" panose="020B0604020202020204" pitchFamily="34" charset="0"/>
              </a:rPr>
              <a:t> has the lowest at approximately </a:t>
            </a:r>
            <a:r>
              <a:rPr kumimoji="0" lang="en-US" altLang="en-US" sz="1600" b="1" i="0" u="none" strike="noStrike" cap="none" normalizeH="0" baseline="0" dirty="0">
                <a:ln>
                  <a:noFill/>
                </a:ln>
                <a:solidFill>
                  <a:schemeClr val="tx1"/>
                </a:solidFill>
                <a:effectLst/>
                <a:latin typeface="Arial" panose="020B0604020202020204" pitchFamily="34" charset="0"/>
              </a:rPr>
              <a:t>₹2.20 crore</a:t>
            </a:r>
            <a:r>
              <a:rPr kumimoji="0" lang="en-US" altLang="en-US" sz="1600" b="0" i="0" u="none" strike="noStrike" cap="none" normalizeH="0" baseline="0" dirty="0">
                <a:ln>
                  <a:noFill/>
                </a:ln>
                <a:solidFill>
                  <a:schemeClr val="tx1"/>
                </a:solidFill>
                <a:effectLst/>
                <a:latin typeface="Arial" panose="020B0604020202020204" pitchFamily="34" charset="0"/>
              </a:rPr>
              <a:t>. This large difference in store performance may signal differences in </a:t>
            </a:r>
            <a:r>
              <a:rPr kumimoji="0" lang="en-US" altLang="en-US" sz="1600" b="1" i="0" u="none" strike="noStrike" cap="none" normalizeH="0" baseline="0" dirty="0">
                <a:ln>
                  <a:noFill/>
                </a:ln>
                <a:solidFill>
                  <a:schemeClr val="tx1"/>
                </a:solidFill>
                <a:effectLst/>
                <a:latin typeface="Arial" panose="020B0604020202020204" pitchFamily="34" charset="0"/>
              </a:rPr>
              <a:t>customer demand, inventory availability, promotions, or local market conditions</a:t>
            </a:r>
            <a:r>
              <a:rPr kumimoji="0" lang="en-US" altLang="en-US" sz="1600" b="0" i="0" u="none" strike="noStrike" cap="none" normalizeH="0" baseline="0" dirty="0">
                <a:ln>
                  <a:noFill/>
                </a:ln>
                <a:solidFill>
                  <a:schemeClr val="tx1"/>
                </a:solidFill>
                <a:effectLst/>
                <a:latin typeface="Arial" panose="020B0604020202020204" pitchFamily="34" charset="0"/>
              </a:rPr>
              <a:t>. The operations team should investigate the reasons for S12’s lower performance and identify successful practices from high-performing stores like S01.</a:t>
            </a:r>
          </a:p>
        </p:txBody>
      </p:sp>
      <p:sp>
        <p:nvSpPr>
          <p:cNvPr id="23" name="TextBox 22">
            <a:extLst>
              <a:ext uri="{FF2B5EF4-FFF2-40B4-BE49-F238E27FC236}">
                <a16:creationId xmlns:a16="http://schemas.microsoft.com/office/drawing/2014/main" id="{29CA449A-6324-0A5A-7C22-D53296B23A32}"/>
              </a:ext>
            </a:extLst>
          </p:cNvPr>
          <p:cNvSpPr txBox="1"/>
          <p:nvPr/>
        </p:nvSpPr>
        <p:spPr>
          <a:xfrm>
            <a:off x="1348504" y="2271548"/>
            <a:ext cx="9304256" cy="494944"/>
          </a:xfrm>
          <a:prstGeom prst="rect">
            <a:avLst/>
          </a:prstGeom>
          <a:noFill/>
        </p:spPr>
        <p:txBody>
          <a:bodyPr wrap="square">
            <a:spAutoFit/>
          </a:bodyPr>
          <a:lstStyle/>
          <a:p>
            <a:pPr marL="285750" marR="0" indent="-285750">
              <a:lnSpc>
                <a:spcPct val="116000"/>
              </a:lnSpc>
              <a:spcBef>
                <a:spcPts val="300"/>
              </a:spcBef>
              <a:spcAft>
                <a:spcPts val="400"/>
              </a:spcAft>
              <a:buFont typeface="Wingdings" panose="05000000000000000000" pitchFamily="2" charset="2"/>
              <a:buChar char="q"/>
            </a:pPr>
            <a:r>
              <a:rPr lang="en-US" sz="2400" b="1" dirty="0">
                <a:solidFill>
                  <a:srgbClr val="111111"/>
                </a:solidFill>
                <a:effectLst/>
                <a:latin typeface="Calibri" panose="020F0502020204030204" pitchFamily="34" charset="0"/>
                <a:ea typeface="Calibri" panose="020F0502020204030204" pitchFamily="34" charset="0"/>
              </a:rPr>
              <a:t>  what stands out and what it might signal to the operations team.</a:t>
            </a:r>
            <a:endParaRPr lang="en-US" sz="2400" b="1"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14914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7FF"/>
        </a:solidFill>
        <a:effectLst/>
      </p:bgPr>
    </p:bg>
    <p:spTree>
      <p:nvGrpSpPr>
        <p:cNvPr id="1" name=""/>
        <p:cNvGrpSpPr/>
        <p:nvPr/>
      </p:nvGrpSpPr>
      <p:grpSpPr>
        <a:xfrm>
          <a:off x="0" y="0"/>
          <a:ext cx="0" cy="0"/>
          <a:chOff x="0" y="0"/>
          <a:chExt cx="0" cy="0"/>
        </a:xfrm>
      </p:grpSpPr>
      <p:sp>
        <p:nvSpPr>
          <p:cNvPr id="2" name="Oval 1"/>
          <p:cNvSpPr/>
          <p:nvPr/>
        </p:nvSpPr>
        <p:spPr>
          <a:xfrm>
            <a:off x="10652760" y="-320040"/>
            <a:ext cx="1828800" cy="182880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411480" y="5623560"/>
            <a:ext cx="1554480" cy="155448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01400" y="5440680"/>
            <a:ext cx="1188720" cy="11887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47472"/>
            <a:ext cx="10972800" cy="594360"/>
          </a:xfrm>
          <a:prstGeom prst="rect">
            <a:avLst/>
          </a:prstGeom>
          <a:noFill/>
        </p:spPr>
        <p:txBody>
          <a:bodyPr wrap="none">
            <a:spAutoFit/>
          </a:bodyPr>
          <a:lstStyle/>
          <a:p>
            <a:pPr>
              <a:defRPr sz="2800" b="1">
                <a:solidFill>
                  <a:srgbClr val="2D1F44"/>
                </a:solidFill>
                <a:latin typeface="Aptos Display"/>
              </a:defRPr>
            </a:pPr>
            <a:r>
              <a:t>5.3 — Category performance over time</a:t>
            </a:r>
          </a:p>
        </p:txBody>
      </p:sp>
      <p:sp>
        <p:nvSpPr>
          <p:cNvPr id="6" name="Rounded Rectangle 5"/>
          <p:cNvSpPr/>
          <p:nvPr/>
        </p:nvSpPr>
        <p:spPr>
          <a:xfrm>
            <a:off x="111175" y="1225013"/>
            <a:ext cx="8524353" cy="4478203"/>
          </a:xfrm>
          <a:prstGeom prst="roundRect">
            <a:avLst/>
          </a:prstGeom>
          <a:solidFill>
            <a:srgbClr val="F7F1FB"/>
          </a:solidFill>
          <a:ln w="19050">
            <a:solidFill>
              <a:srgbClr val="6C43B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809825" y="2318520"/>
            <a:ext cx="3200400" cy="2057400"/>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984697" y="2483395"/>
            <a:ext cx="73152" cy="1746504"/>
          </a:xfrm>
          <a:prstGeom prst="roundRect">
            <a:avLst/>
          </a:prstGeom>
          <a:solidFill>
            <a:srgbClr val="6C43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95009" y="2529115"/>
            <a:ext cx="2697480" cy="320040"/>
          </a:xfrm>
          <a:prstGeom prst="rect">
            <a:avLst/>
          </a:prstGeom>
          <a:noFill/>
        </p:spPr>
        <p:txBody>
          <a:bodyPr wrap="none">
            <a:spAutoFit/>
          </a:bodyPr>
          <a:lstStyle/>
          <a:p>
            <a:pPr>
              <a:defRPr sz="1500" b="1">
                <a:solidFill>
                  <a:srgbClr val="2D1F44"/>
                </a:solidFill>
                <a:latin typeface="Aptos"/>
              </a:defRPr>
            </a:pPr>
            <a:r>
              <a:t>Steepest decline</a:t>
            </a:r>
          </a:p>
        </p:txBody>
      </p:sp>
      <p:sp>
        <p:nvSpPr>
          <p:cNvPr id="11" name="TextBox 10"/>
          <p:cNvSpPr txBox="1"/>
          <p:nvPr/>
        </p:nvSpPr>
        <p:spPr>
          <a:xfrm>
            <a:off x="9057849" y="2949739"/>
            <a:ext cx="3022976" cy="954107"/>
          </a:xfrm>
          <a:prstGeom prst="rect">
            <a:avLst/>
          </a:prstGeom>
          <a:noFill/>
        </p:spPr>
        <p:txBody>
          <a:bodyPr wrap="square">
            <a:spAutoFit/>
          </a:bodyPr>
          <a:lstStyle/>
          <a:p>
            <a:pPr>
              <a:defRPr sz="1300">
                <a:solidFill>
                  <a:srgbClr val="2D1F44"/>
                </a:solidFill>
                <a:latin typeface="Aptos"/>
              </a:defRPr>
            </a:pPr>
            <a:r>
              <a:rPr sz="1400" dirty="0"/>
              <a:t>Electronics showed the steepest decline, falling from about </a:t>
            </a:r>
            <a:r>
              <a:rPr sz="1400" b="1" dirty="0"/>
              <a:t>₹4.57 Cr </a:t>
            </a:r>
            <a:r>
              <a:rPr sz="1400" dirty="0"/>
              <a:t>in January to </a:t>
            </a:r>
            <a:r>
              <a:rPr sz="1400" b="1" dirty="0"/>
              <a:t>₹2.97 Cr </a:t>
            </a:r>
            <a:r>
              <a:rPr sz="1400" dirty="0"/>
              <a:t>in June.</a:t>
            </a:r>
            <a:endParaRPr lang="en-US" sz="1400" dirty="0"/>
          </a:p>
          <a:p>
            <a:pPr>
              <a:defRPr sz="1300">
                <a:solidFill>
                  <a:srgbClr val="2D1F44"/>
                </a:solidFill>
                <a:latin typeface="Aptos"/>
              </a:defRPr>
            </a:pPr>
            <a:r>
              <a:rPr lang="en-US" sz="1400" dirty="0"/>
              <a:t>Electronics </a:t>
            </a:r>
            <a:r>
              <a:rPr lang="en-US" sz="1400" b="1" dirty="0"/>
              <a:t>declining ~25% Jan–Jun</a:t>
            </a:r>
            <a:endParaRPr sz="1400" b="1" dirty="0"/>
          </a:p>
        </p:txBody>
      </p:sp>
      <p:sp>
        <p:nvSpPr>
          <p:cNvPr id="16" name="TextBox 15"/>
          <p:cNvSpPr txBox="1"/>
          <p:nvPr/>
        </p:nvSpPr>
        <p:spPr>
          <a:xfrm>
            <a:off x="10881360" y="6446520"/>
            <a:ext cx="640080" cy="228600"/>
          </a:xfrm>
          <a:prstGeom prst="rect">
            <a:avLst/>
          </a:prstGeom>
          <a:noFill/>
        </p:spPr>
        <p:txBody>
          <a:bodyPr wrap="none">
            <a:spAutoFit/>
          </a:bodyPr>
          <a:lstStyle/>
          <a:p>
            <a:pPr algn="r">
              <a:defRPr sz="900">
                <a:solidFill>
                  <a:srgbClr val="645B6E"/>
                </a:solidFill>
              </a:defRPr>
            </a:pPr>
            <a:r>
              <a:t>5</a:t>
            </a:r>
          </a:p>
        </p:txBody>
      </p:sp>
      <p:pic>
        <p:nvPicPr>
          <p:cNvPr id="18" name="Picture 17">
            <a:extLst>
              <a:ext uri="{FF2B5EF4-FFF2-40B4-BE49-F238E27FC236}">
                <a16:creationId xmlns:a16="http://schemas.microsoft.com/office/drawing/2014/main" id="{9A411CE2-308B-B75C-89BB-7ECD53CBC896}"/>
              </a:ext>
            </a:extLst>
          </p:cNvPr>
          <p:cNvPicPr>
            <a:picLocks noChangeAspect="1"/>
          </p:cNvPicPr>
          <p:nvPr/>
        </p:nvPicPr>
        <p:blipFill>
          <a:blip r:embed="rId2"/>
          <a:stretch>
            <a:fillRect/>
          </a:stretch>
        </p:blipFill>
        <p:spPr>
          <a:xfrm>
            <a:off x="299511" y="1508760"/>
            <a:ext cx="8157751" cy="396951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7FF"/>
        </a:solidFill>
        <a:effectLst/>
      </p:bgPr>
    </p:bg>
    <p:spTree>
      <p:nvGrpSpPr>
        <p:cNvPr id="1" name="">
          <a:extLst>
            <a:ext uri="{FF2B5EF4-FFF2-40B4-BE49-F238E27FC236}">
              <a16:creationId xmlns:a16="http://schemas.microsoft.com/office/drawing/2014/main" id="{1F56FDC8-2CFA-7589-A649-01169AC8C730}"/>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CF716B6F-3105-892C-0E8D-5D232C64456A}"/>
              </a:ext>
            </a:extLst>
          </p:cNvPr>
          <p:cNvSpPr/>
          <p:nvPr/>
        </p:nvSpPr>
        <p:spPr>
          <a:xfrm>
            <a:off x="10652760" y="-320040"/>
            <a:ext cx="1828800" cy="182880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963F74AC-EA77-BABF-8086-0018C04FE1C6}"/>
              </a:ext>
            </a:extLst>
          </p:cNvPr>
          <p:cNvSpPr/>
          <p:nvPr/>
        </p:nvSpPr>
        <p:spPr>
          <a:xfrm>
            <a:off x="-411480" y="5623560"/>
            <a:ext cx="1554480" cy="155448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78C3986B-4449-3494-FE58-EB5E5FA9741D}"/>
              </a:ext>
            </a:extLst>
          </p:cNvPr>
          <p:cNvSpPr/>
          <p:nvPr/>
        </p:nvSpPr>
        <p:spPr>
          <a:xfrm>
            <a:off x="11201400" y="5440680"/>
            <a:ext cx="1188720" cy="11887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9C94127C-6BB3-1A17-27D3-C558E9202F49}"/>
              </a:ext>
            </a:extLst>
          </p:cNvPr>
          <p:cNvSpPr txBox="1"/>
          <p:nvPr/>
        </p:nvSpPr>
        <p:spPr>
          <a:xfrm>
            <a:off x="711200" y="311902"/>
            <a:ext cx="7516305" cy="523220"/>
          </a:xfrm>
          <a:prstGeom prst="rect">
            <a:avLst/>
          </a:prstGeom>
          <a:noFill/>
        </p:spPr>
        <p:txBody>
          <a:bodyPr wrap="square">
            <a:spAutoFit/>
          </a:bodyPr>
          <a:lstStyle/>
          <a:p>
            <a:pPr>
              <a:defRPr sz="2800" b="1">
                <a:solidFill>
                  <a:srgbClr val="2D1F44"/>
                </a:solidFill>
                <a:latin typeface="Aptos Display"/>
              </a:defRPr>
            </a:pPr>
            <a:r>
              <a:rPr dirty="0"/>
              <a:t>5.3 — Category performance over time</a:t>
            </a:r>
          </a:p>
        </p:txBody>
      </p:sp>
      <p:sp>
        <p:nvSpPr>
          <p:cNvPr id="12" name="Rounded Rectangle 11">
            <a:extLst>
              <a:ext uri="{FF2B5EF4-FFF2-40B4-BE49-F238E27FC236}">
                <a16:creationId xmlns:a16="http://schemas.microsoft.com/office/drawing/2014/main" id="{8994CA08-96E3-CF8A-C5DC-C10A4F299665}"/>
              </a:ext>
            </a:extLst>
          </p:cNvPr>
          <p:cNvSpPr/>
          <p:nvPr/>
        </p:nvSpPr>
        <p:spPr>
          <a:xfrm>
            <a:off x="810705" y="1014984"/>
            <a:ext cx="9341963" cy="4914476"/>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marL="285750" lvl="0" indent="-285750" defTabSz="914400" eaLnBrk="0" fontAlgn="base" hangingPunct="0">
              <a:spcBef>
                <a:spcPct val="0"/>
              </a:spcBef>
              <a:spcAft>
                <a:spcPct val="0"/>
              </a:spcAft>
              <a:buFont typeface="Arial" panose="020B0604020202020204" pitchFamily="34" charset="0"/>
              <a:buChar char="•"/>
            </a:pPr>
            <a:r>
              <a:rPr lang="en-US" altLang="en-US" sz="1600" b="1" dirty="0">
                <a:solidFill>
                  <a:schemeClr val="tx1"/>
                </a:solidFill>
                <a:latin typeface="Arial" panose="020B0604020202020204" pitchFamily="34" charset="0"/>
              </a:rPr>
              <a:t>Electronics declining ~25% Jan–Jun.</a:t>
            </a:r>
            <a:r>
              <a:rPr lang="en-US" altLang="en-US" sz="1600" dirty="0">
                <a:solidFill>
                  <a:schemeClr val="tx1"/>
                </a:solidFill>
                <a:latin typeface="Arial" panose="020B0604020202020204" pitchFamily="34" charset="0"/>
              </a:rPr>
              <a:t> </a:t>
            </a:r>
          </a:p>
          <a:p>
            <a:pPr marL="285750" lvl="0" indent="-285750" defTabSz="914400" eaLnBrk="0" fontAlgn="base" hangingPunct="0">
              <a:spcBef>
                <a:spcPct val="0"/>
              </a:spcBef>
              <a:spcAft>
                <a:spcPct val="0"/>
              </a:spcAft>
              <a:buFont typeface="Arial" panose="020B0604020202020204" pitchFamily="34" charset="0"/>
              <a:buChar char="•"/>
            </a:pPr>
            <a:endParaRPr lang="en-US" altLang="en-US" sz="1600" dirty="0">
              <a:solidFill>
                <a:schemeClr val="tx1"/>
              </a:solidFill>
              <a:latin typeface="Arial" panose="020B0604020202020204" pitchFamily="34" charset="0"/>
            </a:endParaRPr>
          </a:p>
          <a:p>
            <a:pPr marL="285750" indent="-285750" defTabSz="914400" eaLnBrk="0" fontAlgn="base" hangingPunct="0">
              <a:spcBef>
                <a:spcPct val="0"/>
              </a:spcBef>
              <a:spcAft>
                <a:spcPct val="0"/>
              </a:spcAft>
              <a:buFont typeface="Arial" panose="020B0604020202020204" pitchFamily="34" charset="0"/>
              <a:buChar char="•"/>
            </a:pPr>
            <a:r>
              <a:rPr lang="en-US" altLang="en-US" sz="1600" dirty="0">
                <a:solidFill>
                  <a:schemeClr val="tx1"/>
                </a:solidFill>
                <a:latin typeface="Arial" panose="020B0604020202020204" pitchFamily="34" charset="0"/>
              </a:rPr>
              <a:t>In India  or especially AP , electronics such as ACs, refrigerators, and washing machines often have strong promotional offers during certain periods, so the decline may also be related to changes in seasonal demand or fewer offers after the early-year sales period. </a:t>
            </a:r>
          </a:p>
          <a:p>
            <a:pPr marL="285750" lvl="0" indent="-285750" defTabSz="914400" eaLnBrk="0" fontAlgn="base" hangingPunct="0">
              <a:spcBef>
                <a:spcPct val="0"/>
              </a:spcBef>
              <a:spcAft>
                <a:spcPct val="0"/>
              </a:spcAft>
              <a:buFont typeface="Arial" panose="020B0604020202020204" pitchFamily="34" charset="0"/>
              <a:buChar char="•"/>
            </a:pPr>
            <a:endParaRPr lang="en-US" altLang="en-US" sz="1600" dirty="0">
              <a:solidFill>
                <a:schemeClr val="tx1"/>
              </a:solidFill>
              <a:latin typeface="Arial" panose="020B0604020202020204" pitchFamily="34" charset="0"/>
            </a:endParaRPr>
          </a:p>
          <a:p>
            <a:pPr marL="285750" lvl="0" indent="-285750" defTabSz="914400" eaLnBrk="0" fontAlgn="base" hangingPunct="0">
              <a:spcBef>
                <a:spcPct val="0"/>
              </a:spcBef>
              <a:spcAft>
                <a:spcPct val="0"/>
              </a:spcAft>
              <a:buFont typeface="Arial" panose="020B0604020202020204" pitchFamily="34" charset="0"/>
              <a:buChar char="•"/>
            </a:pPr>
            <a:r>
              <a:rPr lang="en-US" altLang="en-US" sz="1600" dirty="0">
                <a:solidFill>
                  <a:schemeClr val="tx1"/>
                </a:solidFill>
                <a:latin typeface="Arial" panose="020B0604020202020204" pitchFamily="34" charset="0"/>
              </a:rPr>
              <a:t>The key business question is: </a:t>
            </a:r>
            <a:r>
              <a:rPr lang="en-US" altLang="en-US" sz="1600" b="1" dirty="0">
                <a:solidFill>
                  <a:schemeClr val="tx1"/>
                </a:solidFill>
                <a:latin typeface="Arial" panose="020B0604020202020204" pitchFamily="34" charset="0"/>
              </a:rPr>
              <a:t>Why is Electronics revenue falling while other categories, such as Apparel, are improving?</a:t>
            </a:r>
            <a:r>
              <a:rPr lang="en-US" altLang="en-US" sz="1600" dirty="0">
                <a:solidFill>
                  <a:schemeClr val="tx1"/>
                </a:solidFill>
                <a:latin typeface="Arial" panose="020B0604020202020204" pitchFamily="34" charset="0"/>
              </a:rPr>
              <a:t> </a:t>
            </a:r>
          </a:p>
        </p:txBody>
      </p:sp>
      <p:sp>
        <p:nvSpPr>
          <p:cNvPr id="16" name="TextBox 15">
            <a:extLst>
              <a:ext uri="{FF2B5EF4-FFF2-40B4-BE49-F238E27FC236}">
                <a16:creationId xmlns:a16="http://schemas.microsoft.com/office/drawing/2014/main" id="{9966D1EE-2092-8748-EEF4-08BBD296C190}"/>
              </a:ext>
            </a:extLst>
          </p:cNvPr>
          <p:cNvSpPr txBox="1"/>
          <p:nvPr/>
        </p:nvSpPr>
        <p:spPr>
          <a:xfrm>
            <a:off x="10881360" y="6446520"/>
            <a:ext cx="640080" cy="228600"/>
          </a:xfrm>
          <a:prstGeom prst="rect">
            <a:avLst/>
          </a:prstGeom>
          <a:noFill/>
        </p:spPr>
        <p:txBody>
          <a:bodyPr wrap="none">
            <a:spAutoFit/>
          </a:bodyPr>
          <a:lstStyle/>
          <a:p>
            <a:pPr algn="r">
              <a:defRPr sz="900">
                <a:solidFill>
                  <a:srgbClr val="645B6E"/>
                </a:solidFill>
              </a:defRPr>
            </a:pPr>
            <a:r>
              <a:t>5</a:t>
            </a:r>
          </a:p>
        </p:txBody>
      </p:sp>
      <p:sp>
        <p:nvSpPr>
          <p:cNvPr id="20" name="TextBox 19">
            <a:extLst>
              <a:ext uri="{FF2B5EF4-FFF2-40B4-BE49-F238E27FC236}">
                <a16:creationId xmlns:a16="http://schemas.microsoft.com/office/drawing/2014/main" id="{988DADB7-507F-7AB5-1E23-E0D193788895}"/>
              </a:ext>
            </a:extLst>
          </p:cNvPr>
          <p:cNvSpPr txBox="1"/>
          <p:nvPr/>
        </p:nvSpPr>
        <p:spPr>
          <a:xfrm>
            <a:off x="1143000" y="1508760"/>
            <a:ext cx="9009668" cy="715581"/>
          </a:xfrm>
          <a:prstGeom prst="rect">
            <a:avLst/>
          </a:prstGeom>
          <a:noFill/>
        </p:spPr>
        <p:txBody>
          <a:bodyPr wrap="square">
            <a:spAutoFit/>
          </a:bodyPr>
          <a:lstStyle/>
          <a:p>
            <a:pPr marL="285750" marR="0" indent="-285750">
              <a:lnSpc>
                <a:spcPct val="116000"/>
              </a:lnSpc>
              <a:spcBef>
                <a:spcPts val="300"/>
              </a:spcBef>
              <a:spcAft>
                <a:spcPts val="400"/>
              </a:spcAft>
              <a:buFont typeface="Wingdings" panose="05000000000000000000" pitchFamily="2" charset="2"/>
              <a:buChar char="q"/>
            </a:pPr>
            <a:r>
              <a:rPr lang="en-US" sz="1800" b="1" dirty="0">
                <a:solidFill>
                  <a:srgbClr val="111111"/>
                </a:solidFill>
                <a:effectLst/>
                <a:latin typeface="Calibri" panose="020F0502020204030204" pitchFamily="34" charset="0"/>
                <a:ea typeface="Calibri" panose="020F0502020204030204" pitchFamily="34" charset="0"/>
              </a:rPr>
              <a:t>Write 2 sentences of business interpretation: not just "Electronics declined" but what that might mean and what question it raises.</a:t>
            </a:r>
            <a:endParaRPr lang="en-US" sz="1800" b="1"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675210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0"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7FF"/>
        </a:solidFill>
        <a:effectLst/>
      </p:bgPr>
    </p:bg>
    <p:spTree>
      <p:nvGrpSpPr>
        <p:cNvPr id="1" name=""/>
        <p:cNvGrpSpPr/>
        <p:nvPr/>
      </p:nvGrpSpPr>
      <p:grpSpPr>
        <a:xfrm>
          <a:off x="0" y="0"/>
          <a:ext cx="0" cy="0"/>
          <a:chOff x="0" y="0"/>
          <a:chExt cx="0" cy="0"/>
        </a:xfrm>
      </p:grpSpPr>
      <p:sp>
        <p:nvSpPr>
          <p:cNvPr id="2" name="Oval 1"/>
          <p:cNvSpPr/>
          <p:nvPr/>
        </p:nvSpPr>
        <p:spPr>
          <a:xfrm>
            <a:off x="10652760" y="-320040"/>
            <a:ext cx="1828800" cy="182880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411480" y="5623560"/>
            <a:ext cx="1554480" cy="155448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01400" y="5440680"/>
            <a:ext cx="1188720" cy="11887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47472"/>
            <a:ext cx="10972800" cy="594360"/>
          </a:xfrm>
          <a:prstGeom prst="rect">
            <a:avLst/>
          </a:prstGeom>
          <a:noFill/>
        </p:spPr>
        <p:txBody>
          <a:bodyPr wrap="none">
            <a:spAutoFit/>
          </a:bodyPr>
          <a:lstStyle/>
          <a:p>
            <a:pPr>
              <a:defRPr sz="2800" b="1">
                <a:solidFill>
                  <a:srgbClr val="2D1F44"/>
                </a:solidFill>
                <a:latin typeface="Aptos Display"/>
              </a:defRPr>
            </a:pPr>
            <a:r>
              <a:rPr dirty="0"/>
              <a:t>5.4 — Day-of-week and monthly patterns</a:t>
            </a:r>
          </a:p>
        </p:txBody>
      </p:sp>
      <p:sp>
        <p:nvSpPr>
          <p:cNvPr id="6" name="Rounded Rectangle 5"/>
          <p:cNvSpPr/>
          <p:nvPr/>
        </p:nvSpPr>
        <p:spPr>
          <a:xfrm>
            <a:off x="355600" y="886968"/>
            <a:ext cx="10038080" cy="5742432"/>
          </a:xfrm>
          <a:prstGeom prst="roundRect">
            <a:avLst/>
          </a:prstGeom>
          <a:solidFill>
            <a:srgbClr val="F7F1FB"/>
          </a:solidFill>
          <a:ln w="19050">
            <a:solidFill>
              <a:srgbClr val="6C43B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016504" y="5879592"/>
            <a:ext cx="4663440" cy="579119"/>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093720" y="5982208"/>
            <a:ext cx="73152" cy="374904"/>
          </a:xfrm>
          <a:prstGeom prst="roundRect">
            <a:avLst/>
          </a:prstGeom>
          <a:solidFill>
            <a:srgbClr val="6C43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38643" y="5875020"/>
            <a:ext cx="4297680" cy="320040"/>
          </a:xfrm>
          <a:prstGeom prst="rect">
            <a:avLst/>
          </a:prstGeom>
          <a:noFill/>
        </p:spPr>
        <p:txBody>
          <a:bodyPr wrap="none">
            <a:spAutoFit/>
          </a:bodyPr>
          <a:lstStyle/>
          <a:p>
            <a:pPr>
              <a:defRPr sz="1500" b="1">
                <a:solidFill>
                  <a:srgbClr val="2D1F44"/>
                </a:solidFill>
                <a:latin typeface="Aptos"/>
              </a:defRPr>
            </a:pPr>
            <a:r>
              <a:rPr dirty="0"/>
              <a:t>Finding</a:t>
            </a:r>
          </a:p>
        </p:txBody>
      </p:sp>
      <p:sp>
        <p:nvSpPr>
          <p:cNvPr id="13" name="TextBox 12"/>
          <p:cNvSpPr txBox="1"/>
          <p:nvPr/>
        </p:nvSpPr>
        <p:spPr>
          <a:xfrm>
            <a:off x="3213100" y="6131421"/>
            <a:ext cx="4270248" cy="276999"/>
          </a:xfrm>
          <a:prstGeom prst="rect">
            <a:avLst/>
          </a:prstGeom>
          <a:noFill/>
        </p:spPr>
        <p:txBody>
          <a:bodyPr wrap="square">
            <a:spAutoFit/>
          </a:bodyPr>
          <a:lstStyle/>
          <a:p>
            <a:pPr>
              <a:defRPr sz="1200">
                <a:solidFill>
                  <a:srgbClr val="2D1F44"/>
                </a:solidFill>
                <a:latin typeface="Aptos"/>
              </a:defRPr>
            </a:pPr>
            <a:r>
              <a:rPr b="1" dirty="0"/>
              <a:t>Best day: Saturday</a:t>
            </a:r>
            <a:r>
              <a:rPr lang="en-US" b="1" dirty="0"/>
              <a:t> 0.35Cr</a:t>
            </a:r>
            <a:r>
              <a:rPr b="1" dirty="0"/>
              <a:t>  |  Worst day: Monday</a:t>
            </a:r>
            <a:r>
              <a:rPr lang="en-US" b="1" dirty="0"/>
              <a:t> 0.20Cr</a:t>
            </a:r>
            <a:endParaRPr b="1" dirty="0"/>
          </a:p>
        </p:txBody>
      </p:sp>
      <p:sp>
        <p:nvSpPr>
          <p:cNvPr id="18" name="TextBox 17"/>
          <p:cNvSpPr txBox="1"/>
          <p:nvPr/>
        </p:nvSpPr>
        <p:spPr>
          <a:xfrm>
            <a:off x="10881360" y="6446520"/>
            <a:ext cx="640080" cy="228600"/>
          </a:xfrm>
          <a:prstGeom prst="rect">
            <a:avLst/>
          </a:prstGeom>
          <a:noFill/>
        </p:spPr>
        <p:txBody>
          <a:bodyPr wrap="none">
            <a:spAutoFit/>
          </a:bodyPr>
          <a:lstStyle/>
          <a:p>
            <a:pPr algn="r">
              <a:defRPr sz="900">
                <a:solidFill>
                  <a:srgbClr val="645B6E"/>
                </a:solidFill>
              </a:defRPr>
            </a:pPr>
            <a:r>
              <a:t>6</a:t>
            </a:r>
          </a:p>
        </p:txBody>
      </p:sp>
      <p:pic>
        <p:nvPicPr>
          <p:cNvPr id="20" name="Picture 19">
            <a:extLst>
              <a:ext uri="{FF2B5EF4-FFF2-40B4-BE49-F238E27FC236}">
                <a16:creationId xmlns:a16="http://schemas.microsoft.com/office/drawing/2014/main" id="{051478C7-FA2C-F296-D502-EECBF10CDE06}"/>
              </a:ext>
            </a:extLst>
          </p:cNvPr>
          <p:cNvPicPr>
            <a:picLocks noChangeAspect="1"/>
          </p:cNvPicPr>
          <p:nvPr/>
        </p:nvPicPr>
        <p:blipFill>
          <a:blip r:embed="rId2"/>
          <a:stretch>
            <a:fillRect/>
          </a:stretch>
        </p:blipFill>
        <p:spPr>
          <a:xfrm>
            <a:off x="751451" y="1197864"/>
            <a:ext cx="9272064" cy="45938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7FF"/>
        </a:solidFill>
        <a:effectLst/>
      </p:bgPr>
    </p:bg>
    <p:spTree>
      <p:nvGrpSpPr>
        <p:cNvPr id="1" name="">
          <a:extLst>
            <a:ext uri="{FF2B5EF4-FFF2-40B4-BE49-F238E27FC236}">
              <a16:creationId xmlns:a16="http://schemas.microsoft.com/office/drawing/2014/main" id="{9FB27FAC-66AF-4AE8-3C1C-DC1DA1D9D9C3}"/>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58C8CB4A-96E5-892E-598C-C9632D851FCE}"/>
              </a:ext>
            </a:extLst>
          </p:cNvPr>
          <p:cNvSpPr/>
          <p:nvPr/>
        </p:nvSpPr>
        <p:spPr>
          <a:xfrm>
            <a:off x="10652760" y="-320040"/>
            <a:ext cx="1828800" cy="182880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DFD16F2C-23B2-F70E-9B3C-E4E5C38683CA}"/>
              </a:ext>
            </a:extLst>
          </p:cNvPr>
          <p:cNvSpPr/>
          <p:nvPr/>
        </p:nvSpPr>
        <p:spPr>
          <a:xfrm>
            <a:off x="-411480" y="5623560"/>
            <a:ext cx="1554480" cy="155448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A71912FD-F739-3548-1ACA-04324140F79C}"/>
              </a:ext>
            </a:extLst>
          </p:cNvPr>
          <p:cNvSpPr/>
          <p:nvPr/>
        </p:nvSpPr>
        <p:spPr>
          <a:xfrm>
            <a:off x="11201400" y="5440680"/>
            <a:ext cx="1188720" cy="11887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3F88C02A-D26B-5870-A22C-A20918864434}"/>
              </a:ext>
            </a:extLst>
          </p:cNvPr>
          <p:cNvSpPr txBox="1"/>
          <p:nvPr/>
        </p:nvSpPr>
        <p:spPr>
          <a:xfrm>
            <a:off x="594360" y="347472"/>
            <a:ext cx="10972800" cy="594360"/>
          </a:xfrm>
          <a:prstGeom prst="rect">
            <a:avLst/>
          </a:prstGeom>
          <a:noFill/>
        </p:spPr>
        <p:txBody>
          <a:bodyPr wrap="none">
            <a:spAutoFit/>
          </a:bodyPr>
          <a:lstStyle/>
          <a:p>
            <a:pPr>
              <a:defRPr sz="2800" b="1">
                <a:solidFill>
                  <a:srgbClr val="2D1F44"/>
                </a:solidFill>
                <a:latin typeface="Aptos Display"/>
              </a:defRPr>
            </a:pPr>
            <a:r>
              <a:t>5.4 — Day-of-week and monthly patterns</a:t>
            </a:r>
          </a:p>
        </p:txBody>
      </p:sp>
      <p:sp>
        <p:nvSpPr>
          <p:cNvPr id="8" name="Rounded Rectangle 7">
            <a:extLst>
              <a:ext uri="{FF2B5EF4-FFF2-40B4-BE49-F238E27FC236}">
                <a16:creationId xmlns:a16="http://schemas.microsoft.com/office/drawing/2014/main" id="{2D0F12D4-2E10-37C3-8963-885603510E35}"/>
              </a:ext>
            </a:extLst>
          </p:cNvPr>
          <p:cNvSpPr/>
          <p:nvPr/>
        </p:nvSpPr>
        <p:spPr>
          <a:xfrm>
            <a:off x="447040" y="886968"/>
            <a:ext cx="10434320" cy="5742432"/>
          </a:xfrm>
          <a:prstGeom prst="roundRect">
            <a:avLst/>
          </a:prstGeom>
          <a:solidFill>
            <a:srgbClr val="F7F1FB"/>
          </a:solidFill>
          <a:ln w="19050">
            <a:solidFill>
              <a:srgbClr val="6C43B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a:extLst>
              <a:ext uri="{FF2B5EF4-FFF2-40B4-BE49-F238E27FC236}">
                <a16:creationId xmlns:a16="http://schemas.microsoft.com/office/drawing/2014/main" id="{ADBE2F50-B65B-4632-DD27-5669A5C473B6}"/>
              </a:ext>
            </a:extLst>
          </p:cNvPr>
          <p:cNvSpPr/>
          <p:nvPr/>
        </p:nvSpPr>
        <p:spPr>
          <a:xfrm>
            <a:off x="4357116" y="5806440"/>
            <a:ext cx="4553712" cy="640080"/>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a:extLst>
              <a:ext uri="{FF2B5EF4-FFF2-40B4-BE49-F238E27FC236}">
                <a16:creationId xmlns:a16="http://schemas.microsoft.com/office/drawing/2014/main" id="{5F9055AA-8BF4-FC42-C3A3-84D91E800EA4}"/>
              </a:ext>
            </a:extLst>
          </p:cNvPr>
          <p:cNvSpPr/>
          <p:nvPr/>
        </p:nvSpPr>
        <p:spPr>
          <a:xfrm>
            <a:off x="4466844" y="5966968"/>
            <a:ext cx="73152" cy="374904"/>
          </a:xfrm>
          <a:prstGeom prst="roundRect">
            <a:avLst/>
          </a:prstGeom>
          <a:solidFill>
            <a:srgbClr val="E65C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35D70458-BF59-F03A-AA50-4EE918361DD0}"/>
              </a:ext>
            </a:extLst>
          </p:cNvPr>
          <p:cNvSpPr txBox="1"/>
          <p:nvPr/>
        </p:nvSpPr>
        <p:spPr>
          <a:xfrm>
            <a:off x="4539996" y="5884672"/>
            <a:ext cx="4251960" cy="320040"/>
          </a:xfrm>
          <a:prstGeom prst="rect">
            <a:avLst/>
          </a:prstGeom>
          <a:noFill/>
        </p:spPr>
        <p:txBody>
          <a:bodyPr wrap="none">
            <a:spAutoFit/>
          </a:bodyPr>
          <a:lstStyle/>
          <a:p>
            <a:pPr>
              <a:defRPr sz="1500" b="1">
                <a:solidFill>
                  <a:srgbClr val="2D1F44"/>
                </a:solidFill>
                <a:latin typeface="Aptos"/>
              </a:defRPr>
            </a:pPr>
            <a:r>
              <a:rPr dirty="0"/>
              <a:t>Finding</a:t>
            </a:r>
          </a:p>
        </p:txBody>
      </p:sp>
      <p:sp>
        <p:nvSpPr>
          <p:cNvPr id="17" name="TextBox 16">
            <a:extLst>
              <a:ext uri="{FF2B5EF4-FFF2-40B4-BE49-F238E27FC236}">
                <a16:creationId xmlns:a16="http://schemas.microsoft.com/office/drawing/2014/main" id="{F9608CDF-AD0A-746B-CC5D-123092C87A3B}"/>
              </a:ext>
            </a:extLst>
          </p:cNvPr>
          <p:cNvSpPr txBox="1"/>
          <p:nvPr/>
        </p:nvSpPr>
        <p:spPr>
          <a:xfrm>
            <a:off x="4535424" y="6131052"/>
            <a:ext cx="4224528" cy="276999"/>
          </a:xfrm>
          <a:prstGeom prst="rect">
            <a:avLst/>
          </a:prstGeom>
          <a:noFill/>
        </p:spPr>
        <p:txBody>
          <a:bodyPr wrap="square">
            <a:spAutoFit/>
          </a:bodyPr>
          <a:lstStyle/>
          <a:p>
            <a:pPr>
              <a:defRPr sz="1200">
                <a:solidFill>
                  <a:srgbClr val="2D1F44"/>
                </a:solidFill>
                <a:latin typeface="Aptos"/>
              </a:defRPr>
            </a:pPr>
            <a:r>
              <a:rPr b="1" dirty="0"/>
              <a:t>Best month: 2026-01  |  Worst month: 2026-06</a:t>
            </a:r>
          </a:p>
        </p:txBody>
      </p:sp>
      <p:sp>
        <p:nvSpPr>
          <p:cNvPr id="18" name="TextBox 17">
            <a:extLst>
              <a:ext uri="{FF2B5EF4-FFF2-40B4-BE49-F238E27FC236}">
                <a16:creationId xmlns:a16="http://schemas.microsoft.com/office/drawing/2014/main" id="{D9D5B83A-0EF7-137A-1018-31D787D6EC53}"/>
              </a:ext>
            </a:extLst>
          </p:cNvPr>
          <p:cNvSpPr txBox="1"/>
          <p:nvPr/>
        </p:nvSpPr>
        <p:spPr>
          <a:xfrm>
            <a:off x="10881360" y="6446520"/>
            <a:ext cx="640080" cy="228600"/>
          </a:xfrm>
          <a:prstGeom prst="rect">
            <a:avLst/>
          </a:prstGeom>
          <a:noFill/>
        </p:spPr>
        <p:txBody>
          <a:bodyPr wrap="none">
            <a:spAutoFit/>
          </a:bodyPr>
          <a:lstStyle/>
          <a:p>
            <a:pPr algn="r">
              <a:defRPr sz="900">
                <a:solidFill>
                  <a:srgbClr val="645B6E"/>
                </a:solidFill>
              </a:defRPr>
            </a:pPr>
            <a:r>
              <a:t>6</a:t>
            </a:r>
          </a:p>
        </p:txBody>
      </p:sp>
      <p:pic>
        <p:nvPicPr>
          <p:cNvPr id="9" name="Picture 8">
            <a:extLst>
              <a:ext uri="{FF2B5EF4-FFF2-40B4-BE49-F238E27FC236}">
                <a16:creationId xmlns:a16="http://schemas.microsoft.com/office/drawing/2014/main" id="{06E1063F-FB06-0C18-CEDF-EFA71A4BC448}"/>
              </a:ext>
            </a:extLst>
          </p:cNvPr>
          <p:cNvPicPr>
            <a:picLocks noChangeAspect="1"/>
          </p:cNvPicPr>
          <p:nvPr/>
        </p:nvPicPr>
        <p:blipFill>
          <a:blip r:embed="rId2"/>
          <a:stretch>
            <a:fillRect/>
          </a:stretch>
        </p:blipFill>
        <p:spPr>
          <a:xfrm>
            <a:off x="753428" y="1215644"/>
            <a:ext cx="9418467" cy="4564380"/>
          </a:xfrm>
          <a:prstGeom prst="rect">
            <a:avLst/>
          </a:prstGeom>
        </p:spPr>
      </p:pic>
    </p:spTree>
    <p:extLst>
      <p:ext uri="{BB962C8B-B14F-4D97-AF65-F5344CB8AC3E}">
        <p14:creationId xmlns:p14="http://schemas.microsoft.com/office/powerpoint/2010/main" val="175125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15" grpId="0" animBg="1"/>
      <p:bldP spid="16" grpId="0"/>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7FF"/>
        </a:solidFill>
        <a:effectLst/>
      </p:bgPr>
    </p:bg>
    <p:spTree>
      <p:nvGrpSpPr>
        <p:cNvPr id="1" name=""/>
        <p:cNvGrpSpPr/>
        <p:nvPr/>
      </p:nvGrpSpPr>
      <p:grpSpPr>
        <a:xfrm>
          <a:off x="0" y="0"/>
          <a:ext cx="0" cy="0"/>
          <a:chOff x="0" y="0"/>
          <a:chExt cx="0" cy="0"/>
        </a:xfrm>
      </p:grpSpPr>
      <p:sp>
        <p:nvSpPr>
          <p:cNvPr id="2" name="Oval 1"/>
          <p:cNvSpPr/>
          <p:nvPr/>
        </p:nvSpPr>
        <p:spPr>
          <a:xfrm>
            <a:off x="10652760" y="-320040"/>
            <a:ext cx="1828800" cy="182880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411480" y="5623560"/>
            <a:ext cx="1554480" cy="155448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01400" y="5440680"/>
            <a:ext cx="1188720" cy="11887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47472"/>
            <a:ext cx="10972800" cy="594360"/>
          </a:xfrm>
          <a:prstGeom prst="rect">
            <a:avLst/>
          </a:prstGeom>
          <a:noFill/>
        </p:spPr>
        <p:txBody>
          <a:bodyPr wrap="none">
            <a:spAutoFit/>
          </a:bodyPr>
          <a:lstStyle/>
          <a:p>
            <a:pPr>
              <a:defRPr sz="2800" b="1">
                <a:solidFill>
                  <a:srgbClr val="2D1F44"/>
                </a:solidFill>
                <a:latin typeface="Aptos Display"/>
              </a:defRPr>
            </a:pPr>
            <a:r>
              <a:t>5.4 — Operations advice</a:t>
            </a:r>
          </a:p>
        </p:txBody>
      </p:sp>
      <p:sp>
        <p:nvSpPr>
          <p:cNvPr id="6" name="Rounded Rectangle 5"/>
          <p:cNvSpPr/>
          <p:nvPr/>
        </p:nvSpPr>
        <p:spPr>
          <a:xfrm>
            <a:off x="822960" y="1325880"/>
            <a:ext cx="10561320" cy="2880360"/>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60120" y="1481328"/>
            <a:ext cx="73152" cy="2569464"/>
          </a:xfrm>
          <a:prstGeom prst="roundRect">
            <a:avLst/>
          </a:prstGeom>
          <a:solidFill>
            <a:srgbClr val="6C43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67061" y="1557605"/>
            <a:ext cx="10365723" cy="323165"/>
          </a:xfrm>
          <a:prstGeom prst="rect">
            <a:avLst/>
          </a:prstGeom>
          <a:noFill/>
        </p:spPr>
        <p:txBody>
          <a:bodyPr wrap="none">
            <a:spAutoFit/>
          </a:bodyPr>
          <a:lstStyle/>
          <a:p>
            <a:pPr marL="285750" indent="-285750">
              <a:buFont typeface="Wingdings" panose="05000000000000000000" pitchFamily="2" charset="2"/>
              <a:buChar char="q"/>
              <a:defRPr sz="1500" b="1">
                <a:solidFill>
                  <a:srgbClr val="2D1F44"/>
                </a:solidFill>
                <a:latin typeface="Aptos"/>
              </a:defRPr>
            </a:pPr>
            <a:r>
              <a:rPr lang="en-US" sz="1500" b="1" dirty="0"/>
              <a:t>if you were advising the operations head on when to run a flash promotion, what would you say based on this data?</a:t>
            </a:r>
            <a:endParaRPr dirty="0"/>
          </a:p>
        </p:txBody>
      </p:sp>
      <p:sp>
        <p:nvSpPr>
          <p:cNvPr id="9" name="TextBox 8"/>
          <p:cNvSpPr txBox="1"/>
          <p:nvPr/>
        </p:nvSpPr>
        <p:spPr>
          <a:xfrm>
            <a:off x="1193292" y="2045362"/>
            <a:ext cx="10030968" cy="2092881"/>
          </a:xfrm>
          <a:prstGeom prst="rect">
            <a:avLst/>
          </a:prstGeom>
          <a:noFill/>
        </p:spPr>
        <p:txBody>
          <a:bodyPr wrap="square">
            <a:spAutoFit/>
          </a:bodyPr>
          <a:lstStyle/>
          <a:p>
            <a:pPr marL="285750" lvl="0" indent="-285750" defTabSz="914400" eaLnBrk="0" fontAlgn="base" hangingPunct="0">
              <a:spcBef>
                <a:spcPct val="0"/>
              </a:spcBef>
              <a:spcAft>
                <a:spcPct val="0"/>
              </a:spcAft>
              <a:buFont typeface="Arial" panose="020B0604020202020204" pitchFamily="34" charset="0"/>
              <a:buChar char="•"/>
            </a:pPr>
            <a:r>
              <a:rPr lang="en-US" altLang="en-US" sz="1300" b="1" dirty="0">
                <a:latin typeface="Arial" panose="020B0604020202020204" pitchFamily="34" charset="0"/>
              </a:rPr>
              <a:t>Run a flash promotion on Saturday</a:t>
            </a:r>
            <a:r>
              <a:rPr lang="en-US" altLang="en-US" sz="1300" dirty="0">
                <a:latin typeface="Arial" panose="020B0604020202020204" pitchFamily="34" charset="0"/>
              </a:rPr>
              <a:t>, because it has the </a:t>
            </a:r>
            <a:r>
              <a:rPr lang="en-US" altLang="en-US" sz="1300" b="1" dirty="0">
                <a:latin typeface="Arial" panose="020B0604020202020204" pitchFamily="34" charset="0"/>
              </a:rPr>
              <a:t>highest average daily revenue (₹35.24 lakh)</a:t>
            </a:r>
            <a:r>
              <a:rPr lang="en-US" altLang="en-US" sz="1300" dirty="0">
                <a:latin typeface="Arial" panose="020B0604020202020204" pitchFamily="34" charset="0"/>
              </a:rPr>
              <a:t>. </a:t>
            </a:r>
          </a:p>
          <a:p>
            <a:pPr marL="285750" lvl="0" indent="-285750" defTabSz="914400" eaLnBrk="0" fontAlgn="base" hangingPunct="0">
              <a:spcBef>
                <a:spcPct val="0"/>
              </a:spcBef>
              <a:spcAft>
                <a:spcPct val="0"/>
              </a:spcAft>
              <a:buFont typeface="Arial" panose="020B0604020202020204" pitchFamily="34" charset="0"/>
              <a:buChar char="•"/>
            </a:pPr>
            <a:endParaRPr lang="en-US" altLang="en-US" sz="1300" dirty="0">
              <a:latin typeface="Arial" panose="020B0604020202020204" pitchFamily="34" charset="0"/>
            </a:endParaRPr>
          </a:p>
          <a:p>
            <a:pPr marL="285750" lvl="0" indent="-285750" defTabSz="914400" eaLnBrk="0" fontAlgn="base" hangingPunct="0">
              <a:spcBef>
                <a:spcPct val="0"/>
              </a:spcBef>
              <a:spcAft>
                <a:spcPct val="0"/>
              </a:spcAft>
              <a:buFont typeface="Arial" panose="020B0604020202020204" pitchFamily="34" charset="0"/>
              <a:buChar char="•"/>
            </a:pPr>
            <a:r>
              <a:rPr lang="en-US" altLang="en-US" sz="1300" dirty="0">
                <a:latin typeface="Arial" panose="020B0604020202020204" pitchFamily="34" charset="0"/>
              </a:rPr>
              <a:t>Saturday appears to be the </a:t>
            </a:r>
            <a:r>
              <a:rPr lang="en-US" altLang="en-US" sz="1300" b="1" dirty="0">
                <a:latin typeface="Arial" panose="020B0604020202020204" pitchFamily="34" charset="0"/>
              </a:rPr>
              <a:t>strongest customer-demand day</a:t>
            </a:r>
            <a:r>
              <a:rPr lang="en-US" altLang="en-US" sz="1300" dirty="0">
                <a:latin typeface="Arial" panose="020B0604020202020204" pitchFamily="34" charset="0"/>
              </a:rPr>
              <a:t>, so promotions may reach more customers and generate higher sales. </a:t>
            </a:r>
          </a:p>
          <a:p>
            <a:pPr marL="285750" lvl="0" indent="-285750" defTabSz="914400" eaLnBrk="0" fontAlgn="base" hangingPunct="0">
              <a:spcBef>
                <a:spcPct val="0"/>
              </a:spcBef>
              <a:spcAft>
                <a:spcPct val="0"/>
              </a:spcAft>
              <a:buFont typeface="Arial" panose="020B0604020202020204" pitchFamily="34" charset="0"/>
              <a:buChar char="•"/>
            </a:pPr>
            <a:endParaRPr lang="en-US" altLang="en-US" sz="1300" dirty="0">
              <a:latin typeface="Arial" panose="020B0604020202020204" pitchFamily="34" charset="0"/>
            </a:endParaRPr>
          </a:p>
          <a:p>
            <a:pPr marL="285750" lvl="0" indent="-285750" defTabSz="914400" eaLnBrk="0" fontAlgn="base" hangingPunct="0">
              <a:spcBef>
                <a:spcPct val="0"/>
              </a:spcBef>
              <a:spcAft>
                <a:spcPct val="0"/>
              </a:spcAft>
              <a:buFont typeface="Arial" panose="020B0604020202020204" pitchFamily="34" charset="0"/>
              <a:buChar char="•"/>
            </a:pPr>
            <a:r>
              <a:rPr lang="en-US" altLang="en-US" sz="1300" b="1" dirty="0">
                <a:latin typeface="Arial" panose="020B0604020202020204" pitchFamily="34" charset="0"/>
              </a:rPr>
              <a:t>Friday and Sunday</a:t>
            </a:r>
            <a:r>
              <a:rPr lang="en-US" altLang="en-US" sz="1300" dirty="0">
                <a:latin typeface="Arial" panose="020B0604020202020204" pitchFamily="34" charset="0"/>
              </a:rPr>
              <a:t> are also strong days, so the promotion could be extended around the weekend if needed. </a:t>
            </a:r>
          </a:p>
          <a:p>
            <a:pPr marL="285750" lvl="0" indent="-285750" defTabSz="914400" eaLnBrk="0" fontAlgn="base" hangingPunct="0">
              <a:spcBef>
                <a:spcPct val="0"/>
              </a:spcBef>
              <a:spcAft>
                <a:spcPct val="0"/>
              </a:spcAft>
              <a:buFont typeface="Arial" panose="020B0604020202020204" pitchFamily="34" charset="0"/>
              <a:buChar char="•"/>
            </a:pPr>
            <a:endParaRPr lang="en-US" altLang="en-US" sz="1300" dirty="0">
              <a:latin typeface="Arial" panose="020B0604020202020204" pitchFamily="34" charset="0"/>
            </a:endParaRPr>
          </a:p>
          <a:p>
            <a:pPr marL="285750" lvl="0" indent="-285750" defTabSz="914400" eaLnBrk="0" fontAlgn="base" hangingPunct="0">
              <a:spcBef>
                <a:spcPct val="0"/>
              </a:spcBef>
              <a:spcAft>
                <a:spcPct val="0"/>
              </a:spcAft>
              <a:buFont typeface="Arial" panose="020B0604020202020204" pitchFamily="34" charset="0"/>
              <a:buChar char="•"/>
            </a:pPr>
            <a:r>
              <a:rPr lang="en-US" altLang="en-US" sz="1300" b="1" dirty="0">
                <a:latin typeface="Arial" panose="020B0604020202020204" pitchFamily="34" charset="0"/>
              </a:rPr>
              <a:t>Monday has the lowest average revenue</a:t>
            </a:r>
            <a:r>
              <a:rPr lang="en-US" altLang="en-US" sz="1300" dirty="0">
                <a:latin typeface="Arial" panose="020B0604020202020204" pitchFamily="34" charset="0"/>
              </a:rPr>
              <a:t>, so a separate promotion could be tested on Monday to increase demand on the weakest day. </a:t>
            </a:r>
          </a:p>
          <a:p>
            <a:pPr marL="285750" indent="-285750">
              <a:buFont typeface="Arial" panose="020B0604020202020204" pitchFamily="34" charset="0"/>
              <a:buChar char="•"/>
              <a:defRPr sz="1800">
                <a:solidFill>
                  <a:srgbClr val="2D1F44"/>
                </a:solidFill>
                <a:latin typeface="Aptos"/>
              </a:defRPr>
            </a:pPr>
            <a:endParaRPr sz="1300" dirty="0"/>
          </a:p>
        </p:txBody>
      </p:sp>
      <p:sp>
        <p:nvSpPr>
          <p:cNvPr id="10" name="Rounded Rectangle 9"/>
          <p:cNvSpPr/>
          <p:nvPr/>
        </p:nvSpPr>
        <p:spPr>
          <a:xfrm>
            <a:off x="1097280" y="4617720"/>
            <a:ext cx="2926080" cy="1234440"/>
          </a:xfrm>
          <a:prstGeom prst="roundRect">
            <a:avLst/>
          </a:prstGeom>
          <a:solidFill>
            <a:srgbClr val="FFFFFF"/>
          </a:solidFill>
          <a:ln>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34439" y="4782312"/>
            <a:ext cx="2651760" cy="502920"/>
          </a:xfrm>
          <a:prstGeom prst="rect">
            <a:avLst/>
          </a:prstGeom>
          <a:noFill/>
        </p:spPr>
        <p:txBody>
          <a:bodyPr wrap="none">
            <a:spAutoFit/>
          </a:bodyPr>
          <a:lstStyle/>
          <a:p>
            <a:pPr algn="ctr">
              <a:defRPr sz="2300" b="1">
                <a:solidFill>
                  <a:srgbClr val="6C43B4"/>
                </a:solidFill>
                <a:latin typeface="Aptos Display"/>
              </a:defRPr>
            </a:pPr>
            <a:r>
              <a:t>Saturday</a:t>
            </a:r>
          </a:p>
        </p:txBody>
      </p:sp>
      <p:sp>
        <p:nvSpPr>
          <p:cNvPr id="12" name="TextBox 11"/>
          <p:cNvSpPr txBox="1"/>
          <p:nvPr/>
        </p:nvSpPr>
        <p:spPr>
          <a:xfrm>
            <a:off x="1234439" y="5367528"/>
            <a:ext cx="2651760" cy="411480"/>
          </a:xfrm>
          <a:prstGeom prst="rect">
            <a:avLst/>
          </a:prstGeom>
          <a:noFill/>
        </p:spPr>
        <p:txBody>
          <a:bodyPr wrap="none">
            <a:spAutoFit/>
          </a:bodyPr>
          <a:lstStyle/>
          <a:p>
            <a:pPr algn="ctr">
              <a:defRPr sz="1100">
                <a:solidFill>
                  <a:srgbClr val="645B6E"/>
                </a:solidFill>
                <a:latin typeface="Aptos"/>
              </a:defRPr>
            </a:pPr>
            <a:r>
              <a:t>strongest day</a:t>
            </a:r>
          </a:p>
        </p:txBody>
      </p:sp>
      <p:sp>
        <p:nvSpPr>
          <p:cNvPr id="13" name="Rounded Rectangle 12"/>
          <p:cNvSpPr/>
          <p:nvPr/>
        </p:nvSpPr>
        <p:spPr>
          <a:xfrm>
            <a:off x="4617720" y="4617720"/>
            <a:ext cx="2926080" cy="1234440"/>
          </a:xfrm>
          <a:prstGeom prst="roundRect">
            <a:avLst/>
          </a:prstGeom>
          <a:solidFill>
            <a:srgbClr val="FFFFFF"/>
          </a:solidFill>
          <a:ln>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54880" y="4782312"/>
            <a:ext cx="2651760" cy="502920"/>
          </a:xfrm>
          <a:prstGeom prst="rect">
            <a:avLst/>
          </a:prstGeom>
          <a:noFill/>
        </p:spPr>
        <p:txBody>
          <a:bodyPr wrap="none">
            <a:spAutoFit/>
          </a:bodyPr>
          <a:lstStyle/>
          <a:p>
            <a:pPr algn="ctr">
              <a:defRPr sz="2300" b="1">
                <a:solidFill>
                  <a:srgbClr val="E65CA4"/>
                </a:solidFill>
                <a:latin typeface="Aptos Display"/>
              </a:defRPr>
            </a:pPr>
            <a:r>
              <a:t>Monday</a:t>
            </a:r>
          </a:p>
        </p:txBody>
      </p:sp>
      <p:sp>
        <p:nvSpPr>
          <p:cNvPr id="15" name="TextBox 14"/>
          <p:cNvSpPr txBox="1"/>
          <p:nvPr/>
        </p:nvSpPr>
        <p:spPr>
          <a:xfrm>
            <a:off x="4754880" y="5367528"/>
            <a:ext cx="2651760" cy="411480"/>
          </a:xfrm>
          <a:prstGeom prst="rect">
            <a:avLst/>
          </a:prstGeom>
          <a:noFill/>
        </p:spPr>
        <p:txBody>
          <a:bodyPr wrap="none">
            <a:spAutoFit/>
          </a:bodyPr>
          <a:lstStyle/>
          <a:p>
            <a:pPr algn="ctr">
              <a:defRPr sz="1100">
                <a:solidFill>
                  <a:srgbClr val="645B6E"/>
                </a:solidFill>
                <a:latin typeface="Aptos"/>
              </a:defRPr>
            </a:pPr>
            <a:r>
              <a:t>weakest day</a:t>
            </a:r>
          </a:p>
        </p:txBody>
      </p:sp>
      <p:sp>
        <p:nvSpPr>
          <p:cNvPr id="16" name="Rounded Rectangle 15"/>
          <p:cNvSpPr/>
          <p:nvPr/>
        </p:nvSpPr>
        <p:spPr>
          <a:xfrm>
            <a:off x="8138160" y="4617720"/>
            <a:ext cx="2926080" cy="1234440"/>
          </a:xfrm>
          <a:prstGeom prst="roundRect">
            <a:avLst/>
          </a:prstGeom>
          <a:solidFill>
            <a:srgbClr val="FFFFFF"/>
          </a:solidFill>
          <a:ln>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75320" y="4782312"/>
            <a:ext cx="2651760" cy="502920"/>
          </a:xfrm>
          <a:prstGeom prst="rect">
            <a:avLst/>
          </a:prstGeom>
          <a:noFill/>
        </p:spPr>
        <p:txBody>
          <a:bodyPr wrap="none">
            <a:spAutoFit/>
          </a:bodyPr>
          <a:lstStyle/>
          <a:p>
            <a:pPr algn="ctr">
              <a:defRPr sz="2300" b="1">
                <a:solidFill>
                  <a:srgbClr val="6C43B4"/>
                </a:solidFill>
                <a:latin typeface="Aptos Display"/>
              </a:defRPr>
            </a:pPr>
            <a:r>
              <a:t>January</a:t>
            </a:r>
          </a:p>
        </p:txBody>
      </p:sp>
      <p:sp>
        <p:nvSpPr>
          <p:cNvPr id="18" name="TextBox 17"/>
          <p:cNvSpPr txBox="1"/>
          <p:nvPr/>
        </p:nvSpPr>
        <p:spPr>
          <a:xfrm>
            <a:off x="8275320" y="5367528"/>
            <a:ext cx="2651760" cy="411480"/>
          </a:xfrm>
          <a:prstGeom prst="rect">
            <a:avLst/>
          </a:prstGeom>
          <a:noFill/>
        </p:spPr>
        <p:txBody>
          <a:bodyPr wrap="none">
            <a:spAutoFit/>
          </a:bodyPr>
          <a:lstStyle/>
          <a:p>
            <a:pPr algn="ctr">
              <a:defRPr sz="1100">
                <a:solidFill>
                  <a:srgbClr val="645B6E"/>
                </a:solidFill>
                <a:latin typeface="Aptos"/>
              </a:defRPr>
            </a:pPr>
            <a:r>
              <a:t>strongest month</a:t>
            </a:r>
          </a:p>
        </p:txBody>
      </p:sp>
      <p:sp>
        <p:nvSpPr>
          <p:cNvPr id="19" name="TextBox 18"/>
          <p:cNvSpPr txBox="1"/>
          <p:nvPr/>
        </p:nvSpPr>
        <p:spPr>
          <a:xfrm>
            <a:off x="10881360" y="6446520"/>
            <a:ext cx="640080" cy="228600"/>
          </a:xfrm>
          <a:prstGeom prst="rect">
            <a:avLst/>
          </a:prstGeom>
          <a:noFill/>
        </p:spPr>
        <p:txBody>
          <a:bodyPr wrap="none">
            <a:spAutoFit/>
          </a:bodyPr>
          <a:lstStyle/>
          <a:p>
            <a:pPr algn="r">
              <a:defRPr sz="900">
                <a:solidFill>
                  <a:srgbClr val="645B6E"/>
                </a:solidFill>
              </a:defRPr>
            </a:pPr>
            <a:r>
              <a:t>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7FF"/>
        </a:solidFill>
        <a:effectLst/>
      </p:bgPr>
    </p:bg>
    <p:spTree>
      <p:nvGrpSpPr>
        <p:cNvPr id="1" name=""/>
        <p:cNvGrpSpPr/>
        <p:nvPr/>
      </p:nvGrpSpPr>
      <p:grpSpPr>
        <a:xfrm>
          <a:off x="0" y="0"/>
          <a:ext cx="0" cy="0"/>
          <a:chOff x="0" y="0"/>
          <a:chExt cx="0" cy="0"/>
        </a:xfrm>
      </p:grpSpPr>
      <p:sp>
        <p:nvSpPr>
          <p:cNvPr id="2" name="Oval 1"/>
          <p:cNvSpPr/>
          <p:nvPr/>
        </p:nvSpPr>
        <p:spPr>
          <a:xfrm>
            <a:off x="10652760" y="-320040"/>
            <a:ext cx="1828800" cy="182880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411480" y="5623560"/>
            <a:ext cx="1554480" cy="155448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01400" y="5440680"/>
            <a:ext cx="1188720" cy="11887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18948"/>
            <a:ext cx="10972800" cy="594360"/>
          </a:xfrm>
          <a:prstGeom prst="rect">
            <a:avLst/>
          </a:prstGeom>
          <a:noFill/>
        </p:spPr>
        <p:txBody>
          <a:bodyPr wrap="none">
            <a:spAutoFit/>
          </a:bodyPr>
          <a:lstStyle/>
          <a:p>
            <a:pPr>
              <a:defRPr sz="2800" b="1">
                <a:solidFill>
                  <a:srgbClr val="2D1F44"/>
                </a:solidFill>
                <a:latin typeface="Aptos Display"/>
              </a:defRPr>
            </a:pPr>
            <a:r>
              <a:t>5.5 — Anomaly identification</a:t>
            </a:r>
          </a:p>
        </p:txBody>
      </p:sp>
      <p:sp>
        <p:nvSpPr>
          <p:cNvPr id="6" name="TextBox 5"/>
          <p:cNvSpPr txBox="1"/>
          <p:nvPr/>
        </p:nvSpPr>
        <p:spPr>
          <a:xfrm>
            <a:off x="548640" y="756458"/>
            <a:ext cx="10515600" cy="307777"/>
          </a:xfrm>
          <a:prstGeom prst="rect">
            <a:avLst/>
          </a:prstGeom>
          <a:noFill/>
        </p:spPr>
        <p:txBody>
          <a:bodyPr wrap="square">
            <a:spAutoFit/>
          </a:bodyPr>
          <a:lstStyle/>
          <a:p>
            <a:pPr>
              <a:defRPr sz="1200">
                <a:solidFill>
                  <a:srgbClr val="645B6E"/>
                </a:solidFill>
                <a:latin typeface="Aptos"/>
              </a:defRPr>
            </a:pPr>
            <a:r>
              <a:rPr sz="1400" dirty="0"/>
              <a:t>Store-week revenue &gt; 2 standard deviations below that store's own average</a:t>
            </a:r>
          </a:p>
        </p:txBody>
      </p:sp>
      <p:sp>
        <p:nvSpPr>
          <p:cNvPr id="9" name="Rounded Rectangle 8"/>
          <p:cNvSpPr/>
          <p:nvPr/>
        </p:nvSpPr>
        <p:spPr>
          <a:xfrm>
            <a:off x="803910" y="1246922"/>
            <a:ext cx="9865360" cy="2182078"/>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ounded Rectangle 9"/>
          <p:cNvSpPr/>
          <p:nvPr/>
        </p:nvSpPr>
        <p:spPr>
          <a:xfrm>
            <a:off x="1180846" y="1409748"/>
            <a:ext cx="74422" cy="1934149"/>
          </a:xfrm>
          <a:prstGeom prst="roundRect">
            <a:avLst/>
          </a:prstGeom>
          <a:solidFill>
            <a:srgbClr val="E65C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78788" y="1301476"/>
            <a:ext cx="3703320" cy="320040"/>
          </a:xfrm>
          <a:prstGeom prst="rect">
            <a:avLst/>
          </a:prstGeom>
          <a:noFill/>
        </p:spPr>
        <p:txBody>
          <a:bodyPr wrap="none">
            <a:spAutoFit/>
          </a:bodyPr>
          <a:lstStyle/>
          <a:p>
            <a:pPr>
              <a:defRPr sz="1500" b="1">
                <a:solidFill>
                  <a:srgbClr val="2D1F44"/>
                </a:solidFill>
                <a:latin typeface="Aptos"/>
              </a:defRPr>
            </a:pPr>
            <a:r>
              <a:rPr dirty="0"/>
              <a:t>Flagged combinations</a:t>
            </a:r>
          </a:p>
        </p:txBody>
      </p:sp>
      <p:sp>
        <p:nvSpPr>
          <p:cNvPr id="12" name="TextBox 11"/>
          <p:cNvSpPr txBox="1"/>
          <p:nvPr/>
        </p:nvSpPr>
        <p:spPr>
          <a:xfrm>
            <a:off x="1478788" y="1636834"/>
            <a:ext cx="4319524" cy="1600438"/>
          </a:xfrm>
          <a:prstGeom prst="rect">
            <a:avLst/>
          </a:prstGeom>
          <a:noFill/>
        </p:spPr>
        <p:txBody>
          <a:bodyPr wrap="square">
            <a:spAutoFit/>
          </a:bodyPr>
          <a:lstStyle/>
          <a:p>
            <a:pPr>
              <a:defRPr sz="1200">
                <a:solidFill>
                  <a:srgbClr val="2D1F44"/>
                </a:solidFill>
                <a:latin typeface="Aptos"/>
              </a:defRPr>
            </a:pPr>
            <a:r>
              <a:rPr sz="1400" dirty="0"/>
              <a:t>S05 — Rajahmundry | 09 Feb 2026 | ₹655,732</a:t>
            </a:r>
            <a:r>
              <a:rPr lang="en-US" sz="1400" dirty="0"/>
              <a:t>     </a:t>
            </a:r>
            <a:br>
              <a:rPr sz="1400" dirty="0"/>
            </a:br>
            <a:br>
              <a:rPr sz="1400" dirty="0"/>
            </a:br>
            <a:r>
              <a:rPr sz="1400" dirty="0"/>
              <a:t>S10 — Nellore | 06 Apr 2026 | ₹505,537</a:t>
            </a:r>
            <a:r>
              <a:rPr lang="en-US" sz="1400" dirty="0"/>
              <a:t>  </a:t>
            </a:r>
            <a:br>
              <a:rPr sz="1400" dirty="0"/>
            </a:br>
            <a:br>
              <a:rPr sz="1400" dirty="0"/>
            </a:br>
            <a:r>
              <a:rPr sz="1400" dirty="0"/>
              <a:t>S02 — Vijayawada | 18 May 2026 | ₹1,173,289</a:t>
            </a:r>
            <a:r>
              <a:rPr lang="en-US" sz="1400" dirty="0"/>
              <a:t>  </a:t>
            </a:r>
            <a:br>
              <a:rPr sz="1400" dirty="0"/>
            </a:br>
            <a:br>
              <a:rPr sz="1400" dirty="0"/>
            </a:br>
            <a:r>
              <a:rPr sz="1400" dirty="0"/>
              <a:t>S04 — Guntur | 08 Jun 2026 | ₹1,137,480</a:t>
            </a:r>
            <a:r>
              <a:rPr lang="en-US" sz="1400" dirty="0"/>
              <a:t>  </a:t>
            </a:r>
            <a:endParaRPr sz="1400" dirty="0"/>
          </a:p>
        </p:txBody>
      </p:sp>
      <p:sp>
        <p:nvSpPr>
          <p:cNvPr id="13" name="TextBox 12"/>
          <p:cNvSpPr txBox="1"/>
          <p:nvPr/>
        </p:nvSpPr>
        <p:spPr>
          <a:xfrm>
            <a:off x="10881360" y="6446520"/>
            <a:ext cx="640080" cy="228600"/>
          </a:xfrm>
          <a:prstGeom prst="rect">
            <a:avLst/>
          </a:prstGeom>
          <a:noFill/>
        </p:spPr>
        <p:txBody>
          <a:bodyPr wrap="none">
            <a:spAutoFit/>
          </a:bodyPr>
          <a:lstStyle/>
          <a:p>
            <a:pPr algn="r">
              <a:defRPr sz="900">
                <a:solidFill>
                  <a:srgbClr val="645B6E"/>
                </a:solidFill>
              </a:defRPr>
            </a:pPr>
            <a:r>
              <a:t>8</a:t>
            </a:r>
          </a:p>
        </p:txBody>
      </p:sp>
      <p:sp>
        <p:nvSpPr>
          <p:cNvPr id="14" name="Rounded Rectangle 8">
            <a:extLst>
              <a:ext uri="{FF2B5EF4-FFF2-40B4-BE49-F238E27FC236}">
                <a16:creationId xmlns:a16="http://schemas.microsoft.com/office/drawing/2014/main" id="{911ED4EF-47F3-9330-19AB-7BECA93B1D7B}"/>
              </a:ext>
            </a:extLst>
          </p:cNvPr>
          <p:cNvSpPr/>
          <p:nvPr/>
        </p:nvSpPr>
        <p:spPr>
          <a:xfrm>
            <a:off x="786130" y="3611687"/>
            <a:ext cx="9900920" cy="2735067"/>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lvl="0" defTabSz="914400" eaLnBrk="0" fontAlgn="base" hangingPunct="0">
              <a:spcBef>
                <a:spcPct val="0"/>
              </a:spcBef>
              <a:spcAft>
                <a:spcPct val="0"/>
              </a:spcAft>
            </a:pPr>
            <a:endParaRPr lang="en-US" altLang="en-US" dirty="0">
              <a:solidFill>
                <a:schemeClr val="tx1"/>
              </a:solidFill>
              <a:latin typeface="Arial" panose="020B0604020202020204" pitchFamily="34" charset="0"/>
            </a:endParaRPr>
          </a:p>
          <a:p>
            <a:pPr lvl="0" defTabSz="914400" eaLnBrk="0" fontAlgn="base" hangingPunct="0">
              <a:spcBef>
                <a:spcPct val="0"/>
              </a:spcBef>
              <a:spcAft>
                <a:spcPct val="0"/>
              </a:spcAft>
            </a:pPr>
            <a:endParaRPr lang="en-US" altLang="en-US" dirty="0">
              <a:solidFill>
                <a:schemeClr val="tx1"/>
              </a:solidFill>
              <a:latin typeface="Arial" panose="020B0604020202020204" pitchFamily="34" charset="0"/>
            </a:endParaRPr>
          </a:p>
          <a:p>
            <a:pPr marL="285750" lvl="0" indent="-285750" defTabSz="914400" eaLnBrk="0" fontAlgn="base" hangingPunct="0">
              <a:spcBef>
                <a:spcPct val="0"/>
              </a:spcBef>
              <a:spcAft>
                <a:spcPct val="0"/>
              </a:spcAft>
              <a:buFont typeface="Arial" panose="020B0604020202020204" pitchFamily="34" charset="0"/>
              <a:buChar char="•"/>
            </a:pPr>
            <a:r>
              <a:rPr lang="en-US" altLang="en-US" sz="1600" dirty="0">
                <a:solidFill>
                  <a:schemeClr val="tx1"/>
                </a:solidFill>
                <a:latin typeface="Arial" panose="020B0604020202020204" pitchFamily="34" charset="0"/>
              </a:rPr>
              <a:t>Calculate </a:t>
            </a:r>
            <a:r>
              <a:rPr lang="en-US" altLang="en-US" sz="1600" b="1" dirty="0">
                <a:solidFill>
                  <a:schemeClr val="tx1"/>
                </a:solidFill>
                <a:latin typeface="Arial" panose="020B0604020202020204" pitchFamily="34" charset="0"/>
              </a:rPr>
              <a:t>weekly revenue for each store(Sum)</a:t>
            </a:r>
            <a:r>
              <a:rPr lang="en-US" altLang="en-US" sz="1600" dirty="0">
                <a:solidFill>
                  <a:schemeClr val="tx1"/>
                </a:solidFill>
                <a:latin typeface="Arial" panose="020B0604020202020204" pitchFamily="34" charset="0"/>
              </a:rPr>
              <a:t>. </a:t>
            </a:r>
          </a:p>
          <a:p>
            <a:pPr marL="285750" lvl="0" indent="-285750" defTabSz="914400" eaLnBrk="0" fontAlgn="base" hangingPunct="0">
              <a:spcBef>
                <a:spcPct val="0"/>
              </a:spcBef>
              <a:spcAft>
                <a:spcPct val="0"/>
              </a:spcAft>
              <a:buFont typeface="Arial" panose="020B0604020202020204" pitchFamily="34" charset="0"/>
              <a:buChar char="•"/>
            </a:pPr>
            <a:r>
              <a:rPr lang="en-US" altLang="en-US" sz="1600" dirty="0">
                <a:solidFill>
                  <a:schemeClr val="tx1"/>
                </a:solidFill>
                <a:latin typeface="Arial" panose="020B0604020202020204" pitchFamily="34" charset="0"/>
              </a:rPr>
              <a:t>Calculate each store’s </a:t>
            </a:r>
            <a:r>
              <a:rPr lang="en-US" altLang="en-US" sz="1600" b="1" dirty="0">
                <a:solidFill>
                  <a:schemeClr val="tx1"/>
                </a:solidFill>
                <a:latin typeface="Arial" panose="020B0604020202020204" pitchFamily="34" charset="0"/>
              </a:rPr>
              <a:t>average weekly revenue(Mean)</a:t>
            </a:r>
            <a:r>
              <a:rPr lang="en-US" altLang="en-US" sz="1600" dirty="0">
                <a:solidFill>
                  <a:schemeClr val="tx1"/>
                </a:solidFill>
                <a:latin typeface="Arial" panose="020B0604020202020204" pitchFamily="34" charset="0"/>
              </a:rPr>
              <a:t>. </a:t>
            </a:r>
          </a:p>
          <a:p>
            <a:pPr marL="285750" lvl="0" indent="-285750" defTabSz="914400" eaLnBrk="0" fontAlgn="base" hangingPunct="0">
              <a:spcBef>
                <a:spcPct val="0"/>
              </a:spcBef>
              <a:spcAft>
                <a:spcPct val="0"/>
              </a:spcAft>
              <a:buFont typeface="Arial" panose="020B0604020202020204" pitchFamily="34" charset="0"/>
              <a:buChar char="•"/>
            </a:pPr>
            <a:r>
              <a:rPr lang="en-US" altLang="en-US" sz="1600" dirty="0">
                <a:solidFill>
                  <a:schemeClr val="tx1"/>
                </a:solidFill>
                <a:latin typeface="Arial" panose="020B0604020202020204" pitchFamily="34" charset="0"/>
              </a:rPr>
              <a:t>Calculate the </a:t>
            </a:r>
            <a:r>
              <a:rPr lang="en-US" altLang="en-US" sz="1600" b="1" dirty="0">
                <a:solidFill>
                  <a:schemeClr val="tx1"/>
                </a:solidFill>
                <a:latin typeface="Arial" panose="020B0604020202020204" pitchFamily="34" charset="0"/>
              </a:rPr>
              <a:t>standard deviation (SD)</a:t>
            </a:r>
            <a:r>
              <a:rPr lang="en-US" altLang="en-US" sz="1600" dirty="0">
                <a:solidFill>
                  <a:schemeClr val="tx1"/>
                </a:solidFill>
                <a:latin typeface="Arial" panose="020B0604020202020204" pitchFamily="34" charset="0"/>
              </a:rPr>
              <a:t> of weekly revenue for each store. </a:t>
            </a:r>
          </a:p>
          <a:p>
            <a:pPr marL="285750" lvl="0" indent="-285750" defTabSz="914400" eaLnBrk="0" fontAlgn="base" hangingPunct="0">
              <a:spcBef>
                <a:spcPct val="0"/>
              </a:spcBef>
              <a:spcAft>
                <a:spcPct val="0"/>
              </a:spcAft>
              <a:buFont typeface="Arial" panose="020B0604020202020204" pitchFamily="34" charset="0"/>
              <a:buChar char="•"/>
            </a:pPr>
            <a:r>
              <a:rPr lang="en-US" altLang="en-US" sz="1600" dirty="0">
                <a:solidFill>
                  <a:schemeClr val="tx1"/>
                </a:solidFill>
                <a:latin typeface="Arial" panose="020B0604020202020204" pitchFamily="34" charset="0"/>
              </a:rPr>
              <a:t>Set the anomaly threshold: </a:t>
            </a:r>
            <a:r>
              <a:rPr lang="en-US" altLang="en-US" sz="1600" b="1" dirty="0">
                <a:solidFill>
                  <a:schemeClr val="tx1"/>
                </a:solidFill>
                <a:latin typeface="Arial" panose="020B0604020202020204" pitchFamily="34" charset="0"/>
              </a:rPr>
              <a:t>Threshold = Average Weekly Revenue − (2 × SD)</a:t>
            </a:r>
            <a:r>
              <a:rPr lang="en-US" altLang="en-US" sz="1600" dirty="0">
                <a:solidFill>
                  <a:schemeClr val="tx1"/>
                </a:solidFill>
                <a:latin typeface="Arial" panose="020B0604020202020204" pitchFamily="34" charset="0"/>
              </a:rPr>
              <a:t> </a:t>
            </a:r>
          </a:p>
          <a:p>
            <a:pPr marL="285750" lvl="0" indent="-285750" defTabSz="914400" eaLnBrk="0" fontAlgn="base" hangingPunct="0">
              <a:spcBef>
                <a:spcPct val="0"/>
              </a:spcBef>
              <a:spcAft>
                <a:spcPct val="0"/>
              </a:spcAft>
              <a:buFont typeface="Arial" panose="020B0604020202020204" pitchFamily="34" charset="0"/>
              <a:buChar char="•"/>
            </a:pPr>
            <a:r>
              <a:rPr lang="en-US" altLang="en-US" sz="1600" dirty="0">
                <a:solidFill>
                  <a:schemeClr val="tx1"/>
                </a:solidFill>
                <a:latin typeface="Arial" panose="020B0604020202020204" pitchFamily="34" charset="0"/>
              </a:rPr>
              <a:t>Flag a store-week as an </a:t>
            </a:r>
            <a:r>
              <a:rPr lang="en-US" altLang="en-US" sz="1600" b="1" dirty="0">
                <a:solidFill>
                  <a:schemeClr val="tx1"/>
                </a:solidFill>
                <a:latin typeface="Arial" panose="020B0604020202020204" pitchFamily="34" charset="0"/>
              </a:rPr>
              <a:t>anomaly</a:t>
            </a:r>
            <a:r>
              <a:rPr lang="en-US" altLang="en-US" sz="1600" dirty="0">
                <a:solidFill>
                  <a:schemeClr val="tx1"/>
                </a:solidFill>
                <a:latin typeface="Arial" panose="020B0604020202020204" pitchFamily="34" charset="0"/>
              </a:rPr>
              <a:t> </a:t>
            </a:r>
            <a:r>
              <a:rPr lang="en-US" altLang="en-US" sz="1600" dirty="0" err="1">
                <a:solidFill>
                  <a:schemeClr val="tx1"/>
                </a:solidFill>
                <a:latin typeface="Arial" panose="020B0604020202020204" pitchFamily="34" charset="0"/>
              </a:rPr>
              <a:t>if:</a:t>
            </a:r>
            <a:r>
              <a:rPr lang="en-US" altLang="en-US" sz="1600" b="1" dirty="0" err="1">
                <a:solidFill>
                  <a:schemeClr val="tx1"/>
                </a:solidFill>
                <a:latin typeface="Arial" panose="020B0604020202020204" pitchFamily="34" charset="0"/>
              </a:rPr>
              <a:t>Weekly</a:t>
            </a:r>
            <a:r>
              <a:rPr lang="en-US" altLang="en-US" sz="1600" b="1" dirty="0">
                <a:solidFill>
                  <a:schemeClr val="tx1"/>
                </a:solidFill>
                <a:latin typeface="Arial" panose="020B0604020202020204" pitchFamily="34" charset="0"/>
              </a:rPr>
              <a:t> Revenue &lt; Average Weekly Revenue − 2 × SD</a:t>
            </a:r>
            <a:r>
              <a:rPr lang="en-US" altLang="en-US" sz="1600" dirty="0">
                <a:solidFill>
                  <a:schemeClr val="tx1"/>
                </a:solidFill>
                <a:latin typeface="Arial" panose="020B0604020202020204" pitchFamily="34" charset="0"/>
              </a:rPr>
              <a:t> </a:t>
            </a:r>
          </a:p>
          <a:p>
            <a:pPr algn="ctr"/>
            <a:endParaRPr dirty="0"/>
          </a:p>
        </p:txBody>
      </p:sp>
      <p:sp>
        <p:nvSpPr>
          <p:cNvPr id="18" name="TextBox 17">
            <a:extLst>
              <a:ext uri="{FF2B5EF4-FFF2-40B4-BE49-F238E27FC236}">
                <a16:creationId xmlns:a16="http://schemas.microsoft.com/office/drawing/2014/main" id="{78087267-9BE4-101A-9291-3AE1C0B9B70C}"/>
              </a:ext>
            </a:extLst>
          </p:cNvPr>
          <p:cNvSpPr txBox="1"/>
          <p:nvPr/>
        </p:nvSpPr>
        <p:spPr>
          <a:xfrm>
            <a:off x="1264920" y="3750934"/>
            <a:ext cx="6492240" cy="400110"/>
          </a:xfrm>
          <a:prstGeom prst="rect">
            <a:avLst/>
          </a:prstGeom>
          <a:noFill/>
        </p:spPr>
        <p:txBody>
          <a:bodyPr wrap="square">
            <a:spAutoFit/>
          </a:bodyPr>
          <a:lstStyle/>
          <a:p>
            <a:pPr marL="285750" indent="-285750">
              <a:buFont typeface="Wingdings" panose="05000000000000000000" pitchFamily="2" charset="2"/>
              <a:buChar char="q"/>
            </a:pPr>
            <a:r>
              <a:rPr lang="en-US" sz="2000" b="1" dirty="0"/>
              <a:t>Anomaly Identification — Logic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p:bldP spid="12" grpId="0"/>
      <p:bldP spid="14" grpId="0" animBg="1"/>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7FF"/>
        </a:solidFill>
        <a:effectLst/>
      </p:bgPr>
    </p:bg>
    <p:spTree>
      <p:nvGrpSpPr>
        <p:cNvPr id="1" name="">
          <a:extLst>
            <a:ext uri="{FF2B5EF4-FFF2-40B4-BE49-F238E27FC236}">
              <a16:creationId xmlns:a16="http://schemas.microsoft.com/office/drawing/2014/main" id="{B5AE8C97-FB62-7431-6685-A5A399F6EA56}"/>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A8B7BE52-D44B-A71C-FC2C-D916EF69B018}"/>
              </a:ext>
            </a:extLst>
          </p:cNvPr>
          <p:cNvSpPr/>
          <p:nvPr/>
        </p:nvSpPr>
        <p:spPr>
          <a:xfrm>
            <a:off x="10652760" y="-320040"/>
            <a:ext cx="1828800" cy="182880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837A7578-C678-B5D8-C432-C19ABD03576A}"/>
              </a:ext>
            </a:extLst>
          </p:cNvPr>
          <p:cNvSpPr/>
          <p:nvPr/>
        </p:nvSpPr>
        <p:spPr>
          <a:xfrm>
            <a:off x="-411480" y="5623560"/>
            <a:ext cx="1554480" cy="155448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4D833ECD-0696-6166-D40C-78C6745A0A4F}"/>
              </a:ext>
            </a:extLst>
          </p:cNvPr>
          <p:cNvSpPr/>
          <p:nvPr/>
        </p:nvSpPr>
        <p:spPr>
          <a:xfrm>
            <a:off x="11201400" y="5440680"/>
            <a:ext cx="1188720" cy="11887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A4A330B6-49FF-5EF2-952D-E3711E04CCD8}"/>
              </a:ext>
            </a:extLst>
          </p:cNvPr>
          <p:cNvSpPr txBox="1"/>
          <p:nvPr/>
        </p:nvSpPr>
        <p:spPr>
          <a:xfrm>
            <a:off x="548640" y="218948"/>
            <a:ext cx="10972800" cy="594360"/>
          </a:xfrm>
          <a:prstGeom prst="rect">
            <a:avLst/>
          </a:prstGeom>
          <a:noFill/>
        </p:spPr>
        <p:txBody>
          <a:bodyPr wrap="none">
            <a:spAutoFit/>
          </a:bodyPr>
          <a:lstStyle/>
          <a:p>
            <a:pPr>
              <a:defRPr sz="2800" b="1">
                <a:solidFill>
                  <a:srgbClr val="2D1F44"/>
                </a:solidFill>
                <a:latin typeface="Aptos Display"/>
              </a:defRPr>
            </a:pPr>
            <a:r>
              <a:t>5.5 — Anomaly identification</a:t>
            </a:r>
          </a:p>
        </p:txBody>
      </p:sp>
      <p:sp>
        <p:nvSpPr>
          <p:cNvPr id="13" name="TextBox 12">
            <a:extLst>
              <a:ext uri="{FF2B5EF4-FFF2-40B4-BE49-F238E27FC236}">
                <a16:creationId xmlns:a16="http://schemas.microsoft.com/office/drawing/2014/main" id="{8EF5AA6C-C033-F2EA-1AD8-DFCEF5A51CB8}"/>
              </a:ext>
            </a:extLst>
          </p:cNvPr>
          <p:cNvSpPr txBox="1"/>
          <p:nvPr/>
        </p:nvSpPr>
        <p:spPr>
          <a:xfrm>
            <a:off x="10881360" y="6446520"/>
            <a:ext cx="640080" cy="228600"/>
          </a:xfrm>
          <a:prstGeom prst="rect">
            <a:avLst/>
          </a:prstGeom>
          <a:noFill/>
        </p:spPr>
        <p:txBody>
          <a:bodyPr wrap="none">
            <a:spAutoFit/>
          </a:bodyPr>
          <a:lstStyle/>
          <a:p>
            <a:pPr algn="r">
              <a:defRPr sz="900">
                <a:solidFill>
                  <a:srgbClr val="645B6E"/>
                </a:solidFill>
              </a:defRPr>
            </a:pPr>
            <a:r>
              <a:t>8</a:t>
            </a:r>
          </a:p>
        </p:txBody>
      </p:sp>
      <p:sp>
        <p:nvSpPr>
          <p:cNvPr id="15" name="Rounded Rectangle 9">
            <a:extLst>
              <a:ext uri="{FF2B5EF4-FFF2-40B4-BE49-F238E27FC236}">
                <a16:creationId xmlns:a16="http://schemas.microsoft.com/office/drawing/2014/main" id="{EA40773E-87BF-F871-C66C-9D01B8D53A30}"/>
              </a:ext>
            </a:extLst>
          </p:cNvPr>
          <p:cNvSpPr/>
          <p:nvPr/>
        </p:nvSpPr>
        <p:spPr>
          <a:xfrm>
            <a:off x="1463040" y="3940404"/>
            <a:ext cx="7897328" cy="2506115"/>
          </a:xfrm>
          <a:prstGeom prst="roundRect">
            <a:avLst/>
          </a:prstGeom>
          <a:solidFill>
            <a:srgbClr val="FFFFFF"/>
          </a:solidFill>
          <a:ln>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solidFill>
                <a:srgbClr val="FF0000"/>
              </a:solidFill>
            </a:endParaRPr>
          </a:p>
        </p:txBody>
      </p:sp>
      <p:pic>
        <p:nvPicPr>
          <p:cNvPr id="20" name="Picture 19">
            <a:extLst>
              <a:ext uri="{FF2B5EF4-FFF2-40B4-BE49-F238E27FC236}">
                <a16:creationId xmlns:a16="http://schemas.microsoft.com/office/drawing/2014/main" id="{D66D960B-93D3-A326-E4F3-F528E9795C6A}"/>
              </a:ext>
            </a:extLst>
          </p:cNvPr>
          <p:cNvPicPr>
            <a:picLocks noChangeAspect="1"/>
          </p:cNvPicPr>
          <p:nvPr/>
        </p:nvPicPr>
        <p:blipFill>
          <a:blip r:embed="rId2"/>
          <a:stretch>
            <a:fillRect/>
          </a:stretch>
        </p:blipFill>
        <p:spPr>
          <a:xfrm>
            <a:off x="1587294" y="1043733"/>
            <a:ext cx="7773074" cy="2385267"/>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23" name="TextBox 22">
            <a:extLst>
              <a:ext uri="{FF2B5EF4-FFF2-40B4-BE49-F238E27FC236}">
                <a16:creationId xmlns:a16="http://schemas.microsoft.com/office/drawing/2014/main" id="{6972CE33-8659-C0C9-9CAC-A14A681B2C4B}"/>
              </a:ext>
            </a:extLst>
          </p:cNvPr>
          <p:cNvSpPr txBox="1"/>
          <p:nvPr/>
        </p:nvSpPr>
        <p:spPr>
          <a:xfrm>
            <a:off x="1488088" y="4630285"/>
            <a:ext cx="7971485" cy="1323439"/>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Supply disruption</a:t>
            </a:r>
            <a:r>
              <a:rPr kumimoji="0" lang="en-US" altLang="en-US" sz="1600" b="0" i="0" u="none" strike="noStrike" cap="none" normalizeH="0" baseline="0" dirty="0">
                <a:ln>
                  <a:noFill/>
                </a:ln>
                <a:solidFill>
                  <a:schemeClr val="tx1"/>
                </a:solidFill>
                <a:effectLst/>
                <a:latin typeface="Arial" panose="020B0604020202020204" pitchFamily="34" charset="0"/>
              </a:rPr>
              <a:t> — Some products may have been unavailable, reducing sales.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Local event</a:t>
            </a:r>
            <a:r>
              <a:rPr kumimoji="0" lang="en-US" altLang="en-US" sz="1600" b="0" i="0" u="none" strike="noStrike" cap="none" normalizeH="0" baseline="0" dirty="0">
                <a:ln>
                  <a:noFill/>
                </a:ln>
                <a:solidFill>
                  <a:schemeClr val="tx1"/>
                </a:solidFill>
                <a:effectLst/>
                <a:latin typeface="Arial" panose="020B0604020202020204" pitchFamily="34" charset="0"/>
              </a:rPr>
              <a:t> — A local event may have reduced customer footfall.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Pricing issue</a:t>
            </a:r>
            <a:r>
              <a:rPr kumimoji="0" lang="en-US" altLang="en-US" sz="1600" b="0" i="0" u="none" strike="noStrike" cap="none" normalizeH="0" baseline="0" dirty="0">
                <a:ln>
                  <a:noFill/>
                </a:ln>
                <a:solidFill>
                  <a:schemeClr val="tx1"/>
                </a:solidFill>
                <a:effectLst/>
                <a:latin typeface="Arial" panose="020B0604020202020204" pitchFamily="34" charset="0"/>
              </a:rPr>
              <a:t> — Prices may have been less competitive during the week.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Competitor activity</a:t>
            </a:r>
            <a:r>
              <a:rPr kumimoji="0" lang="en-US" altLang="en-US" sz="1600" b="0" i="0" u="none" strike="noStrike" cap="none" normalizeH="0" baseline="0" dirty="0">
                <a:ln>
                  <a:noFill/>
                </a:ln>
                <a:solidFill>
                  <a:schemeClr val="tx1"/>
                </a:solidFill>
                <a:effectLst/>
                <a:latin typeface="Arial" panose="020B0604020202020204" pitchFamily="34" charset="0"/>
              </a:rPr>
              <a:t> — A competitor may have offered promotions that attracted customers. </a:t>
            </a:r>
          </a:p>
        </p:txBody>
      </p:sp>
      <p:sp>
        <p:nvSpPr>
          <p:cNvPr id="25" name="TextBox 24">
            <a:extLst>
              <a:ext uri="{FF2B5EF4-FFF2-40B4-BE49-F238E27FC236}">
                <a16:creationId xmlns:a16="http://schemas.microsoft.com/office/drawing/2014/main" id="{56C69A0A-8DE5-ED38-9ACF-9796C25BE099}"/>
              </a:ext>
            </a:extLst>
          </p:cNvPr>
          <p:cNvSpPr txBox="1"/>
          <p:nvPr/>
        </p:nvSpPr>
        <p:spPr>
          <a:xfrm>
            <a:off x="1748672" y="4118881"/>
            <a:ext cx="3860275" cy="461665"/>
          </a:xfrm>
          <a:prstGeom prst="rect">
            <a:avLst/>
          </a:prstGeom>
          <a:noFill/>
        </p:spPr>
        <p:txBody>
          <a:bodyPr wrap="square">
            <a:spAutoFit/>
          </a:bodyPr>
          <a:lstStyle/>
          <a:p>
            <a:pPr marL="342900" indent="-342900">
              <a:buFont typeface="Wingdings" panose="05000000000000000000" pitchFamily="2" charset="2"/>
              <a:buChar char="q"/>
            </a:pPr>
            <a:r>
              <a:rPr lang="en-US" sz="2400" b="1" dirty="0"/>
              <a:t>Possible business reasons</a:t>
            </a:r>
          </a:p>
        </p:txBody>
      </p:sp>
    </p:spTree>
    <p:extLst>
      <p:ext uri="{BB962C8B-B14F-4D97-AF65-F5344CB8AC3E}">
        <p14:creationId xmlns:p14="http://schemas.microsoft.com/office/powerpoint/2010/main" val="990982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3" grpId="0"/>
      <p:bldP spid="25"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7FF"/>
        </a:solidFill>
        <a:effectLst/>
      </p:bgPr>
    </p:bg>
    <p:spTree>
      <p:nvGrpSpPr>
        <p:cNvPr id="1" name=""/>
        <p:cNvGrpSpPr/>
        <p:nvPr/>
      </p:nvGrpSpPr>
      <p:grpSpPr>
        <a:xfrm>
          <a:off x="0" y="0"/>
          <a:ext cx="0" cy="0"/>
          <a:chOff x="0" y="0"/>
          <a:chExt cx="0" cy="0"/>
        </a:xfrm>
      </p:grpSpPr>
      <p:sp>
        <p:nvSpPr>
          <p:cNvPr id="2" name="Oval 1"/>
          <p:cNvSpPr/>
          <p:nvPr/>
        </p:nvSpPr>
        <p:spPr>
          <a:xfrm>
            <a:off x="10652760" y="-320040"/>
            <a:ext cx="1828800" cy="182880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411480" y="5623560"/>
            <a:ext cx="1554480" cy="155448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01400" y="5440680"/>
            <a:ext cx="1188720" cy="11887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47472"/>
            <a:ext cx="10972800" cy="594360"/>
          </a:xfrm>
          <a:prstGeom prst="rect">
            <a:avLst/>
          </a:prstGeom>
          <a:noFill/>
        </p:spPr>
        <p:txBody>
          <a:bodyPr wrap="none">
            <a:spAutoFit/>
          </a:bodyPr>
          <a:lstStyle/>
          <a:p>
            <a:pPr>
              <a:defRPr sz="2800" b="1">
                <a:solidFill>
                  <a:srgbClr val="2D1F44"/>
                </a:solidFill>
                <a:latin typeface="Aptos Display"/>
              </a:defRPr>
            </a:pPr>
            <a:r>
              <a:rPr dirty="0"/>
              <a:t>5.6 — Business Recommendation</a:t>
            </a:r>
          </a:p>
        </p:txBody>
      </p:sp>
      <p:sp>
        <p:nvSpPr>
          <p:cNvPr id="6" name="Rounded Rectangle 5"/>
          <p:cNvSpPr/>
          <p:nvPr/>
        </p:nvSpPr>
        <p:spPr>
          <a:xfrm>
            <a:off x="533400" y="1188720"/>
            <a:ext cx="10789920" cy="4315968"/>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68680" y="1435607"/>
            <a:ext cx="67056" cy="3792791"/>
          </a:xfrm>
          <a:prstGeom prst="roundRect">
            <a:avLst/>
          </a:prstGeom>
          <a:solidFill>
            <a:srgbClr val="6C43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59764" y="1399326"/>
            <a:ext cx="10259568" cy="2816156"/>
          </a:xfrm>
          <a:prstGeom prst="rect">
            <a:avLst/>
          </a:prstGeom>
          <a:noFill/>
        </p:spPr>
        <p:txBody>
          <a:bodyPr wrap="square">
            <a:spAutoFit/>
          </a:bodyPr>
          <a:lstStyle/>
          <a:p>
            <a:pPr marL="285750" lvl="0" indent="-285750" defTabSz="91440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S01 – </a:t>
            </a:r>
            <a:r>
              <a:rPr lang="en-US" altLang="en-US" sz="1600" b="1" dirty="0">
                <a:latin typeface="Arial" panose="020B0604020202020204" pitchFamily="34" charset="0"/>
              </a:rPr>
              <a:t>Vijayawada</a:t>
            </a:r>
            <a:r>
              <a:rPr lang="en-US" altLang="en-US" sz="1600" dirty="0">
                <a:latin typeface="Arial" panose="020B0604020202020204" pitchFamily="34" charset="0"/>
              </a:rPr>
              <a:t> generated the highest six-month revenue: </a:t>
            </a:r>
            <a:r>
              <a:rPr lang="en-US" altLang="en-US" sz="1600" b="1" dirty="0">
                <a:latin typeface="Arial" panose="020B0604020202020204" pitchFamily="34" charset="0"/>
              </a:rPr>
              <a:t>₹5.91 crore</a:t>
            </a:r>
            <a:r>
              <a:rPr lang="en-US" altLang="en-US" sz="1600" dirty="0">
                <a:latin typeface="Arial" panose="020B0604020202020204" pitchFamily="34" charset="0"/>
              </a:rPr>
              <a:t>. </a:t>
            </a:r>
          </a:p>
          <a:p>
            <a:pPr marL="285750" lvl="0" indent="-285750" defTabSz="91440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S12 –</a:t>
            </a:r>
            <a:r>
              <a:rPr lang="en-US" altLang="en-US" sz="1600" b="1" dirty="0">
                <a:latin typeface="Arial" panose="020B0604020202020204" pitchFamily="34" charset="0"/>
              </a:rPr>
              <a:t> Kakinada </a:t>
            </a:r>
            <a:r>
              <a:rPr lang="en-US" altLang="en-US" sz="1600" dirty="0">
                <a:latin typeface="Arial" panose="020B0604020202020204" pitchFamily="34" charset="0"/>
              </a:rPr>
              <a:t>generated the lowest six-month revenue: </a:t>
            </a:r>
            <a:r>
              <a:rPr lang="en-US" altLang="en-US" sz="1600" b="1" dirty="0">
                <a:latin typeface="Arial" panose="020B0604020202020204" pitchFamily="34" charset="0"/>
              </a:rPr>
              <a:t>₹2.20 crore(</a:t>
            </a:r>
            <a:r>
              <a:rPr lang="en-US" altLang="en-US" sz="1600" dirty="0">
                <a:latin typeface="Arial" panose="020B0604020202020204" pitchFamily="34" charset="0"/>
              </a:rPr>
              <a:t>Investigate Needed). </a:t>
            </a:r>
          </a:p>
          <a:p>
            <a:pPr marL="285750" lvl="0" indent="-285750" defTabSz="914400" eaLnBrk="0" fontAlgn="base" hangingPunct="0">
              <a:spcBef>
                <a:spcPct val="0"/>
              </a:spcBef>
              <a:spcAft>
                <a:spcPct val="0"/>
              </a:spcAft>
              <a:buFont typeface="Arial" panose="020B0604020202020204" pitchFamily="34" charset="0"/>
              <a:buChar char="•"/>
            </a:pPr>
            <a:r>
              <a:rPr lang="en-US" altLang="en-US" sz="1600" b="1" dirty="0">
                <a:latin typeface="Arial" panose="020B0604020202020204" pitchFamily="34" charset="0"/>
              </a:rPr>
              <a:t>January</a:t>
            </a:r>
            <a:r>
              <a:rPr lang="en-US" altLang="en-US" sz="1600" dirty="0">
                <a:latin typeface="Arial" panose="020B0604020202020204" pitchFamily="34" charset="0"/>
              </a:rPr>
              <a:t> recorded the </a:t>
            </a:r>
            <a:r>
              <a:rPr lang="en-US" altLang="en-US" sz="1600" b="1" dirty="0">
                <a:latin typeface="Arial" panose="020B0604020202020204" pitchFamily="34" charset="0"/>
              </a:rPr>
              <a:t>highest monthly revenue: ₹8.48 crore</a:t>
            </a:r>
            <a:r>
              <a:rPr lang="en-US" altLang="en-US" sz="1600" dirty="0">
                <a:latin typeface="Arial" panose="020B0604020202020204" pitchFamily="34" charset="0"/>
              </a:rPr>
              <a:t>. </a:t>
            </a:r>
          </a:p>
          <a:p>
            <a:pPr marL="285750" lvl="0" indent="-285750" defTabSz="914400" eaLnBrk="0" fontAlgn="base" hangingPunct="0">
              <a:spcBef>
                <a:spcPct val="0"/>
              </a:spcBef>
              <a:spcAft>
                <a:spcPct val="0"/>
              </a:spcAft>
              <a:buFont typeface="Arial" panose="020B0604020202020204" pitchFamily="34" charset="0"/>
              <a:buChar char="•"/>
            </a:pPr>
            <a:r>
              <a:rPr lang="en-US" altLang="en-US" sz="1600" b="1" dirty="0">
                <a:latin typeface="Arial" panose="020B0604020202020204" pitchFamily="34" charset="0"/>
              </a:rPr>
              <a:t>Saturday</a:t>
            </a:r>
            <a:r>
              <a:rPr lang="en-US" altLang="en-US" sz="1600" dirty="0">
                <a:latin typeface="Arial" panose="020B0604020202020204" pitchFamily="34" charset="0"/>
              </a:rPr>
              <a:t> had the </a:t>
            </a:r>
            <a:r>
              <a:rPr lang="en-US" altLang="en-US" sz="1600" b="1" dirty="0">
                <a:latin typeface="Arial" panose="020B0604020202020204" pitchFamily="34" charset="0"/>
              </a:rPr>
              <a:t>highest average daily revenue: ₹35.24 lakh</a:t>
            </a:r>
            <a:r>
              <a:rPr lang="en-US" altLang="en-US" sz="1600" dirty="0">
                <a:latin typeface="Arial" panose="020B0604020202020204" pitchFamily="34" charset="0"/>
              </a:rPr>
              <a:t>. </a:t>
            </a:r>
          </a:p>
          <a:p>
            <a:pPr marL="285750" lvl="0" indent="-285750" defTabSz="914400" eaLnBrk="0" fontAlgn="base" hangingPunct="0">
              <a:spcBef>
                <a:spcPct val="0"/>
              </a:spcBef>
              <a:spcAft>
                <a:spcPct val="0"/>
              </a:spcAft>
              <a:buFont typeface="Arial" panose="020B0604020202020204" pitchFamily="34" charset="0"/>
              <a:buChar char="•"/>
            </a:pPr>
            <a:r>
              <a:rPr lang="en-US" altLang="en-US" sz="1600" b="1" dirty="0">
                <a:latin typeface="Arial" panose="020B0604020202020204" pitchFamily="34" charset="0"/>
              </a:rPr>
              <a:t>Electronics revenue declined by ~25% from January to June</a:t>
            </a:r>
            <a:r>
              <a:rPr lang="en-US" altLang="en-US" sz="1600" dirty="0">
                <a:latin typeface="Arial" panose="020B0604020202020204" pitchFamily="34" charset="0"/>
              </a:rPr>
              <a:t>, which needs attention. </a:t>
            </a:r>
          </a:p>
          <a:p>
            <a:pPr marL="285750" lvl="0" indent="-285750" defTabSz="914400" eaLnBrk="0" fontAlgn="base" hangingPunct="0">
              <a:spcBef>
                <a:spcPct val="0"/>
              </a:spcBef>
              <a:spcAft>
                <a:spcPct val="0"/>
              </a:spcAft>
              <a:buFont typeface="Arial" panose="020B0604020202020204" pitchFamily="34" charset="0"/>
              <a:buChar char="•"/>
            </a:pPr>
            <a:r>
              <a:rPr lang="en-US" altLang="en-US" sz="1600" b="1" dirty="0">
                <a:latin typeface="Arial" panose="020B0604020202020204" pitchFamily="34" charset="0"/>
              </a:rPr>
              <a:t>Anomalies were identified in S05, S10, S02, and S04</a:t>
            </a:r>
            <a:r>
              <a:rPr lang="en-US" altLang="en-US" sz="1600" dirty="0">
                <a:latin typeface="Arial" panose="020B0604020202020204" pitchFamily="34" charset="0"/>
              </a:rPr>
              <a:t>, indicating unusually low weekly revenue compared with their normal performance. </a:t>
            </a:r>
          </a:p>
          <a:p>
            <a:pPr marL="285750" lvl="0" indent="-285750" defTabSz="914400" eaLnBrk="0" fontAlgn="base" hangingPunct="0">
              <a:spcBef>
                <a:spcPct val="0"/>
              </a:spcBef>
              <a:spcAft>
                <a:spcPct val="0"/>
              </a:spcAft>
              <a:buFont typeface="Arial" panose="020B0604020202020204" pitchFamily="34" charset="0"/>
              <a:buChar char="•"/>
            </a:pPr>
            <a:r>
              <a:rPr lang="en-US" altLang="en-US" sz="1600" b="1" dirty="0">
                <a:latin typeface="Arial" panose="020B0604020202020204" pitchFamily="34" charset="0"/>
              </a:rPr>
              <a:t>Recommended action:</a:t>
            </a:r>
            <a:r>
              <a:rPr lang="en-US" altLang="en-US" sz="1600" dirty="0">
                <a:latin typeface="Arial" panose="020B0604020202020204" pitchFamily="34" charset="0"/>
              </a:rPr>
              <a:t> Investigate the </a:t>
            </a:r>
            <a:r>
              <a:rPr lang="en-US" altLang="en-US" sz="1600" b="1" dirty="0">
                <a:latin typeface="Arial" panose="020B0604020202020204" pitchFamily="34" charset="0"/>
              </a:rPr>
              <a:t>anomalous store-weeks</a:t>
            </a:r>
            <a:r>
              <a:rPr lang="en-US" altLang="en-US" sz="1600" dirty="0">
                <a:latin typeface="Arial" panose="020B0604020202020204" pitchFamily="34" charset="0"/>
              </a:rPr>
              <a:t>, especially </a:t>
            </a:r>
            <a:r>
              <a:rPr lang="en-US" altLang="en-US" sz="1600" b="1" dirty="0">
                <a:latin typeface="Arial" panose="020B0604020202020204" pitchFamily="34" charset="0"/>
              </a:rPr>
              <a:t>S10 – Nellore</a:t>
            </a:r>
            <a:r>
              <a:rPr lang="en-US" altLang="en-US" sz="1600" dirty="0">
                <a:latin typeface="Arial" panose="020B0604020202020204" pitchFamily="34" charset="0"/>
              </a:rPr>
              <a:t>, and check for inventory, demand, pricing, or operational issues. </a:t>
            </a:r>
          </a:p>
          <a:p>
            <a:pPr marL="285750" lvl="0" indent="-285750" defTabSz="914400" eaLnBrk="0" fontAlgn="base" hangingPunct="0">
              <a:spcBef>
                <a:spcPct val="0"/>
              </a:spcBef>
              <a:spcAft>
                <a:spcPct val="0"/>
              </a:spcAft>
              <a:buFont typeface="Arial" panose="020B0604020202020204" pitchFamily="34" charset="0"/>
              <a:buChar char="•"/>
            </a:pPr>
            <a:endParaRPr lang="en-US" altLang="en-US" sz="1600" dirty="0">
              <a:latin typeface="Arial" panose="020B0604020202020204" pitchFamily="34" charset="0"/>
            </a:endParaRPr>
          </a:p>
          <a:p>
            <a:pPr marL="285750" indent="-285750">
              <a:buFont typeface="Arial" panose="020B0604020202020204" pitchFamily="34" charset="0"/>
              <a:buChar char="•"/>
              <a:defRPr sz="1700">
                <a:solidFill>
                  <a:srgbClr val="2D1F44"/>
                </a:solidFill>
                <a:latin typeface="Aptos"/>
              </a:defRPr>
            </a:pPr>
            <a:endParaRPr dirty="0"/>
          </a:p>
        </p:txBody>
      </p:sp>
      <p:sp>
        <p:nvSpPr>
          <p:cNvPr id="10" name="Rounded Rectangle 9"/>
          <p:cNvSpPr/>
          <p:nvPr/>
        </p:nvSpPr>
        <p:spPr>
          <a:xfrm>
            <a:off x="1143000" y="5669280"/>
            <a:ext cx="3017520" cy="685800"/>
          </a:xfrm>
          <a:prstGeom prst="roundRect">
            <a:avLst/>
          </a:prstGeom>
          <a:solidFill>
            <a:srgbClr val="FFFFFF"/>
          </a:solidFill>
          <a:ln>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80160" y="5833872"/>
            <a:ext cx="2743200" cy="502920"/>
          </a:xfrm>
          <a:prstGeom prst="rect">
            <a:avLst/>
          </a:prstGeom>
          <a:noFill/>
        </p:spPr>
        <p:txBody>
          <a:bodyPr wrap="none">
            <a:spAutoFit/>
          </a:bodyPr>
          <a:lstStyle/>
          <a:p>
            <a:pPr algn="ctr">
              <a:defRPr sz="2300" b="1">
                <a:solidFill>
                  <a:srgbClr val="6C43B4"/>
                </a:solidFill>
                <a:latin typeface="Aptos Display"/>
              </a:defRPr>
            </a:pPr>
            <a:r>
              <a:t>₹5.91 Cr</a:t>
            </a:r>
          </a:p>
        </p:txBody>
      </p:sp>
      <p:sp>
        <p:nvSpPr>
          <p:cNvPr id="12" name="TextBox 11"/>
          <p:cNvSpPr txBox="1"/>
          <p:nvPr/>
        </p:nvSpPr>
        <p:spPr>
          <a:xfrm>
            <a:off x="1280160" y="6419088"/>
            <a:ext cx="2743200" cy="0"/>
          </a:xfrm>
          <a:prstGeom prst="rect">
            <a:avLst/>
          </a:prstGeom>
          <a:noFill/>
        </p:spPr>
        <p:txBody>
          <a:bodyPr wrap="none">
            <a:spAutoFit/>
          </a:bodyPr>
          <a:lstStyle/>
          <a:p>
            <a:pPr algn="ctr">
              <a:defRPr sz="1100">
                <a:solidFill>
                  <a:srgbClr val="645B6E"/>
                </a:solidFill>
                <a:latin typeface="Aptos"/>
              </a:defRPr>
            </a:pPr>
            <a:r>
              <a:t>S01 — Vijayawada</a:t>
            </a:r>
          </a:p>
        </p:txBody>
      </p:sp>
      <p:sp>
        <p:nvSpPr>
          <p:cNvPr id="13" name="Rounded Rectangle 12"/>
          <p:cNvSpPr/>
          <p:nvPr/>
        </p:nvSpPr>
        <p:spPr>
          <a:xfrm>
            <a:off x="4617720" y="5669280"/>
            <a:ext cx="3017520" cy="685800"/>
          </a:xfrm>
          <a:prstGeom prst="roundRect">
            <a:avLst/>
          </a:prstGeom>
          <a:solidFill>
            <a:srgbClr val="FFFFFF"/>
          </a:solidFill>
          <a:ln>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54880" y="5833872"/>
            <a:ext cx="2743200" cy="502920"/>
          </a:xfrm>
          <a:prstGeom prst="rect">
            <a:avLst/>
          </a:prstGeom>
          <a:noFill/>
        </p:spPr>
        <p:txBody>
          <a:bodyPr wrap="none">
            <a:spAutoFit/>
          </a:bodyPr>
          <a:lstStyle/>
          <a:p>
            <a:pPr algn="ctr">
              <a:defRPr sz="2300" b="1">
                <a:solidFill>
                  <a:srgbClr val="E65CA4"/>
                </a:solidFill>
                <a:latin typeface="Aptos Display"/>
              </a:defRPr>
            </a:pPr>
            <a:r>
              <a:t>₹2.20 Cr</a:t>
            </a:r>
          </a:p>
        </p:txBody>
      </p:sp>
      <p:sp>
        <p:nvSpPr>
          <p:cNvPr id="15" name="TextBox 14"/>
          <p:cNvSpPr txBox="1"/>
          <p:nvPr/>
        </p:nvSpPr>
        <p:spPr>
          <a:xfrm>
            <a:off x="4754880" y="6419088"/>
            <a:ext cx="2743200" cy="0"/>
          </a:xfrm>
          <a:prstGeom prst="rect">
            <a:avLst/>
          </a:prstGeom>
          <a:noFill/>
        </p:spPr>
        <p:txBody>
          <a:bodyPr wrap="none">
            <a:spAutoFit/>
          </a:bodyPr>
          <a:lstStyle/>
          <a:p>
            <a:pPr algn="ctr">
              <a:defRPr sz="1100">
                <a:solidFill>
                  <a:srgbClr val="645B6E"/>
                </a:solidFill>
                <a:latin typeface="Aptos"/>
              </a:defRPr>
            </a:pPr>
            <a:r>
              <a:t>S12 — Kakinada</a:t>
            </a:r>
          </a:p>
        </p:txBody>
      </p:sp>
      <p:sp>
        <p:nvSpPr>
          <p:cNvPr id="16" name="Rounded Rectangle 15"/>
          <p:cNvSpPr/>
          <p:nvPr/>
        </p:nvSpPr>
        <p:spPr>
          <a:xfrm>
            <a:off x="8092440" y="5669280"/>
            <a:ext cx="3017520" cy="685800"/>
          </a:xfrm>
          <a:prstGeom prst="roundRect">
            <a:avLst/>
          </a:prstGeom>
          <a:solidFill>
            <a:srgbClr val="FFFFFF"/>
          </a:solidFill>
          <a:ln>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0" y="5833872"/>
            <a:ext cx="2743200" cy="502920"/>
          </a:xfrm>
          <a:prstGeom prst="rect">
            <a:avLst/>
          </a:prstGeom>
          <a:noFill/>
        </p:spPr>
        <p:txBody>
          <a:bodyPr wrap="none">
            <a:spAutoFit/>
          </a:bodyPr>
          <a:lstStyle/>
          <a:p>
            <a:pPr algn="ctr">
              <a:defRPr sz="2300" b="1">
                <a:solidFill>
                  <a:srgbClr val="6C43B4"/>
                </a:solidFill>
                <a:latin typeface="Aptos Display"/>
              </a:defRPr>
            </a:pPr>
            <a:r>
              <a:t>Electronics</a:t>
            </a:r>
          </a:p>
        </p:txBody>
      </p:sp>
      <p:sp>
        <p:nvSpPr>
          <p:cNvPr id="18" name="TextBox 17"/>
          <p:cNvSpPr txBox="1"/>
          <p:nvPr/>
        </p:nvSpPr>
        <p:spPr>
          <a:xfrm>
            <a:off x="8229600" y="6419088"/>
            <a:ext cx="2743200" cy="0"/>
          </a:xfrm>
          <a:prstGeom prst="rect">
            <a:avLst/>
          </a:prstGeom>
          <a:noFill/>
        </p:spPr>
        <p:txBody>
          <a:bodyPr wrap="none">
            <a:spAutoFit/>
          </a:bodyPr>
          <a:lstStyle/>
          <a:p>
            <a:pPr algn="ctr">
              <a:defRPr sz="1100">
                <a:solidFill>
                  <a:srgbClr val="645B6E"/>
                </a:solidFill>
                <a:latin typeface="Aptos"/>
              </a:defRPr>
            </a:pPr>
            <a:r>
              <a:t>category to review</a:t>
            </a:r>
          </a:p>
        </p:txBody>
      </p:sp>
      <p:sp>
        <p:nvSpPr>
          <p:cNvPr id="19" name="TextBox 18"/>
          <p:cNvSpPr txBox="1"/>
          <p:nvPr/>
        </p:nvSpPr>
        <p:spPr>
          <a:xfrm>
            <a:off x="10881360" y="6446520"/>
            <a:ext cx="640080" cy="228600"/>
          </a:xfrm>
          <a:prstGeom prst="rect">
            <a:avLst/>
          </a:prstGeom>
          <a:noFill/>
        </p:spPr>
        <p:txBody>
          <a:bodyPr wrap="none">
            <a:spAutoFit/>
          </a:bodyPr>
          <a:lstStyle/>
          <a:p>
            <a:pPr algn="r">
              <a:defRPr sz="900">
                <a:solidFill>
                  <a:srgbClr val="645B6E"/>
                </a:solidFill>
              </a:defRPr>
            </a:pPr>
            <a:r>
              <a:t>9</a:t>
            </a:r>
          </a:p>
        </p:txBody>
      </p:sp>
      <p:sp>
        <p:nvSpPr>
          <p:cNvPr id="21" name="TextBox 20">
            <a:extLst>
              <a:ext uri="{FF2B5EF4-FFF2-40B4-BE49-F238E27FC236}">
                <a16:creationId xmlns:a16="http://schemas.microsoft.com/office/drawing/2014/main" id="{932A7FD9-36D2-7357-D545-70F019B3E0CD}"/>
              </a:ext>
            </a:extLst>
          </p:cNvPr>
          <p:cNvSpPr txBox="1"/>
          <p:nvPr/>
        </p:nvSpPr>
        <p:spPr>
          <a:xfrm>
            <a:off x="902208" y="3913354"/>
            <a:ext cx="8462772" cy="400110"/>
          </a:xfrm>
          <a:prstGeom prst="rect">
            <a:avLst/>
          </a:prstGeom>
          <a:noFill/>
        </p:spPr>
        <p:txBody>
          <a:bodyPr wrap="square">
            <a:spAutoFit/>
          </a:bodyPr>
          <a:lstStyle/>
          <a:p>
            <a:pPr marL="285750" indent="-285750">
              <a:buFont typeface="Wingdings" panose="05000000000000000000" pitchFamily="2" charset="2"/>
              <a:buChar char="q"/>
            </a:pPr>
            <a:r>
              <a:rPr lang="en-US" sz="2000" b="1" dirty="0">
                <a:solidFill>
                  <a:srgbClr val="111111"/>
                </a:solidFill>
                <a:effectLst/>
                <a:latin typeface="Calibri" panose="020F0502020204030204" pitchFamily="34" charset="0"/>
                <a:ea typeface="Calibri" panose="020F0502020204030204" pitchFamily="34" charset="0"/>
              </a:rPr>
              <a:t>what additional data you would want before being fully confident</a:t>
            </a:r>
            <a:endParaRPr lang="en-US" sz="2000" b="1" dirty="0"/>
          </a:p>
        </p:txBody>
      </p:sp>
      <p:sp>
        <p:nvSpPr>
          <p:cNvPr id="22" name="Rectangle 1">
            <a:extLst>
              <a:ext uri="{FF2B5EF4-FFF2-40B4-BE49-F238E27FC236}">
                <a16:creationId xmlns:a16="http://schemas.microsoft.com/office/drawing/2014/main" id="{0886C10D-523E-3FD6-40FE-E8F8328AD955}"/>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3" name="TextBox 22"/>
          <p:cNvSpPr txBox="1"/>
          <p:nvPr/>
        </p:nvSpPr>
        <p:spPr>
          <a:xfrm>
            <a:off x="1127760" y="4450330"/>
            <a:ext cx="10259568" cy="1077218"/>
          </a:xfrm>
          <a:prstGeom prst="rect">
            <a:avLst/>
          </a:prstGeom>
          <a:noFill/>
        </p:spPr>
        <p:txBody>
          <a:bodyPr wrap="square">
            <a:spAutoFit/>
          </a:bodyPr>
          <a:lstStyle/>
          <a:p>
            <a:pPr marL="285750" lvl="0" indent="-285750" defTabSz="91440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Store footfall </a:t>
            </a:r>
          </a:p>
          <a:p>
            <a:pPr marL="285750" lvl="0" indent="-285750" defTabSz="91440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Pricing &amp; discounts</a:t>
            </a:r>
          </a:p>
          <a:p>
            <a:pPr marL="285750" indent="-285750" defTabSz="91440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Inventory availability  </a:t>
            </a:r>
          </a:p>
          <a:p>
            <a:pPr marL="285750" lvl="0" indent="-285750" defTabSz="914400" eaLnBrk="0" fontAlgn="base" hangingPunct="0">
              <a:spcBef>
                <a:spcPct val="0"/>
              </a:spcBef>
              <a:spcAft>
                <a:spcPct val="0"/>
              </a:spcAft>
              <a:buFont typeface="Arial" panose="020B0604020202020204" pitchFamily="34" charset="0"/>
              <a:buChar char="•"/>
            </a:pPr>
            <a:endParaRPr lang="en-US" altLang="en-US" sz="16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p:bldP spid="10" grpId="0" animBg="1"/>
      <p:bldP spid="11" grpId="0"/>
      <p:bldP spid="12" grpId="0"/>
      <p:bldP spid="13" grpId="0" animBg="1"/>
      <p:bldP spid="14" grpId="0"/>
      <p:bldP spid="15" grpId="0"/>
      <p:bldP spid="16" grpId="0" animBg="1"/>
      <p:bldP spid="17" grpId="0"/>
      <p:bldP spid="18" grpId="0"/>
      <p:bldP spid="21" grpId="0"/>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7FF"/>
        </a:solidFill>
        <a:effectLst/>
      </p:bgPr>
    </p:bg>
    <p:spTree>
      <p:nvGrpSpPr>
        <p:cNvPr id="1" name=""/>
        <p:cNvGrpSpPr/>
        <p:nvPr/>
      </p:nvGrpSpPr>
      <p:grpSpPr>
        <a:xfrm>
          <a:off x="0" y="0"/>
          <a:ext cx="0" cy="0"/>
          <a:chOff x="0" y="0"/>
          <a:chExt cx="0" cy="0"/>
        </a:xfrm>
      </p:grpSpPr>
      <p:sp>
        <p:nvSpPr>
          <p:cNvPr id="2" name="Oval 1"/>
          <p:cNvSpPr/>
          <p:nvPr/>
        </p:nvSpPr>
        <p:spPr>
          <a:xfrm>
            <a:off x="10652760" y="-320040"/>
            <a:ext cx="1828800" cy="182880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411480" y="5623560"/>
            <a:ext cx="1554480" cy="155448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01400" y="5440680"/>
            <a:ext cx="1188720" cy="11887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7861" y="2545614"/>
            <a:ext cx="10672730" cy="1015663"/>
          </a:xfrm>
          <a:prstGeom prst="rect">
            <a:avLst/>
          </a:prstGeom>
          <a:noFill/>
        </p:spPr>
        <p:txBody>
          <a:bodyPr wrap="none">
            <a:spAutoFit/>
          </a:bodyPr>
          <a:lstStyle/>
          <a:p>
            <a:pPr>
              <a:defRPr sz="1500" b="1">
                <a:solidFill>
                  <a:srgbClr val="2D1F44"/>
                </a:solidFill>
                <a:latin typeface="Aptos"/>
              </a:defRPr>
            </a:pPr>
            <a:r>
              <a:rPr lang="en-US" sz="6000" dirty="0"/>
              <a:t>Part 2 — Automating the Pulse</a:t>
            </a:r>
          </a:p>
        </p:txBody>
      </p:sp>
      <p:sp>
        <p:nvSpPr>
          <p:cNvPr id="14" name="TextBox 13"/>
          <p:cNvSpPr txBox="1"/>
          <p:nvPr/>
        </p:nvSpPr>
        <p:spPr>
          <a:xfrm>
            <a:off x="10881360" y="6446520"/>
            <a:ext cx="640080" cy="228600"/>
          </a:xfrm>
          <a:prstGeom prst="rect">
            <a:avLst/>
          </a:prstGeom>
          <a:noFill/>
        </p:spPr>
        <p:txBody>
          <a:bodyPr wrap="none">
            <a:spAutoFit/>
          </a:bodyPr>
          <a:lstStyle/>
          <a:p>
            <a:pPr algn="r">
              <a:defRPr sz="900">
                <a:solidFill>
                  <a:srgbClr val="645B6E"/>
                </a:solidFill>
              </a:defRPr>
            </a:pPr>
            <a:r>
              <a:t>10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7FF"/>
        </a:solidFill>
        <a:effectLst/>
      </p:bgPr>
    </p:bg>
    <p:spTree>
      <p:nvGrpSpPr>
        <p:cNvPr id="1" name="">
          <a:extLst>
            <a:ext uri="{FF2B5EF4-FFF2-40B4-BE49-F238E27FC236}">
              <a16:creationId xmlns:a16="http://schemas.microsoft.com/office/drawing/2014/main" id="{D02DA884-BA5E-5B00-FEE8-24CEEDCE4230}"/>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3C4FC01E-3A32-D013-EF8B-01ECD8C8E527}"/>
              </a:ext>
            </a:extLst>
          </p:cNvPr>
          <p:cNvSpPr/>
          <p:nvPr/>
        </p:nvSpPr>
        <p:spPr>
          <a:xfrm>
            <a:off x="10652760" y="-320040"/>
            <a:ext cx="1828800" cy="182880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82779D35-D1FE-4842-13E5-03A1520E9892}"/>
              </a:ext>
            </a:extLst>
          </p:cNvPr>
          <p:cNvSpPr/>
          <p:nvPr/>
        </p:nvSpPr>
        <p:spPr>
          <a:xfrm>
            <a:off x="-411480" y="5623560"/>
            <a:ext cx="1554480" cy="155448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C141282F-AD28-D518-D40B-2976EC6158C2}"/>
              </a:ext>
            </a:extLst>
          </p:cNvPr>
          <p:cNvSpPr/>
          <p:nvPr/>
        </p:nvSpPr>
        <p:spPr>
          <a:xfrm>
            <a:off x="11201400" y="5440680"/>
            <a:ext cx="1188720" cy="11887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458A2DBC-890F-84F1-53B3-5945BDA4EBCB}"/>
              </a:ext>
            </a:extLst>
          </p:cNvPr>
          <p:cNvSpPr txBox="1"/>
          <p:nvPr/>
        </p:nvSpPr>
        <p:spPr>
          <a:xfrm>
            <a:off x="594360" y="347472"/>
            <a:ext cx="10972800" cy="594360"/>
          </a:xfrm>
          <a:prstGeom prst="rect">
            <a:avLst/>
          </a:prstGeom>
          <a:noFill/>
        </p:spPr>
        <p:txBody>
          <a:bodyPr wrap="none">
            <a:spAutoFit/>
          </a:bodyPr>
          <a:lstStyle/>
          <a:p>
            <a:pPr>
              <a:defRPr sz="2800" b="1">
                <a:solidFill>
                  <a:srgbClr val="2D1F44"/>
                </a:solidFill>
                <a:latin typeface="Aptos Display"/>
              </a:defRPr>
            </a:pPr>
            <a:r>
              <a:t>5.7 — Understand the JSON structure</a:t>
            </a:r>
          </a:p>
        </p:txBody>
      </p:sp>
      <p:sp>
        <p:nvSpPr>
          <p:cNvPr id="6" name="Rounded Rectangle 5">
            <a:extLst>
              <a:ext uri="{FF2B5EF4-FFF2-40B4-BE49-F238E27FC236}">
                <a16:creationId xmlns:a16="http://schemas.microsoft.com/office/drawing/2014/main" id="{C26E60E4-B58E-CDA6-8EA4-381599FA9EAB}"/>
              </a:ext>
            </a:extLst>
          </p:cNvPr>
          <p:cNvSpPr/>
          <p:nvPr/>
        </p:nvSpPr>
        <p:spPr>
          <a:xfrm>
            <a:off x="640080" y="1234440"/>
            <a:ext cx="5394960" cy="4389120"/>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a:extLst>
              <a:ext uri="{FF2B5EF4-FFF2-40B4-BE49-F238E27FC236}">
                <a16:creationId xmlns:a16="http://schemas.microsoft.com/office/drawing/2014/main" id="{45E5D80E-D538-BC4C-7262-29830B39764D}"/>
              </a:ext>
            </a:extLst>
          </p:cNvPr>
          <p:cNvSpPr/>
          <p:nvPr/>
        </p:nvSpPr>
        <p:spPr>
          <a:xfrm>
            <a:off x="873205" y="1595628"/>
            <a:ext cx="73152" cy="3493197"/>
          </a:xfrm>
          <a:prstGeom prst="roundRect">
            <a:avLst/>
          </a:prstGeom>
          <a:solidFill>
            <a:srgbClr val="6C43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174A3161-0041-DC71-515F-E7F4A5CFCB0F}"/>
              </a:ext>
            </a:extLst>
          </p:cNvPr>
          <p:cNvSpPr txBox="1"/>
          <p:nvPr/>
        </p:nvSpPr>
        <p:spPr>
          <a:xfrm>
            <a:off x="987552" y="1435608"/>
            <a:ext cx="4892040" cy="320040"/>
          </a:xfrm>
          <a:prstGeom prst="rect">
            <a:avLst/>
          </a:prstGeom>
          <a:noFill/>
        </p:spPr>
        <p:txBody>
          <a:bodyPr wrap="none">
            <a:spAutoFit/>
          </a:bodyPr>
          <a:lstStyle/>
          <a:p>
            <a:pPr>
              <a:defRPr sz="1500" b="1">
                <a:solidFill>
                  <a:srgbClr val="2D1F44"/>
                </a:solidFill>
                <a:latin typeface="Aptos"/>
              </a:defRPr>
            </a:pPr>
            <a:r>
              <a:t>Top-level structure</a:t>
            </a:r>
          </a:p>
        </p:txBody>
      </p:sp>
      <p:sp>
        <p:nvSpPr>
          <p:cNvPr id="9" name="TextBox 8">
            <a:extLst>
              <a:ext uri="{FF2B5EF4-FFF2-40B4-BE49-F238E27FC236}">
                <a16:creationId xmlns:a16="http://schemas.microsoft.com/office/drawing/2014/main" id="{99424944-0825-AE09-9F4B-E0CE6093E16C}"/>
              </a:ext>
            </a:extLst>
          </p:cNvPr>
          <p:cNvSpPr txBox="1"/>
          <p:nvPr/>
        </p:nvSpPr>
        <p:spPr>
          <a:xfrm>
            <a:off x="987552" y="1856232"/>
            <a:ext cx="4864608" cy="3611879"/>
          </a:xfrm>
          <a:prstGeom prst="rect">
            <a:avLst/>
          </a:prstGeom>
          <a:noFill/>
        </p:spPr>
        <p:txBody>
          <a:bodyPr wrap="square">
            <a:spAutoFit/>
          </a:bodyPr>
          <a:lstStyle/>
          <a:p>
            <a:pPr>
              <a:defRPr sz="1700">
                <a:solidFill>
                  <a:srgbClr val="2D1F44"/>
                </a:solidFill>
                <a:latin typeface="Aptos"/>
              </a:defRPr>
            </a:pPr>
            <a:r>
              <a:t>The JSON contains six top-level keys:</a:t>
            </a:r>
            <a:br/>
            <a:br/>
            <a:r>
              <a:t>status</a:t>
            </a:r>
            <a:br/>
            <a:r>
              <a:t>request_id</a:t>
            </a:r>
            <a:br/>
            <a:r>
              <a:t>generated_at</a:t>
            </a:r>
            <a:br/>
            <a:r>
              <a:t>period</a:t>
            </a:r>
            <a:br/>
            <a:r>
              <a:t>record_count</a:t>
            </a:r>
            <a:br/>
            <a:r>
              <a:t>data</a:t>
            </a:r>
          </a:p>
        </p:txBody>
      </p:sp>
      <p:sp>
        <p:nvSpPr>
          <p:cNvPr id="10" name="Rounded Rectangle 9">
            <a:extLst>
              <a:ext uri="{FF2B5EF4-FFF2-40B4-BE49-F238E27FC236}">
                <a16:creationId xmlns:a16="http://schemas.microsoft.com/office/drawing/2014/main" id="{69432D12-95D4-B03B-85A1-4C02D7BB1047}"/>
              </a:ext>
            </a:extLst>
          </p:cNvPr>
          <p:cNvSpPr/>
          <p:nvPr/>
        </p:nvSpPr>
        <p:spPr>
          <a:xfrm>
            <a:off x="6217920" y="1234440"/>
            <a:ext cx="5303520" cy="4389120"/>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a:extLst>
              <a:ext uri="{FF2B5EF4-FFF2-40B4-BE49-F238E27FC236}">
                <a16:creationId xmlns:a16="http://schemas.microsoft.com/office/drawing/2014/main" id="{98EFDB1E-419D-3837-E91C-A2E2B36C31E8}"/>
              </a:ext>
            </a:extLst>
          </p:cNvPr>
          <p:cNvSpPr/>
          <p:nvPr/>
        </p:nvSpPr>
        <p:spPr>
          <a:xfrm>
            <a:off x="6400517" y="1672975"/>
            <a:ext cx="73152" cy="3512050"/>
          </a:xfrm>
          <a:prstGeom prst="roundRect">
            <a:avLst/>
          </a:prstGeom>
          <a:solidFill>
            <a:srgbClr val="E65C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98B526BF-303D-DE3B-A4E3-76944F1DA641}"/>
              </a:ext>
            </a:extLst>
          </p:cNvPr>
          <p:cNvSpPr txBox="1"/>
          <p:nvPr/>
        </p:nvSpPr>
        <p:spPr>
          <a:xfrm>
            <a:off x="6565392" y="1435608"/>
            <a:ext cx="4800600" cy="320040"/>
          </a:xfrm>
          <a:prstGeom prst="rect">
            <a:avLst/>
          </a:prstGeom>
          <a:noFill/>
        </p:spPr>
        <p:txBody>
          <a:bodyPr wrap="none">
            <a:spAutoFit/>
          </a:bodyPr>
          <a:lstStyle/>
          <a:p>
            <a:pPr>
              <a:defRPr sz="1500" b="1">
                <a:solidFill>
                  <a:srgbClr val="2D1F44"/>
                </a:solidFill>
                <a:latin typeface="Aptos"/>
              </a:defRPr>
            </a:pPr>
            <a:r>
              <a:t>Where is the transaction data?</a:t>
            </a:r>
          </a:p>
        </p:txBody>
      </p:sp>
      <p:sp>
        <p:nvSpPr>
          <p:cNvPr id="13" name="TextBox 12">
            <a:extLst>
              <a:ext uri="{FF2B5EF4-FFF2-40B4-BE49-F238E27FC236}">
                <a16:creationId xmlns:a16="http://schemas.microsoft.com/office/drawing/2014/main" id="{478F5234-3B27-6741-70CB-E59269F6AF13}"/>
              </a:ext>
            </a:extLst>
          </p:cNvPr>
          <p:cNvSpPr txBox="1"/>
          <p:nvPr/>
        </p:nvSpPr>
        <p:spPr>
          <a:xfrm>
            <a:off x="6565392" y="1856232"/>
            <a:ext cx="4773168" cy="3611879"/>
          </a:xfrm>
          <a:prstGeom prst="rect">
            <a:avLst/>
          </a:prstGeom>
          <a:noFill/>
        </p:spPr>
        <p:txBody>
          <a:bodyPr wrap="square">
            <a:spAutoFit/>
          </a:bodyPr>
          <a:lstStyle/>
          <a:p>
            <a:pPr>
              <a:defRPr sz="1500">
                <a:solidFill>
                  <a:srgbClr val="2D1F44"/>
                </a:solidFill>
                <a:latin typeface="Aptos"/>
              </a:defRPr>
            </a:pPr>
            <a:r>
              <a:t>The actual transaction data sits inside the data key. It contains a list of 4,291 transaction records.</a:t>
            </a:r>
            <a:br/>
            <a:br/>
            <a:r>
              <a:t>A real retail API can use this structure to send weekly sales data together with the period, record count and response information so a downstream system can verify and process the data.</a:t>
            </a:r>
          </a:p>
        </p:txBody>
      </p:sp>
      <p:sp>
        <p:nvSpPr>
          <p:cNvPr id="14" name="TextBox 13">
            <a:extLst>
              <a:ext uri="{FF2B5EF4-FFF2-40B4-BE49-F238E27FC236}">
                <a16:creationId xmlns:a16="http://schemas.microsoft.com/office/drawing/2014/main" id="{F09C102E-103D-0351-D55E-92A6BAEBA6F8}"/>
              </a:ext>
            </a:extLst>
          </p:cNvPr>
          <p:cNvSpPr txBox="1"/>
          <p:nvPr/>
        </p:nvSpPr>
        <p:spPr>
          <a:xfrm>
            <a:off x="10881360" y="6446520"/>
            <a:ext cx="640080" cy="228600"/>
          </a:xfrm>
          <a:prstGeom prst="rect">
            <a:avLst/>
          </a:prstGeom>
          <a:noFill/>
        </p:spPr>
        <p:txBody>
          <a:bodyPr wrap="none">
            <a:spAutoFit/>
          </a:bodyPr>
          <a:lstStyle/>
          <a:p>
            <a:pPr algn="r">
              <a:defRPr sz="900">
                <a:solidFill>
                  <a:srgbClr val="645B6E"/>
                </a:solidFill>
              </a:defRPr>
            </a:pPr>
            <a:r>
              <a:t>10</a:t>
            </a:r>
          </a:p>
        </p:txBody>
      </p:sp>
    </p:spTree>
    <p:extLst>
      <p:ext uri="{BB962C8B-B14F-4D97-AF65-F5344CB8AC3E}">
        <p14:creationId xmlns:p14="http://schemas.microsoft.com/office/powerpoint/2010/main" val="1861641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animBg="1"/>
      <p:bldP spid="11" grpId="0" animBg="1"/>
      <p:bldP spid="12" grpId="0"/>
      <p:bldP spid="13" grpId="0"/>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7FF"/>
        </a:solidFill>
        <a:effectLst/>
      </p:bgPr>
    </p:bg>
    <p:spTree>
      <p:nvGrpSpPr>
        <p:cNvPr id="1" name="">
          <a:extLst>
            <a:ext uri="{FF2B5EF4-FFF2-40B4-BE49-F238E27FC236}">
              <a16:creationId xmlns:a16="http://schemas.microsoft.com/office/drawing/2014/main" id="{0E25F088-27E8-8E44-8932-5167A8B48A79}"/>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1B54B39E-8F1D-999A-A8C7-BA1F66BBB4BD}"/>
              </a:ext>
            </a:extLst>
          </p:cNvPr>
          <p:cNvSpPr/>
          <p:nvPr/>
        </p:nvSpPr>
        <p:spPr>
          <a:xfrm>
            <a:off x="10652760" y="-320040"/>
            <a:ext cx="1828800" cy="182880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5EEF93A9-731C-B002-5868-83C786ECC20B}"/>
              </a:ext>
            </a:extLst>
          </p:cNvPr>
          <p:cNvSpPr/>
          <p:nvPr/>
        </p:nvSpPr>
        <p:spPr>
          <a:xfrm>
            <a:off x="-411480" y="5623560"/>
            <a:ext cx="1554480" cy="155448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10DAF4A5-A90A-CA31-111B-5DD302BE94C1}"/>
              </a:ext>
            </a:extLst>
          </p:cNvPr>
          <p:cNvSpPr/>
          <p:nvPr/>
        </p:nvSpPr>
        <p:spPr>
          <a:xfrm>
            <a:off x="11201400" y="5440680"/>
            <a:ext cx="1188720" cy="11887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8D1CA1A8-E8F0-2E2A-55A0-D0B040FF2F38}"/>
              </a:ext>
            </a:extLst>
          </p:cNvPr>
          <p:cNvSpPr txBox="1"/>
          <p:nvPr/>
        </p:nvSpPr>
        <p:spPr>
          <a:xfrm>
            <a:off x="594360" y="347472"/>
            <a:ext cx="10972800" cy="594360"/>
          </a:xfrm>
          <a:prstGeom prst="rect">
            <a:avLst/>
          </a:prstGeom>
          <a:noFill/>
        </p:spPr>
        <p:txBody>
          <a:bodyPr wrap="none">
            <a:spAutoFit/>
          </a:bodyPr>
          <a:lstStyle/>
          <a:p>
            <a:pPr>
              <a:defRPr sz="2800" b="1">
                <a:solidFill>
                  <a:srgbClr val="2D1F44"/>
                </a:solidFill>
                <a:latin typeface="Aptos Display"/>
              </a:defRPr>
            </a:pPr>
            <a:r>
              <a:t>5.7 — Understand the JSON structure</a:t>
            </a:r>
          </a:p>
        </p:txBody>
      </p:sp>
      <p:sp>
        <p:nvSpPr>
          <p:cNvPr id="10" name="Rounded Rectangle 9">
            <a:extLst>
              <a:ext uri="{FF2B5EF4-FFF2-40B4-BE49-F238E27FC236}">
                <a16:creationId xmlns:a16="http://schemas.microsoft.com/office/drawing/2014/main" id="{E43B8B1B-C72B-2CBD-4395-929A536B8B40}"/>
              </a:ext>
            </a:extLst>
          </p:cNvPr>
          <p:cNvSpPr/>
          <p:nvPr/>
        </p:nvSpPr>
        <p:spPr>
          <a:xfrm>
            <a:off x="1143000" y="1234440"/>
            <a:ext cx="10378440" cy="4389120"/>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4" name="TextBox 13">
            <a:extLst>
              <a:ext uri="{FF2B5EF4-FFF2-40B4-BE49-F238E27FC236}">
                <a16:creationId xmlns:a16="http://schemas.microsoft.com/office/drawing/2014/main" id="{B00BD3BB-5582-C476-EA3F-D62529687BB5}"/>
              </a:ext>
            </a:extLst>
          </p:cNvPr>
          <p:cNvSpPr txBox="1"/>
          <p:nvPr/>
        </p:nvSpPr>
        <p:spPr>
          <a:xfrm>
            <a:off x="10881360" y="6446520"/>
            <a:ext cx="640080" cy="228600"/>
          </a:xfrm>
          <a:prstGeom prst="rect">
            <a:avLst/>
          </a:prstGeom>
          <a:noFill/>
        </p:spPr>
        <p:txBody>
          <a:bodyPr wrap="none">
            <a:spAutoFit/>
          </a:bodyPr>
          <a:lstStyle/>
          <a:p>
            <a:pPr algn="r">
              <a:defRPr sz="900">
                <a:solidFill>
                  <a:srgbClr val="645B6E"/>
                </a:solidFill>
              </a:defRPr>
            </a:pPr>
            <a:r>
              <a:t>10</a:t>
            </a:r>
          </a:p>
        </p:txBody>
      </p:sp>
      <p:sp>
        <p:nvSpPr>
          <p:cNvPr id="16" name="TextBox 15">
            <a:extLst>
              <a:ext uri="{FF2B5EF4-FFF2-40B4-BE49-F238E27FC236}">
                <a16:creationId xmlns:a16="http://schemas.microsoft.com/office/drawing/2014/main" id="{97FCFE1A-F8F8-73C1-0BBE-361C231023CF}"/>
              </a:ext>
            </a:extLst>
          </p:cNvPr>
          <p:cNvSpPr txBox="1"/>
          <p:nvPr/>
        </p:nvSpPr>
        <p:spPr>
          <a:xfrm>
            <a:off x="1484722" y="1609344"/>
            <a:ext cx="10378440" cy="784830"/>
          </a:xfrm>
          <a:prstGeom prst="rect">
            <a:avLst/>
          </a:prstGeom>
          <a:noFill/>
        </p:spPr>
        <p:txBody>
          <a:bodyPr wrap="square">
            <a:spAutoFit/>
          </a:bodyPr>
          <a:lstStyle/>
          <a:p>
            <a:pPr marL="285750" marR="0" lvl="0" indent="-285750">
              <a:lnSpc>
                <a:spcPct val="116000"/>
              </a:lnSpc>
              <a:spcBef>
                <a:spcPts val="200"/>
              </a:spcBef>
              <a:spcAft>
                <a:spcPts val="200"/>
              </a:spcAft>
              <a:buFont typeface="Wingdings" panose="05000000000000000000" pitchFamily="2" charset="2"/>
              <a:buChar char="q"/>
            </a:pPr>
            <a:r>
              <a:rPr lang="en-US" sz="2000" b="1" dirty="0">
                <a:solidFill>
                  <a:srgbClr val="111111"/>
                </a:solidFill>
                <a:effectLst/>
                <a:latin typeface="Calibri" panose="020F0502020204030204" pitchFamily="34" charset="0"/>
                <a:ea typeface="Calibri" panose="020F0502020204030204" pitchFamily="34" charset="0"/>
              </a:rPr>
              <a:t>How would a real retail API use this structure to deliver weekly sales data to a downstream system?</a:t>
            </a:r>
            <a:endParaRPr lang="en-US" sz="2000" b="1" dirty="0">
              <a:effectLst/>
              <a:latin typeface="Calibri" panose="020F0502020204030204" pitchFamily="34" charset="0"/>
              <a:ea typeface="Calibri" panose="020F0502020204030204" pitchFamily="34" charset="0"/>
            </a:endParaRPr>
          </a:p>
        </p:txBody>
      </p:sp>
      <p:sp>
        <p:nvSpPr>
          <p:cNvPr id="18" name="TextBox 17">
            <a:extLst>
              <a:ext uri="{FF2B5EF4-FFF2-40B4-BE49-F238E27FC236}">
                <a16:creationId xmlns:a16="http://schemas.microsoft.com/office/drawing/2014/main" id="{F3A18EF5-5A6B-3DD1-FA41-17898120F4EA}"/>
              </a:ext>
            </a:extLst>
          </p:cNvPr>
          <p:cNvSpPr txBox="1"/>
          <p:nvPr/>
        </p:nvSpPr>
        <p:spPr>
          <a:xfrm>
            <a:off x="1732960" y="2648063"/>
            <a:ext cx="9316040" cy="1754326"/>
          </a:xfrm>
          <a:prstGeom prst="rect">
            <a:avLst/>
          </a:prstGeom>
          <a:noFill/>
        </p:spPr>
        <p:txBody>
          <a:bodyPr wrap="square">
            <a:spAutoFit/>
          </a:bodyPr>
          <a:lstStyle/>
          <a:p>
            <a:pPr>
              <a:buNone/>
            </a:pPr>
            <a:r>
              <a:rPr lang="en-US" b="1" dirty="0">
                <a:latin typeface="Arial Narrow" panose="020B0606020202030204" pitchFamily="34" charset="0"/>
              </a:rPr>
              <a:t>Real Retail API Uses This Structure</a:t>
            </a:r>
          </a:p>
          <a:p>
            <a:pPr>
              <a:buNone/>
            </a:pPr>
            <a:endParaRPr lang="en-US" b="1" dirty="0">
              <a:latin typeface="Arial Narrow" panose="020B0606020202030204" pitchFamily="34" charset="0"/>
            </a:endParaRPr>
          </a:p>
          <a:p>
            <a:pPr>
              <a:buNone/>
            </a:pPr>
            <a:r>
              <a:rPr lang="en-US" dirty="0">
                <a:latin typeface="Arial Narrow" panose="020B0606020202030204" pitchFamily="34" charset="0"/>
              </a:rPr>
              <a:t>A real retail API would send weekly sales data in a structured JSON format. The status, </a:t>
            </a:r>
            <a:r>
              <a:rPr lang="en-US" dirty="0" err="1">
                <a:latin typeface="Arial Narrow" panose="020B0606020202030204" pitchFamily="34" charset="0"/>
              </a:rPr>
              <a:t>request_id</a:t>
            </a:r>
            <a:r>
              <a:rPr lang="en-US" dirty="0">
                <a:latin typeface="Arial Narrow" panose="020B0606020202030204" pitchFamily="34" charset="0"/>
              </a:rPr>
              <a:t>, period, and </a:t>
            </a:r>
            <a:r>
              <a:rPr lang="en-US" dirty="0" err="1">
                <a:latin typeface="Arial Narrow" panose="020B0606020202030204" pitchFamily="34" charset="0"/>
              </a:rPr>
              <a:t>record_count</a:t>
            </a:r>
            <a:r>
              <a:rPr lang="en-US" dirty="0">
                <a:latin typeface="Arial Narrow" panose="020B0606020202030204" pitchFamily="34" charset="0"/>
              </a:rPr>
              <a:t> help the downstream system verify that the response is valid and complete. The data section contains the actual sales transactions, which the downstream system can use for analysis, reporting, dashboards, and business decisions.</a:t>
            </a:r>
          </a:p>
        </p:txBody>
      </p:sp>
    </p:spTree>
    <p:extLst>
      <p:ext uri="{BB962C8B-B14F-4D97-AF65-F5344CB8AC3E}">
        <p14:creationId xmlns:p14="http://schemas.microsoft.com/office/powerpoint/2010/main" val="3104055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p:bldP spid="16" grpId="0"/>
      <p:bldP spid="18"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7FF"/>
        </a:solidFill>
        <a:effectLst/>
      </p:bgPr>
    </p:bg>
    <p:spTree>
      <p:nvGrpSpPr>
        <p:cNvPr id="1" name=""/>
        <p:cNvGrpSpPr/>
        <p:nvPr/>
      </p:nvGrpSpPr>
      <p:grpSpPr>
        <a:xfrm>
          <a:off x="0" y="0"/>
          <a:ext cx="0" cy="0"/>
          <a:chOff x="0" y="0"/>
          <a:chExt cx="0" cy="0"/>
        </a:xfrm>
      </p:grpSpPr>
      <p:sp>
        <p:nvSpPr>
          <p:cNvPr id="2" name="Oval 1"/>
          <p:cNvSpPr/>
          <p:nvPr/>
        </p:nvSpPr>
        <p:spPr>
          <a:xfrm>
            <a:off x="10652760" y="-320040"/>
            <a:ext cx="1828800" cy="182880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411480" y="5623560"/>
            <a:ext cx="1554480" cy="155448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01400" y="5440680"/>
            <a:ext cx="1188720" cy="11887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47472"/>
            <a:ext cx="10972800" cy="594360"/>
          </a:xfrm>
          <a:prstGeom prst="rect">
            <a:avLst/>
          </a:prstGeom>
          <a:noFill/>
        </p:spPr>
        <p:txBody>
          <a:bodyPr wrap="none">
            <a:spAutoFit/>
          </a:bodyPr>
          <a:lstStyle/>
          <a:p>
            <a:pPr>
              <a:defRPr sz="2800" b="1">
                <a:solidFill>
                  <a:srgbClr val="2D1F44"/>
                </a:solidFill>
                <a:latin typeface="Aptos Display"/>
              </a:defRPr>
            </a:pPr>
            <a:r>
              <a:t>5.8 — Ingest and parse the API response</a:t>
            </a:r>
          </a:p>
        </p:txBody>
      </p:sp>
      <p:sp>
        <p:nvSpPr>
          <p:cNvPr id="6" name="Rounded Rectangle 5"/>
          <p:cNvSpPr/>
          <p:nvPr/>
        </p:nvSpPr>
        <p:spPr>
          <a:xfrm>
            <a:off x="731520" y="1325880"/>
            <a:ext cx="2560320" cy="1371600"/>
          </a:xfrm>
          <a:prstGeom prst="roundRect">
            <a:avLst/>
          </a:prstGeom>
          <a:solidFill>
            <a:srgbClr val="FFFFFF"/>
          </a:solidFill>
          <a:ln>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490472"/>
            <a:ext cx="2286000" cy="502920"/>
          </a:xfrm>
          <a:prstGeom prst="rect">
            <a:avLst/>
          </a:prstGeom>
          <a:noFill/>
        </p:spPr>
        <p:txBody>
          <a:bodyPr wrap="none">
            <a:spAutoFit/>
          </a:bodyPr>
          <a:lstStyle/>
          <a:p>
            <a:pPr algn="ctr">
              <a:defRPr sz="2300" b="1">
                <a:solidFill>
                  <a:srgbClr val="6C43B4"/>
                </a:solidFill>
                <a:latin typeface="Aptos Display"/>
              </a:defRPr>
            </a:pPr>
            <a:r>
              <a:t>4,291</a:t>
            </a:r>
          </a:p>
        </p:txBody>
      </p:sp>
      <p:sp>
        <p:nvSpPr>
          <p:cNvPr id="8" name="TextBox 7"/>
          <p:cNvSpPr txBox="1"/>
          <p:nvPr/>
        </p:nvSpPr>
        <p:spPr>
          <a:xfrm>
            <a:off x="868680" y="2075688"/>
            <a:ext cx="2286000" cy="548640"/>
          </a:xfrm>
          <a:prstGeom prst="rect">
            <a:avLst/>
          </a:prstGeom>
          <a:noFill/>
        </p:spPr>
        <p:txBody>
          <a:bodyPr wrap="none">
            <a:spAutoFit/>
          </a:bodyPr>
          <a:lstStyle/>
          <a:p>
            <a:pPr algn="ctr">
              <a:defRPr sz="1100">
                <a:solidFill>
                  <a:srgbClr val="645B6E"/>
                </a:solidFill>
                <a:latin typeface="Aptos"/>
              </a:defRPr>
            </a:pPr>
            <a:r>
              <a:t>records received</a:t>
            </a:r>
          </a:p>
        </p:txBody>
      </p:sp>
      <p:sp>
        <p:nvSpPr>
          <p:cNvPr id="9" name="Rounded Rectangle 8"/>
          <p:cNvSpPr/>
          <p:nvPr/>
        </p:nvSpPr>
        <p:spPr>
          <a:xfrm>
            <a:off x="3474720" y="1325880"/>
            <a:ext cx="2560320" cy="1371600"/>
          </a:xfrm>
          <a:prstGeom prst="roundRect">
            <a:avLst/>
          </a:prstGeom>
          <a:solidFill>
            <a:srgbClr val="FFFFFF"/>
          </a:solidFill>
          <a:ln>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11879" y="1490472"/>
            <a:ext cx="2286000" cy="502920"/>
          </a:xfrm>
          <a:prstGeom prst="rect">
            <a:avLst/>
          </a:prstGeom>
          <a:noFill/>
        </p:spPr>
        <p:txBody>
          <a:bodyPr wrap="none">
            <a:spAutoFit/>
          </a:bodyPr>
          <a:lstStyle/>
          <a:p>
            <a:pPr algn="ctr">
              <a:defRPr sz="2300" b="1">
                <a:solidFill>
                  <a:srgbClr val="E65CA4"/>
                </a:solidFill>
                <a:latin typeface="Aptos Display"/>
              </a:defRPr>
            </a:pPr>
            <a:r>
              <a:t>4,291</a:t>
            </a:r>
          </a:p>
        </p:txBody>
      </p:sp>
      <p:sp>
        <p:nvSpPr>
          <p:cNvPr id="11" name="TextBox 10"/>
          <p:cNvSpPr txBox="1"/>
          <p:nvPr/>
        </p:nvSpPr>
        <p:spPr>
          <a:xfrm>
            <a:off x="3611879" y="2075688"/>
            <a:ext cx="2286000" cy="548640"/>
          </a:xfrm>
          <a:prstGeom prst="rect">
            <a:avLst/>
          </a:prstGeom>
          <a:noFill/>
        </p:spPr>
        <p:txBody>
          <a:bodyPr wrap="none">
            <a:spAutoFit/>
          </a:bodyPr>
          <a:lstStyle/>
          <a:p>
            <a:pPr algn="ctr">
              <a:defRPr sz="1100">
                <a:solidFill>
                  <a:srgbClr val="645B6E"/>
                </a:solidFill>
                <a:latin typeface="Aptos"/>
              </a:defRPr>
            </a:pPr>
            <a:r>
              <a:t>records in DataFrame</a:t>
            </a:r>
          </a:p>
        </p:txBody>
      </p:sp>
      <p:sp>
        <p:nvSpPr>
          <p:cNvPr id="12" name="Rounded Rectangle 11"/>
          <p:cNvSpPr/>
          <p:nvPr/>
        </p:nvSpPr>
        <p:spPr>
          <a:xfrm>
            <a:off x="6217920" y="1325880"/>
            <a:ext cx="2560320" cy="1371600"/>
          </a:xfrm>
          <a:prstGeom prst="roundRect">
            <a:avLst/>
          </a:prstGeom>
          <a:solidFill>
            <a:srgbClr val="FFFFFF"/>
          </a:solidFill>
          <a:ln>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80" y="1490472"/>
            <a:ext cx="2286000" cy="502920"/>
          </a:xfrm>
          <a:prstGeom prst="rect">
            <a:avLst/>
          </a:prstGeom>
          <a:noFill/>
        </p:spPr>
        <p:txBody>
          <a:bodyPr wrap="none">
            <a:spAutoFit/>
          </a:bodyPr>
          <a:lstStyle/>
          <a:p>
            <a:pPr algn="ctr">
              <a:defRPr sz="2300" b="1">
                <a:solidFill>
                  <a:srgbClr val="349166"/>
                </a:solidFill>
                <a:latin typeface="Aptos Display"/>
              </a:defRPr>
            </a:pPr>
            <a:r>
              <a:t>TRUE</a:t>
            </a:r>
          </a:p>
        </p:txBody>
      </p:sp>
      <p:sp>
        <p:nvSpPr>
          <p:cNvPr id="14" name="TextBox 13"/>
          <p:cNvSpPr txBox="1"/>
          <p:nvPr/>
        </p:nvSpPr>
        <p:spPr>
          <a:xfrm>
            <a:off x="6355080" y="2075688"/>
            <a:ext cx="2286000" cy="548640"/>
          </a:xfrm>
          <a:prstGeom prst="rect">
            <a:avLst/>
          </a:prstGeom>
          <a:noFill/>
        </p:spPr>
        <p:txBody>
          <a:bodyPr wrap="none">
            <a:spAutoFit/>
          </a:bodyPr>
          <a:lstStyle/>
          <a:p>
            <a:pPr algn="ctr">
              <a:defRPr sz="1100">
                <a:solidFill>
                  <a:srgbClr val="645B6E"/>
                </a:solidFill>
                <a:latin typeface="Aptos"/>
              </a:defRPr>
            </a:pPr>
            <a:r>
              <a:t>record count matches</a:t>
            </a:r>
          </a:p>
        </p:txBody>
      </p:sp>
      <p:sp>
        <p:nvSpPr>
          <p:cNvPr id="15" name="Rounded Rectangle 14"/>
          <p:cNvSpPr/>
          <p:nvPr/>
        </p:nvSpPr>
        <p:spPr>
          <a:xfrm>
            <a:off x="8961120" y="1325880"/>
            <a:ext cx="2560320" cy="1371600"/>
          </a:xfrm>
          <a:prstGeom prst="roundRect">
            <a:avLst/>
          </a:prstGeom>
          <a:solidFill>
            <a:srgbClr val="FFFFFF"/>
          </a:solidFill>
          <a:ln>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98280" y="1490472"/>
            <a:ext cx="2286000" cy="502920"/>
          </a:xfrm>
          <a:prstGeom prst="rect">
            <a:avLst/>
          </a:prstGeom>
          <a:noFill/>
        </p:spPr>
        <p:txBody>
          <a:bodyPr wrap="none">
            <a:spAutoFit/>
          </a:bodyPr>
          <a:lstStyle/>
          <a:p>
            <a:pPr algn="ctr">
              <a:defRPr sz="2300" b="1">
                <a:solidFill>
                  <a:srgbClr val="6C43B4"/>
                </a:solidFill>
                <a:latin typeface="Aptos Display"/>
              </a:defRPr>
            </a:pPr>
            <a:r>
              <a:t>Jun 24–30</a:t>
            </a:r>
          </a:p>
        </p:txBody>
      </p:sp>
      <p:sp>
        <p:nvSpPr>
          <p:cNvPr id="17" name="TextBox 16"/>
          <p:cNvSpPr txBox="1"/>
          <p:nvPr/>
        </p:nvSpPr>
        <p:spPr>
          <a:xfrm>
            <a:off x="9098280" y="2075688"/>
            <a:ext cx="2286000" cy="548640"/>
          </a:xfrm>
          <a:prstGeom prst="rect">
            <a:avLst/>
          </a:prstGeom>
          <a:noFill/>
        </p:spPr>
        <p:txBody>
          <a:bodyPr wrap="none">
            <a:spAutoFit/>
          </a:bodyPr>
          <a:lstStyle/>
          <a:p>
            <a:pPr algn="ctr">
              <a:defRPr sz="1100">
                <a:solidFill>
                  <a:srgbClr val="645B6E"/>
                </a:solidFill>
                <a:latin typeface="Aptos"/>
              </a:defRPr>
            </a:pPr>
            <a:r>
              <a:t>period</a:t>
            </a:r>
          </a:p>
        </p:txBody>
      </p:sp>
      <p:sp>
        <p:nvSpPr>
          <p:cNvPr id="18" name="Rounded Rectangle 17"/>
          <p:cNvSpPr/>
          <p:nvPr/>
        </p:nvSpPr>
        <p:spPr>
          <a:xfrm>
            <a:off x="731520" y="3063240"/>
            <a:ext cx="10789920" cy="2560320"/>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68680" y="3218688"/>
            <a:ext cx="73152" cy="2249424"/>
          </a:xfrm>
          <a:prstGeom prst="roundRect">
            <a:avLst/>
          </a:prstGeom>
          <a:solidFill>
            <a:srgbClr val="6C43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78992" y="3264408"/>
            <a:ext cx="10287000" cy="320040"/>
          </a:xfrm>
          <a:prstGeom prst="rect">
            <a:avLst/>
          </a:prstGeom>
          <a:noFill/>
        </p:spPr>
        <p:txBody>
          <a:bodyPr wrap="none">
            <a:spAutoFit/>
          </a:bodyPr>
          <a:lstStyle/>
          <a:p>
            <a:pPr>
              <a:defRPr sz="1500" b="1">
                <a:solidFill>
                  <a:srgbClr val="2D1F44"/>
                </a:solidFill>
                <a:latin typeface="Aptos"/>
              </a:defRPr>
            </a:pPr>
            <a:r>
              <a:t>Why check the record count?</a:t>
            </a:r>
          </a:p>
        </p:txBody>
      </p:sp>
      <p:sp>
        <p:nvSpPr>
          <p:cNvPr id="21" name="TextBox 20"/>
          <p:cNvSpPr txBox="1"/>
          <p:nvPr/>
        </p:nvSpPr>
        <p:spPr>
          <a:xfrm>
            <a:off x="1078992" y="3685032"/>
            <a:ext cx="10259568" cy="1783079"/>
          </a:xfrm>
          <a:prstGeom prst="rect">
            <a:avLst/>
          </a:prstGeom>
          <a:noFill/>
        </p:spPr>
        <p:txBody>
          <a:bodyPr wrap="square">
            <a:spAutoFit/>
          </a:bodyPr>
          <a:lstStyle/>
          <a:p>
            <a:pPr>
              <a:defRPr sz="1600">
                <a:solidFill>
                  <a:srgbClr val="2D1F44"/>
                </a:solidFill>
                <a:latin typeface="Aptos"/>
              </a:defRPr>
            </a:pPr>
            <a:r>
              <a:t>A production pipeline checks the record count to make sure that all expected records were received successfully. If the JSON says there should be 4,291 records but the DataFrame contains fewer records, some data may have been lost or failed during transmission. This helps detect incomplete API responses and prevents incorrect sales reports or analysis.</a:t>
            </a:r>
          </a:p>
        </p:txBody>
      </p:sp>
      <p:sp>
        <p:nvSpPr>
          <p:cNvPr id="22" name="TextBox 21"/>
          <p:cNvSpPr txBox="1"/>
          <p:nvPr/>
        </p:nvSpPr>
        <p:spPr>
          <a:xfrm>
            <a:off x="10881360" y="6446520"/>
            <a:ext cx="640080" cy="228600"/>
          </a:xfrm>
          <a:prstGeom prst="rect">
            <a:avLst/>
          </a:prstGeom>
          <a:noFill/>
        </p:spPr>
        <p:txBody>
          <a:bodyPr wrap="none">
            <a:spAutoFit/>
          </a:bodyPr>
          <a:lstStyle/>
          <a:p>
            <a:pPr algn="r">
              <a:defRPr sz="900">
                <a:solidFill>
                  <a:srgbClr val="645B6E"/>
                </a:solidFill>
              </a:defRPr>
            </a:pPr>
            <a:r>
              <a:t>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9" grpId="0" animBg="1"/>
      <p:bldP spid="10" grpId="0"/>
      <p:bldP spid="11" grpId="0"/>
      <p:bldP spid="12" grpId="0" animBg="1"/>
      <p:bldP spid="13" grpId="0"/>
      <p:bldP spid="14" grpId="0"/>
      <p:bldP spid="15" grpId="0" animBg="1"/>
      <p:bldP spid="16" grpId="0"/>
      <p:bldP spid="17" grpId="0"/>
      <p:bldP spid="18" grpId="0" animBg="1"/>
      <p:bldP spid="19" grpId="0" animBg="1"/>
      <p:bldP spid="20" grpId="0"/>
      <p:bldP spid="21" grpId="0"/>
      <p:bldP spid="22"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7FF"/>
        </a:solidFill>
        <a:effectLst/>
      </p:bgPr>
    </p:bg>
    <p:spTree>
      <p:nvGrpSpPr>
        <p:cNvPr id="1" name=""/>
        <p:cNvGrpSpPr/>
        <p:nvPr/>
      </p:nvGrpSpPr>
      <p:grpSpPr>
        <a:xfrm>
          <a:off x="0" y="0"/>
          <a:ext cx="0" cy="0"/>
          <a:chOff x="0" y="0"/>
          <a:chExt cx="0" cy="0"/>
        </a:xfrm>
      </p:grpSpPr>
      <p:sp>
        <p:nvSpPr>
          <p:cNvPr id="2" name="Oval 1"/>
          <p:cNvSpPr/>
          <p:nvPr/>
        </p:nvSpPr>
        <p:spPr>
          <a:xfrm>
            <a:off x="10652760" y="-320040"/>
            <a:ext cx="1828800" cy="182880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411480" y="5623560"/>
            <a:ext cx="1554480" cy="155448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01400" y="5440680"/>
            <a:ext cx="1188720" cy="11887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47472"/>
            <a:ext cx="10972800" cy="594360"/>
          </a:xfrm>
          <a:prstGeom prst="rect">
            <a:avLst/>
          </a:prstGeom>
          <a:noFill/>
        </p:spPr>
        <p:txBody>
          <a:bodyPr wrap="none">
            <a:spAutoFit/>
          </a:bodyPr>
          <a:lstStyle/>
          <a:p>
            <a:pPr>
              <a:defRPr sz="2800" b="1">
                <a:solidFill>
                  <a:srgbClr val="2D1F44"/>
                </a:solidFill>
                <a:latin typeface="Aptos Display"/>
              </a:defRPr>
            </a:pPr>
            <a:r>
              <a:t>5.9 — Validate the data before processing</a:t>
            </a:r>
          </a:p>
        </p:txBody>
      </p:sp>
      <p:sp>
        <p:nvSpPr>
          <p:cNvPr id="6" name="Rounded Rectangle 5"/>
          <p:cNvSpPr/>
          <p:nvPr/>
        </p:nvSpPr>
        <p:spPr>
          <a:xfrm>
            <a:off x="640080" y="1389888"/>
            <a:ext cx="3442715" cy="1346429"/>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74874" y="1389888"/>
            <a:ext cx="73152" cy="1254989"/>
          </a:xfrm>
          <a:prstGeom prst="roundRect">
            <a:avLst/>
          </a:prstGeom>
          <a:solidFill>
            <a:srgbClr val="6C43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1435608"/>
            <a:ext cx="2971800" cy="320040"/>
          </a:xfrm>
          <a:prstGeom prst="rect">
            <a:avLst/>
          </a:prstGeom>
          <a:noFill/>
        </p:spPr>
        <p:txBody>
          <a:bodyPr wrap="none">
            <a:spAutoFit/>
          </a:bodyPr>
          <a:lstStyle/>
          <a:p>
            <a:pPr>
              <a:defRPr sz="1500" b="1">
                <a:solidFill>
                  <a:srgbClr val="2D1F44"/>
                </a:solidFill>
                <a:latin typeface="Aptos"/>
              </a:defRPr>
            </a:pPr>
            <a:r>
              <a:rPr dirty="0"/>
              <a:t>Null values</a:t>
            </a:r>
          </a:p>
        </p:txBody>
      </p:sp>
      <p:sp>
        <p:nvSpPr>
          <p:cNvPr id="9" name="TextBox 8"/>
          <p:cNvSpPr txBox="1"/>
          <p:nvPr/>
        </p:nvSpPr>
        <p:spPr>
          <a:xfrm>
            <a:off x="1021842" y="1700784"/>
            <a:ext cx="2944368" cy="3703320"/>
          </a:xfrm>
          <a:prstGeom prst="rect">
            <a:avLst/>
          </a:prstGeom>
          <a:noFill/>
        </p:spPr>
        <p:txBody>
          <a:bodyPr wrap="square">
            <a:spAutoFit/>
          </a:bodyPr>
          <a:lstStyle/>
          <a:p>
            <a:pPr>
              <a:defRPr sz="1800">
                <a:solidFill>
                  <a:srgbClr val="2D1F44"/>
                </a:solidFill>
                <a:latin typeface="Aptos"/>
              </a:defRPr>
            </a:pPr>
            <a:r>
              <a:rPr dirty="0"/>
              <a:t>1 issue</a:t>
            </a:r>
            <a:br>
              <a:rPr dirty="0"/>
            </a:br>
            <a:r>
              <a:rPr dirty="0"/>
              <a:t>Row 12</a:t>
            </a:r>
            <a:br>
              <a:rPr dirty="0"/>
            </a:br>
            <a:r>
              <a:rPr dirty="0"/>
              <a:t>Column: </a:t>
            </a:r>
            <a:r>
              <a:rPr dirty="0" err="1"/>
              <a:t>units_sold</a:t>
            </a:r>
            <a:endParaRPr dirty="0"/>
          </a:p>
        </p:txBody>
      </p:sp>
      <p:sp>
        <p:nvSpPr>
          <p:cNvPr id="10" name="Rounded Rectangle 9"/>
          <p:cNvSpPr/>
          <p:nvPr/>
        </p:nvSpPr>
        <p:spPr>
          <a:xfrm>
            <a:off x="4343400" y="1389888"/>
            <a:ext cx="3291840" cy="1346429"/>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flipH="1">
            <a:off x="4553711" y="1389888"/>
            <a:ext cx="45719" cy="1254989"/>
          </a:xfrm>
          <a:prstGeom prst="roundRect">
            <a:avLst/>
          </a:prstGeom>
          <a:solidFill>
            <a:srgbClr val="E65C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90872" y="1435608"/>
            <a:ext cx="2971800" cy="320040"/>
          </a:xfrm>
          <a:prstGeom prst="rect">
            <a:avLst/>
          </a:prstGeom>
          <a:noFill/>
        </p:spPr>
        <p:txBody>
          <a:bodyPr wrap="none">
            <a:spAutoFit/>
          </a:bodyPr>
          <a:lstStyle/>
          <a:p>
            <a:pPr>
              <a:defRPr sz="1500" b="1">
                <a:solidFill>
                  <a:srgbClr val="2D1F44"/>
                </a:solidFill>
                <a:latin typeface="Aptos"/>
              </a:defRPr>
            </a:pPr>
            <a:r>
              <a:t>Negative revenue</a:t>
            </a:r>
          </a:p>
        </p:txBody>
      </p:sp>
      <p:sp>
        <p:nvSpPr>
          <p:cNvPr id="13" name="TextBox 12"/>
          <p:cNvSpPr txBox="1"/>
          <p:nvPr/>
        </p:nvSpPr>
        <p:spPr>
          <a:xfrm>
            <a:off x="4690872" y="1725463"/>
            <a:ext cx="2944368" cy="3703320"/>
          </a:xfrm>
          <a:prstGeom prst="rect">
            <a:avLst/>
          </a:prstGeom>
          <a:noFill/>
        </p:spPr>
        <p:txBody>
          <a:bodyPr wrap="square">
            <a:spAutoFit/>
          </a:bodyPr>
          <a:lstStyle/>
          <a:p>
            <a:pPr>
              <a:defRPr sz="1800">
                <a:solidFill>
                  <a:srgbClr val="2D1F44"/>
                </a:solidFill>
                <a:latin typeface="Aptos"/>
              </a:defRPr>
            </a:pPr>
            <a:r>
              <a:rPr dirty="0"/>
              <a:t>1 issue</a:t>
            </a:r>
            <a:br>
              <a:rPr dirty="0"/>
            </a:br>
            <a:r>
              <a:rPr dirty="0"/>
              <a:t>Row 5</a:t>
            </a:r>
            <a:br>
              <a:rPr dirty="0"/>
            </a:br>
            <a:r>
              <a:rPr dirty="0"/>
              <a:t>Revenue: -150.0</a:t>
            </a:r>
          </a:p>
        </p:txBody>
      </p:sp>
      <p:sp>
        <p:nvSpPr>
          <p:cNvPr id="14" name="Rounded Rectangle 13"/>
          <p:cNvSpPr/>
          <p:nvPr/>
        </p:nvSpPr>
        <p:spPr>
          <a:xfrm>
            <a:off x="8046720" y="1357440"/>
            <a:ext cx="3044951" cy="1346429"/>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183880" y="1389888"/>
            <a:ext cx="54864" cy="1146835"/>
          </a:xfrm>
          <a:prstGeom prst="roundRect">
            <a:avLst/>
          </a:prstGeom>
          <a:solidFill>
            <a:srgbClr val="CD4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94192" y="1435608"/>
            <a:ext cx="2971800" cy="320040"/>
          </a:xfrm>
          <a:prstGeom prst="rect">
            <a:avLst/>
          </a:prstGeom>
          <a:noFill/>
        </p:spPr>
        <p:txBody>
          <a:bodyPr wrap="none">
            <a:spAutoFit/>
          </a:bodyPr>
          <a:lstStyle/>
          <a:p>
            <a:pPr>
              <a:defRPr sz="1500" b="1">
                <a:solidFill>
                  <a:srgbClr val="2D1F44"/>
                </a:solidFill>
                <a:latin typeface="Aptos"/>
              </a:defRPr>
            </a:pPr>
            <a:r>
              <a:t>Invalid store ID</a:t>
            </a:r>
          </a:p>
        </p:txBody>
      </p:sp>
      <p:sp>
        <p:nvSpPr>
          <p:cNvPr id="17" name="TextBox 16"/>
          <p:cNvSpPr txBox="1"/>
          <p:nvPr/>
        </p:nvSpPr>
        <p:spPr>
          <a:xfrm>
            <a:off x="8407908" y="1687068"/>
            <a:ext cx="2944368" cy="3703320"/>
          </a:xfrm>
          <a:prstGeom prst="rect">
            <a:avLst/>
          </a:prstGeom>
          <a:noFill/>
        </p:spPr>
        <p:txBody>
          <a:bodyPr wrap="square">
            <a:spAutoFit/>
          </a:bodyPr>
          <a:lstStyle/>
          <a:p>
            <a:pPr>
              <a:defRPr sz="1800">
                <a:solidFill>
                  <a:srgbClr val="2D1F44"/>
                </a:solidFill>
                <a:latin typeface="Aptos"/>
              </a:defRPr>
            </a:pPr>
            <a:r>
              <a:t>1 issue</a:t>
            </a:r>
            <a:br/>
            <a:r>
              <a:t>Row 20</a:t>
            </a:r>
            <a:br/>
            <a:r>
              <a:t>Store ID: S99</a:t>
            </a:r>
          </a:p>
        </p:txBody>
      </p:sp>
      <p:sp>
        <p:nvSpPr>
          <p:cNvPr id="18" name="Rounded Rectangle 17"/>
          <p:cNvSpPr/>
          <p:nvPr/>
        </p:nvSpPr>
        <p:spPr>
          <a:xfrm>
            <a:off x="1920240" y="5897880"/>
            <a:ext cx="8321040" cy="502920"/>
          </a:xfrm>
          <a:prstGeom prst="roundRect">
            <a:avLst/>
          </a:prstGeom>
          <a:solidFill>
            <a:srgbClr val="CD4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057400" y="5998464"/>
            <a:ext cx="8046720" cy="274320"/>
          </a:xfrm>
          <a:prstGeom prst="rect">
            <a:avLst/>
          </a:prstGeom>
          <a:noFill/>
        </p:spPr>
        <p:txBody>
          <a:bodyPr wrap="none">
            <a:spAutoFit/>
          </a:bodyPr>
          <a:lstStyle/>
          <a:p>
            <a:pPr algn="ctr">
              <a:defRPr sz="1300" b="1">
                <a:solidFill>
                  <a:srgbClr val="FFFFFF"/>
                </a:solidFill>
              </a:defRPr>
            </a:pPr>
            <a:r>
              <a:t>STATUS: FAILED — 3 issues detected. Pipeline halted.</a:t>
            </a:r>
          </a:p>
        </p:txBody>
      </p:sp>
      <p:sp>
        <p:nvSpPr>
          <p:cNvPr id="20" name="TextBox 19"/>
          <p:cNvSpPr txBox="1"/>
          <p:nvPr/>
        </p:nvSpPr>
        <p:spPr>
          <a:xfrm>
            <a:off x="10881360" y="6446520"/>
            <a:ext cx="640080" cy="228600"/>
          </a:xfrm>
          <a:prstGeom prst="rect">
            <a:avLst/>
          </a:prstGeom>
          <a:noFill/>
        </p:spPr>
        <p:txBody>
          <a:bodyPr wrap="none">
            <a:spAutoFit/>
          </a:bodyPr>
          <a:lstStyle/>
          <a:p>
            <a:pPr algn="r">
              <a:defRPr sz="900">
                <a:solidFill>
                  <a:srgbClr val="645B6E"/>
                </a:solidFill>
              </a:defRPr>
            </a:pPr>
            <a:r>
              <a:t>12</a:t>
            </a:r>
          </a:p>
        </p:txBody>
      </p:sp>
      <p:pic>
        <p:nvPicPr>
          <p:cNvPr id="22" name="Picture 21">
            <a:extLst>
              <a:ext uri="{FF2B5EF4-FFF2-40B4-BE49-F238E27FC236}">
                <a16:creationId xmlns:a16="http://schemas.microsoft.com/office/drawing/2014/main" id="{20CA26D0-570A-65EB-2C06-2C453297A2AD}"/>
              </a:ext>
            </a:extLst>
          </p:cNvPr>
          <p:cNvPicPr>
            <a:picLocks noChangeAspect="1"/>
          </p:cNvPicPr>
          <p:nvPr/>
        </p:nvPicPr>
        <p:blipFill>
          <a:blip r:embed="rId2"/>
          <a:stretch>
            <a:fillRect/>
          </a:stretch>
        </p:blipFill>
        <p:spPr>
          <a:xfrm>
            <a:off x="8345250" y="2943594"/>
            <a:ext cx="2792240" cy="2860013"/>
          </a:xfrm>
          <a:prstGeom prst="rect">
            <a:avLst/>
          </a:prstGeom>
        </p:spPr>
      </p:pic>
      <p:pic>
        <p:nvPicPr>
          <p:cNvPr id="24" name="Picture 23">
            <a:extLst>
              <a:ext uri="{FF2B5EF4-FFF2-40B4-BE49-F238E27FC236}">
                <a16:creationId xmlns:a16="http://schemas.microsoft.com/office/drawing/2014/main" id="{B21BE4D0-D1B0-0DF1-DD6B-E24CC22B6EEF}"/>
              </a:ext>
            </a:extLst>
          </p:cNvPr>
          <p:cNvPicPr>
            <a:picLocks noChangeAspect="1"/>
          </p:cNvPicPr>
          <p:nvPr/>
        </p:nvPicPr>
        <p:blipFill>
          <a:blip r:embed="rId3"/>
          <a:stretch>
            <a:fillRect/>
          </a:stretch>
        </p:blipFill>
        <p:spPr>
          <a:xfrm>
            <a:off x="4316576" y="3155586"/>
            <a:ext cx="3558848" cy="914479"/>
          </a:xfrm>
          <a:prstGeom prst="rect">
            <a:avLst/>
          </a:prstGeom>
        </p:spPr>
      </p:pic>
      <p:pic>
        <p:nvPicPr>
          <p:cNvPr id="26" name="Picture 25">
            <a:extLst>
              <a:ext uri="{FF2B5EF4-FFF2-40B4-BE49-F238E27FC236}">
                <a16:creationId xmlns:a16="http://schemas.microsoft.com/office/drawing/2014/main" id="{16B90A1B-9C82-3FEC-57C8-B226017F1EC3}"/>
              </a:ext>
            </a:extLst>
          </p:cNvPr>
          <p:cNvPicPr>
            <a:picLocks noChangeAspect="1"/>
          </p:cNvPicPr>
          <p:nvPr/>
        </p:nvPicPr>
        <p:blipFill>
          <a:blip r:embed="rId4"/>
          <a:stretch>
            <a:fillRect/>
          </a:stretch>
        </p:blipFill>
        <p:spPr>
          <a:xfrm>
            <a:off x="1225573" y="2880451"/>
            <a:ext cx="2217612" cy="275867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500"/>
                                        <p:tgtEl>
                                          <p:spTgt spid="2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500"/>
                                        <p:tgtEl>
                                          <p:spTgt spid="22"/>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animBg="1"/>
      <p:bldP spid="11" grpId="0" animBg="1"/>
      <p:bldP spid="12" grpId="0"/>
      <p:bldP spid="13" grpId="0"/>
      <p:bldP spid="14" grpId="0" animBg="1"/>
      <p:bldP spid="15" grpId="0" animBg="1"/>
      <p:bldP spid="16" grpId="0"/>
      <p:bldP spid="17" grpId="0"/>
      <p:bldP spid="18" grpId="0" animBg="1"/>
      <p:bldP spid="19"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7FF"/>
        </a:solidFill>
        <a:effectLst/>
      </p:bgPr>
    </p:bg>
    <p:spTree>
      <p:nvGrpSpPr>
        <p:cNvPr id="1" name=""/>
        <p:cNvGrpSpPr/>
        <p:nvPr/>
      </p:nvGrpSpPr>
      <p:grpSpPr>
        <a:xfrm>
          <a:off x="0" y="0"/>
          <a:ext cx="0" cy="0"/>
          <a:chOff x="0" y="0"/>
          <a:chExt cx="0" cy="0"/>
        </a:xfrm>
      </p:grpSpPr>
      <p:sp>
        <p:nvSpPr>
          <p:cNvPr id="2" name="Oval 1"/>
          <p:cNvSpPr/>
          <p:nvPr/>
        </p:nvSpPr>
        <p:spPr>
          <a:xfrm>
            <a:off x="10652760" y="-320040"/>
            <a:ext cx="1828800" cy="182880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411480" y="5623560"/>
            <a:ext cx="1554480" cy="155448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01400" y="5440680"/>
            <a:ext cx="1188720" cy="11887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47472"/>
            <a:ext cx="10972800" cy="594360"/>
          </a:xfrm>
          <a:prstGeom prst="rect">
            <a:avLst/>
          </a:prstGeom>
          <a:noFill/>
        </p:spPr>
        <p:txBody>
          <a:bodyPr wrap="none">
            <a:spAutoFit/>
          </a:bodyPr>
          <a:lstStyle/>
          <a:p>
            <a:pPr>
              <a:defRPr sz="2800" b="1">
                <a:solidFill>
                  <a:srgbClr val="2D1F44"/>
                </a:solidFill>
                <a:latin typeface="Aptos Display"/>
              </a:defRPr>
            </a:pPr>
            <a:r>
              <a:t>5.9 — Pipeline decision</a:t>
            </a:r>
          </a:p>
        </p:txBody>
      </p:sp>
      <p:sp>
        <p:nvSpPr>
          <p:cNvPr id="6" name="Rounded Rectangle 5"/>
          <p:cNvSpPr/>
          <p:nvPr/>
        </p:nvSpPr>
        <p:spPr>
          <a:xfrm>
            <a:off x="868680" y="1417320"/>
            <a:ext cx="10424160" cy="3108960"/>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005839" y="1572768"/>
            <a:ext cx="73152" cy="2798064"/>
          </a:xfrm>
          <a:prstGeom prst="roundRect">
            <a:avLst/>
          </a:prstGeom>
          <a:solidFill>
            <a:srgbClr val="6C43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16152" y="1618488"/>
            <a:ext cx="8989705" cy="400110"/>
          </a:xfrm>
          <a:prstGeom prst="rect">
            <a:avLst/>
          </a:prstGeom>
          <a:noFill/>
        </p:spPr>
        <p:txBody>
          <a:bodyPr wrap="none">
            <a:spAutoFit/>
          </a:bodyPr>
          <a:lstStyle/>
          <a:p>
            <a:pPr marL="285750" indent="-285750">
              <a:buFont typeface="Wingdings" panose="05000000000000000000" pitchFamily="2" charset="2"/>
              <a:buChar char="q"/>
              <a:defRPr sz="1500" b="1">
                <a:solidFill>
                  <a:srgbClr val="2D1F44"/>
                </a:solidFill>
                <a:latin typeface="Aptos"/>
              </a:defRPr>
            </a:pPr>
            <a:r>
              <a:rPr lang="en-US" sz="2000" b="1" dirty="0"/>
              <a:t>what should a well-designed pipeline do when it encounters corrupt data </a:t>
            </a:r>
            <a:endParaRPr sz="2000" dirty="0"/>
          </a:p>
        </p:txBody>
      </p:sp>
      <p:sp>
        <p:nvSpPr>
          <p:cNvPr id="9" name="TextBox 8"/>
          <p:cNvSpPr txBox="1"/>
          <p:nvPr/>
        </p:nvSpPr>
        <p:spPr>
          <a:xfrm>
            <a:off x="1307592" y="2491740"/>
            <a:ext cx="9893808" cy="2331720"/>
          </a:xfrm>
          <a:prstGeom prst="rect">
            <a:avLst/>
          </a:prstGeom>
          <a:noFill/>
        </p:spPr>
        <p:txBody>
          <a:bodyPr wrap="square">
            <a:spAutoFit/>
          </a:bodyPr>
          <a:lstStyle/>
          <a:p>
            <a:pPr>
              <a:defRPr sz="2000">
                <a:solidFill>
                  <a:srgbClr val="2D1F44"/>
                </a:solidFill>
                <a:latin typeface="Aptos"/>
              </a:defRPr>
            </a:pPr>
            <a:r>
              <a:t>A well-designed pipeline should stop completely when critical corrupt data is found, because processing invalid data can lead to incorrect results and unreliable business decisions.</a:t>
            </a:r>
          </a:p>
        </p:txBody>
      </p:sp>
      <p:sp>
        <p:nvSpPr>
          <p:cNvPr id="10" name="Rounded Rectangle 9"/>
          <p:cNvSpPr/>
          <p:nvPr/>
        </p:nvSpPr>
        <p:spPr>
          <a:xfrm>
            <a:off x="868680" y="4800600"/>
            <a:ext cx="10424160" cy="1051560"/>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005839" y="4956048"/>
            <a:ext cx="73152" cy="740663"/>
          </a:xfrm>
          <a:prstGeom prst="roundRect">
            <a:avLst/>
          </a:prstGeom>
          <a:solidFill>
            <a:srgbClr val="E65C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16152" y="5001768"/>
            <a:ext cx="9921240" cy="320040"/>
          </a:xfrm>
          <a:prstGeom prst="rect">
            <a:avLst/>
          </a:prstGeom>
          <a:noFill/>
        </p:spPr>
        <p:txBody>
          <a:bodyPr wrap="none">
            <a:spAutoFit/>
          </a:bodyPr>
          <a:lstStyle/>
          <a:p>
            <a:pPr>
              <a:defRPr sz="1500" b="1">
                <a:solidFill>
                  <a:srgbClr val="2D1F44"/>
                </a:solidFill>
                <a:latin typeface="Aptos"/>
              </a:defRPr>
            </a:pPr>
            <a:r>
              <a:t>Validation lesson</a:t>
            </a:r>
          </a:p>
        </p:txBody>
      </p:sp>
      <p:sp>
        <p:nvSpPr>
          <p:cNvPr id="13" name="TextBox 12"/>
          <p:cNvSpPr txBox="1"/>
          <p:nvPr/>
        </p:nvSpPr>
        <p:spPr>
          <a:xfrm>
            <a:off x="1216152" y="5422392"/>
            <a:ext cx="9893808" cy="274319"/>
          </a:xfrm>
          <a:prstGeom prst="rect">
            <a:avLst/>
          </a:prstGeom>
          <a:noFill/>
        </p:spPr>
        <p:txBody>
          <a:bodyPr wrap="square">
            <a:spAutoFit/>
          </a:bodyPr>
          <a:lstStyle/>
          <a:p>
            <a:pPr>
              <a:defRPr sz="1500">
                <a:solidFill>
                  <a:srgbClr val="2D1F44"/>
                </a:solidFill>
                <a:latin typeface="Aptos"/>
              </a:defRPr>
            </a:pPr>
            <a:r>
              <a:t>All three deliberate data-quality issues must be caught before processing the weekly data.</a:t>
            </a:r>
          </a:p>
        </p:txBody>
      </p:sp>
      <p:sp>
        <p:nvSpPr>
          <p:cNvPr id="14" name="TextBox 13"/>
          <p:cNvSpPr txBox="1"/>
          <p:nvPr/>
        </p:nvSpPr>
        <p:spPr>
          <a:xfrm>
            <a:off x="10881360" y="6446520"/>
            <a:ext cx="640080" cy="228600"/>
          </a:xfrm>
          <a:prstGeom prst="rect">
            <a:avLst/>
          </a:prstGeom>
          <a:noFill/>
        </p:spPr>
        <p:txBody>
          <a:bodyPr wrap="none">
            <a:spAutoFit/>
          </a:bodyPr>
          <a:lstStyle/>
          <a:p>
            <a:pPr algn="r">
              <a:defRPr sz="900">
                <a:solidFill>
                  <a:srgbClr val="645B6E"/>
                </a:solidFill>
              </a:defRPr>
            </a:pPr>
            <a:r>
              <a:t>13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animBg="1"/>
      <p:bldP spid="11" grpId="0" animBg="1"/>
      <p:bldP spid="12" grpId="0"/>
      <p:bldP spid="13" grpId="0"/>
      <p:bldP spid="14"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7FF"/>
        </a:solidFill>
        <a:effectLst/>
      </p:bgPr>
    </p:bg>
    <p:spTree>
      <p:nvGrpSpPr>
        <p:cNvPr id="1" name=""/>
        <p:cNvGrpSpPr/>
        <p:nvPr/>
      </p:nvGrpSpPr>
      <p:grpSpPr>
        <a:xfrm>
          <a:off x="0" y="0"/>
          <a:ext cx="0" cy="0"/>
          <a:chOff x="0" y="0"/>
          <a:chExt cx="0" cy="0"/>
        </a:xfrm>
      </p:grpSpPr>
      <p:sp>
        <p:nvSpPr>
          <p:cNvPr id="2" name="Oval 1"/>
          <p:cNvSpPr/>
          <p:nvPr/>
        </p:nvSpPr>
        <p:spPr>
          <a:xfrm>
            <a:off x="10652760" y="-320040"/>
            <a:ext cx="1828800" cy="182880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411480" y="5623560"/>
            <a:ext cx="1554480" cy="155448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01400" y="5440680"/>
            <a:ext cx="1188720" cy="11887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47472"/>
            <a:ext cx="10972800" cy="594360"/>
          </a:xfrm>
          <a:prstGeom prst="rect">
            <a:avLst/>
          </a:prstGeom>
          <a:noFill/>
        </p:spPr>
        <p:txBody>
          <a:bodyPr wrap="none">
            <a:spAutoFit/>
          </a:bodyPr>
          <a:lstStyle/>
          <a:p>
            <a:pPr>
              <a:defRPr sz="2800" b="1">
                <a:solidFill>
                  <a:srgbClr val="2D1F44"/>
                </a:solidFill>
                <a:latin typeface="Aptos Display"/>
              </a:defRPr>
            </a:pPr>
            <a:r>
              <a:rPr dirty="0"/>
              <a:t>5.10 — Transform and aggregate</a:t>
            </a:r>
          </a:p>
        </p:txBody>
      </p:sp>
      <p:sp>
        <p:nvSpPr>
          <p:cNvPr id="6" name="Rounded Rectangle 5"/>
          <p:cNvSpPr/>
          <p:nvPr/>
        </p:nvSpPr>
        <p:spPr>
          <a:xfrm>
            <a:off x="594360" y="1143000"/>
            <a:ext cx="3657600" cy="2057400"/>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298448"/>
            <a:ext cx="73152" cy="1746504"/>
          </a:xfrm>
          <a:prstGeom prst="roundRect">
            <a:avLst/>
          </a:prstGeom>
          <a:solidFill>
            <a:srgbClr val="6C43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1832" y="1344168"/>
            <a:ext cx="3154680" cy="320040"/>
          </a:xfrm>
          <a:prstGeom prst="rect">
            <a:avLst/>
          </a:prstGeom>
          <a:noFill/>
        </p:spPr>
        <p:txBody>
          <a:bodyPr wrap="none">
            <a:spAutoFit/>
          </a:bodyPr>
          <a:lstStyle/>
          <a:p>
            <a:pPr>
              <a:defRPr sz="1500" b="1">
                <a:solidFill>
                  <a:srgbClr val="2D1F44"/>
                </a:solidFill>
                <a:latin typeface="Aptos"/>
              </a:defRPr>
            </a:pPr>
            <a:r>
              <a:t>weekly_revenue_by_store</a:t>
            </a:r>
          </a:p>
        </p:txBody>
      </p:sp>
      <p:sp>
        <p:nvSpPr>
          <p:cNvPr id="9" name="TextBox 8"/>
          <p:cNvSpPr txBox="1"/>
          <p:nvPr/>
        </p:nvSpPr>
        <p:spPr>
          <a:xfrm>
            <a:off x="941832" y="1764792"/>
            <a:ext cx="3127248" cy="1280160"/>
          </a:xfrm>
          <a:prstGeom prst="rect">
            <a:avLst/>
          </a:prstGeom>
          <a:noFill/>
        </p:spPr>
        <p:txBody>
          <a:bodyPr wrap="square">
            <a:spAutoFit/>
          </a:bodyPr>
          <a:lstStyle/>
          <a:p>
            <a:pPr>
              <a:defRPr sz="1500">
                <a:solidFill>
                  <a:srgbClr val="2D1F44"/>
                </a:solidFill>
                <a:latin typeface="Aptos"/>
              </a:defRPr>
            </a:pPr>
            <a:r>
              <a:t>7-day revenue by store and city.</a:t>
            </a:r>
          </a:p>
        </p:txBody>
      </p:sp>
      <p:sp>
        <p:nvSpPr>
          <p:cNvPr id="10" name="Rounded Rectangle 9"/>
          <p:cNvSpPr/>
          <p:nvPr/>
        </p:nvSpPr>
        <p:spPr>
          <a:xfrm>
            <a:off x="4434840" y="1143000"/>
            <a:ext cx="3474720" cy="2057400"/>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72000" y="1298448"/>
            <a:ext cx="73152" cy="1746504"/>
          </a:xfrm>
          <a:prstGeom prst="roundRect">
            <a:avLst/>
          </a:prstGeom>
          <a:solidFill>
            <a:srgbClr val="E65C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82312" y="1344168"/>
            <a:ext cx="2971800" cy="320040"/>
          </a:xfrm>
          <a:prstGeom prst="rect">
            <a:avLst/>
          </a:prstGeom>
          <a:noFill/>
        </p:spPr>
        <p:txBody>
          <a:bodyPr wrap="none">
            <a:spAutoFit/>
          </a:bodyPr>
          <a:lstStyle/>
          <a:p>
            <a:pPr>
              <a:defRPr sz="1500" b="1">
                <a:solidFill>
                  <a:srgbClr val="2D1F44"/>
                </a:solidFill>
                <a:latin typeface="Aptos"/>
              </a:defRPr>
            </a:pPr>
            <a:r>
              <a:t>weekly_revenue_by_category</a:t>
            </a:r>
          </a:p>
        </p:txBody>
      </p:sp>
      <p:sp>
        <p:nvSpPr>
          <p:cNvPr id="13" name="TextBox 12"/>
          <p:cNvSpPr txBox="1"/>
          <p:nvPr/>
        </p:nvSpPr>
        <p:spPr>
          <a:xfrm>
            <a:off x="4782312" y="1764792"/>
            <a:ext cx="2944368" cy="1280160"/>
          </a:xfrm>
          <a:prstGeom prst="rect">
            <a:avLst/>
          </a:prstGeom>
          <a:noFill/>
        </p:spPr>
        <p:txBody>
          <a:bodyPr wrap="square">
            <a:spAutoFit/>
          </a:bodyPr>
          <a:lstStyle/>
          <a:p>
            <a:pPr>
              <a:defRPr sz="1500">
                <a:solidFill>
                  <a:srgbClr val="2D1F44"/>
                </a:solidFill>
                <a:latin typeface="Aptos"/>
              </a:defRPr>
            </a:pPr>
            <a:r>
              <a:t>7-day revenue by category.</a:t>
            </a:r>
          </a:p>
        </p:txBody>
      </p:sp>
      <p:sp>
        <p:nvSpPr>
          <p:cNvPr id="14" name="Rounded Rectangle 13"/>
          <p:cNvSpPr/>
          <p:nvPr/>
        </p:nvSpPr>
        <p:spPr>
          <a:xfrm>
            <a:off x="8092440" y="1143000"/>
            <a:ext cx="3474720" cy="2057400"/>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229600" y="1298448"/>
            <a:ext cx="73152" cy="1746504"/>
          </a:xfrm>
          <a:prstGeom prst="roundRect">
            <a:avLst/>
          </a:prstGeom>
          <a:solidFill>
            <a:srgbClr val="6C43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39912" y="1344168"/>
            <a:ext cx="2971800" cy="320040"/>
          </a:xfrm>
          <a:prstGeom prst="rect">
            <a:avLst/>
          </a:prstGeom>
          <a:noFill/>
        </p:spPr>
        <p:txBody>
          <a:bodyPr wrap="none">
            <a:spAutoFit/>
          </a:bodyPr>
          <a:lstStyle/>
          <a:p>
            <a:pPr>
              <a:defRPr sz="1500" b="1">
                <a:solidFill>
                  <a:srgbClr val="2D1F44"/>
                </a:solidFill>
                <a:latin typeface="Aptos"/>
              </a:defRPr>
            </a:pPr>
            <a:r>
              <a:t>top_store_this_week</a:t>
            </a:r>
          </a:p>
        </p:txBody>
      </p:sp>
      <p:sp>
        <p:nvSpPr>
          <p:cNvPr id="17" name="TextBox 16"/>
          <p:cNvSpPr txBox="1"/>
          <p:nvPr/>
        </p:nvSpPr>
        <p:spPr>
          <a:xfrm>
            <a:off x="8439912" y="1764792"/>
            <a:ext cx="2944368" cy="1280160"/>
          </a:xfrm>
          <a:prstGeom prst="rect">
            <a:avLst/>
          </a:prstGeom>
          <a:noFill/>
        </p:spPr>
        <p:txBody>
          <a:bodyPr wrap="square">
            <a:spAutoFit/>
          </a:bodyPr>
          <a:lstStyle/>
          <a:p>
            <a:pPr>
              <a:defRPr sz="1500">
                <a:solidFill>
                  <a:srgbClr val="2D1F44"/>
                </a:solidFill>
                <a:latin typeface="Aptos"/>
              </a:defRPr>
            </a:pPr>
            <a:r>
              <a:t>S03 — Guntur</a:t>
            </a:r>
            <a:br/>
            <a:r>
              <a:t>₹2,037,560.19</a:t>
            </a:r>
          </a:p>
        </p:txBody>
      </p:sp>
      <p:sp>
        <p:nvSpPr>
          <p:cNvPr id="18" name="Rounded Rectangle 17"/>
          <p:cNvSpPr/>
          <p:nvPr/>
        </p:nvSpPr>
        <p:spPr>
          <a:xfrm>
            <a:off x="594360" y="3474720"/>
            <a:ext cx="5394960" cy="2240280"/>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31520" y="3630168"/>
            <a:ext cx="73152" cy="1929384"/>
          </a:xfrm>
          <a:prstGeom prst="roundRect">
            <a:avLst/>
          </a:prstGeom>
          <a:solidFill>
            <a:srgbClr val="CD4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1832" y="3675887"/>
            <a:ext cx="4892040" cy="320040"/>
          </a:xfrm>
          <a:prstGeom prst="rect">
            <a:avLst/>
          </a:prstGeom>
          <a:noFill/>
        </p:spPr>
        <p:txBody>
          <a:bodyPr wrap="none">
            <a:spAutoFit/>
          </a:bodyPr>
          <a:lstStyle/>
          <a:p>
            <a:pPr>
              <a:defRPr sz="1500" b="1">
                <a:solidFill>
                  <a:srgbClr val="2D1F44"/>
                </a:solidFill>
                <a:latin typeface="Aptos"/>
              </a:defRPr>
            </a:pPr>
            <a:r>
              <a:t>category_alert</a:t>
            </a:r>
          </a:p>
        </p:txBody>
      </p:sp>
      <p:sp>
        <p:nvSpPr>
          <p:cNvPr id="21" name="TextBox 20"/>
          <p:cNvSpPr txBox="1"/>
          <p:nvPr/>
        </p:nvSpPr>
        <p:spPr>
          <a:xfrm>
            <a:off x="941832" y="4096511"/>
            <a:ext cx="4864608" cy="1463040"/>
          </a:xfrm>
          <a:prstGeom prst="rect">
            <a:avLst/>
          </a:prstGeom>
          <a:noFill/>
        </p:spPr>
        <p:txBody>
          <a:bodyPr wrap="square">
            <a:spAutoFit/>
          </a:bodyPr>
          <a:lstStyle/>
          <a:p>
            <a:pPr>
              <a:defRPr sz="1500">
                <a:solidFill>
                  <a:srgbClr val="2D1F44"/>
                </a:solidFill>
                <a:latin typeface="Aptos"/>
              </a:defRPr>
            </a:pPr>
            <a:r>
              <a:t>Electronics is the alert category.</a:t>
            </a:r>
            <a:br/>
            <a:r>
              <a:t>Weekly revenue: ₹5,764,693.85</a:t>
            </a:r>
            <a:br/>
            <a:r>
              <a:t>6-month weekly baseline: ₹8,760,740.74</a:t>
            </a:r>
            <a:br/>
            <a:r>
              <a:t>Down by approximately 34.2% versus baseline.</a:t>
            </a:r>
          </a:p>
        </p:txBody>
      </p:sp>
      <p:sp>
        <p:nvSpPr>
          <p:cNvPr id="22" name="Rounded Rectangle 21"/>
          <p:cNvSpPr/>
          <p:nvPr/>
        </p:nvSpPr>
        <p:spPr>
          <a:xfrm>
            <a:off x="6172200" y="3474720"/>
            <a:ext cx="5394960" cy="2240280"/>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309360" y="3630168"/>
            <a:ext cx="73152" cy="1929384"/>
          </a:xfrm>
          <a:prstGeom prst="roundRect">
            <a:avLst/>
          </a:prstGeom>
          <a:solidFill>
            <a:srgbClr val="E65C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19672" y="3675887"/>
            <a:ext cx="4892040" cy="320040"/>
          </a:xfrm>
          <a:prstGeom prst="rect">
            <a:avLst/>
          </a:prstGeom>
          <a:noFill/>
        </p:spPr>
        <p:txBody>
          <a:bodyPr wrap="none">
            <a:spAutoFit/>
          </a:bodyPr>
          <a:lstStyle/>
          <a:p>
            <a:pPr>
              <a:defRPr sz="1500" b="1">
                <a:solidFill>
                  <a:srgbClr val="2D1F44"/>
                </a:solidFill>
                <a:latin typeface="Aptos"/>
              </a:defRPr>
            </a:pPr>
            <a:r>
              <a:t>Part 1 → Part 2 connection</a:t>
            </a:r>
          </a:p>
        </p:txBody>
      </p:sp>
      <p:sp>
        <p:nvSpPr>
          <p:cNvPr id="25" name="TextBox 24"/>
          <p:cNvSpPr txBox="1"/>
          <p:nvPr/>
        </p:nvSpPr>
        <p:spPr>
          <a:xfrm>
            <a:off x="6519672" y="4096511"/>
            <a:ext cx="4864608" cy="1463040"/>
          </a:xfrm>
          <a:prstGeom prst="rect">
            <a:avLst/>
          </a:prstGeom>
          <a:noFill/>
        </p:spPr>
        <p:txBody>
          <a:bodyPr wrap="square">
            <a:spAutoFit/>
          </a:bodyPr>
          <a:lstStyle/>
          <a:p>
            <a:pPr>
              <a:defRPr sz="1600">
                <a:solidFill>
                  <a:srgbClr val="2D1F44"/>
                </a:solidFill>
                <a:latin typeface="Aptos"/>
              </a:defRPr>
            </a:pPr>
            <a:r>
              <a:t>The historical CSV provides the six-month baseline. The clean JSON provides the current 7-day signal. Comparing them makes the weekly alert meaningful.</a:t>
            </a:r>
          </a:p>
        </p:txBody>
      </p:sp>
      <p:sp>
        <p:nvSpPr>
          <p:cNvPr id="26" name="TextBox 25"/>
          <p:cNvSpPr txBox="1"/>
          <p:nvPr/>
        </p:nvSpPr>
        <p:spPr>
          <a:xfrm>
            <a:off x="10881360" y="6446520"/>
            <a:ext cx="640080" cy="228600"/>
          </a:xfrm>
          <a:prstGeom prst="rect">
            <a:avLst/>
          </a:prstGeom>
          <a:noFill/>
        </p:spPr>
        <p:txBody>
          <a:bodyPr wrap="none">
            <a:spAutoFit/>
          </a:bodyPr>
          <a:lstStyle/>
          <a:p>
            <a:pPr algn="r">
              <a:defRPr sz="900">
                <a:solidFill>
                  <a:srgbClr val="645B6E"/>
                </a:solidFill>
              </a:defRPr>
            </a:pPr>
            <a:r>
              <a:t>14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500"/>
                                        <p:tgtEl>
                                          <p:spTgt spid="2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500"/>
                                        <p:tgtEl>
                                          <p:spTgt spid="2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animBg="1"/>
      <p:bldP spid="11" grpId="0" animBg="1"/>
      <p:bldP spid="12" grpId="0"/>
      <p:bldP spid="13" grpId="0"/>
      <p:bldP spid="14" grpId="0" animBg="1"/>
      <p:bldP spid="15" grpId="0" animBg="1"/>
      <p:bldP spid="16" grpId="0"/>
      <p:bldP spid="17" grpId="0"/>
      <p:bldP spid="18" grpId="0" animBg="1"/>
      <p:bldP spid="19" grpId="0" animBg="1"/>
      <p:bldP spid="20" grpId="0"/>
      <p:bldP spid="21" grpId="0"/>
      <p:bldP spid="22" grpId="0" animBg="1"/>
      <p:bldP spid="23" grpId="0" animBg="1"/>
      <p:bldP spid="24" grpId="0"/>
      <p:bldP spid="25" grpId="0"/>
      <p:bldP spid="26"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7FF"/>
        </a:solidFill>
        <a:effectLst/>
      </p:bgPr>
    </p:bg>
    <p:spTree>
      <p:nvGrpSpPr>
        <p:cNvPr id="1" name="">
          <a:extLst>
            <a:ext uri="{FF2B5EF4-FFF2-40B4-BE49-F238E27FC236}">
              <a16:creationId xmlns:a16="http://schemas.microsoft.com/office/drawing/2014/main" id="{B456CA79-AE80-C194-28B7-E25C9788AB32}"/>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EBF05F20-76A4-C9C8-1D4E-21F184CACAB1}"/>
              </a:ext>
            </a:extLst>
          </p:cNvPr>
          <p:cNvSpPr/>
          <p:nvPr/>
        </p:nvSpPr>
        <p:spPr>
          <a:xfrm>
            <a:off x="10652760" y="-320040"/>
            <a:ext cx="1828800" cy="182880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32B99EE7-CCDA-E0F0-9B4D-A4D5BF1BDCBC}"/>
              </a:ext>
            </a:extLst>
          </p:cNvPr>
          <p:cNvSpPr/>
          <p:nvPr/>
        </p:nvSpPr>
        <p:spPr>
          <a:xfrm>
            <a:off x="-411480" y="5623560"/>
            <a:ext cx="1554480" cy="155448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4261B2C-638A-DE89-93C7-DD7B553B9011}"/>
              </a:ext>
            </a:extLst>
          </p:cNvPr>
          <p:cNvSpPr/>
          <p:nvPr/>
        </p:nvSpPr>
        <p:spPr>
          <a:xfrm>
            <a:off x="11201400" y="5440680"/>
            <a:ext cx="1188720" cy="11887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C0290A69-1EC4-D949-5615-B9A79B6348F1}"/>
              </a:ext>
            </a:extLst>
          </p:cNvPr>
          <p:cNvSpPr txBox="1"/>
          <p:nvPr/>
        </p:nvSpPr>
        <p:spPr>
          <a:xfrm>
            <a:off x="594360" y="347472"/>
            <a:ext cx="10972800" cy="594360"/>
          </a:xfrm>
          <a:prstGeom prst="rect">
            <a:avLst/>
          </a:prstGeom>
          <a:noFill/>
        </p:spPr>
        <p:txBody>
          <a:bodyPr wrap="none">
            <a:spAutoFit/>
          </a:bodyPr>
          <a:lstStyle/>
          <a:p>
            <a:pPr>
              <a:defRPr sz="2800" b="1">
                <a:solidFill>
                  <a:srgbClr val="2D1F44"/>
                </a:solidFill>
                <a:latin typeface="Aptos Display"/>
              </a:defRPr>
            </a:pPr>
            <a:r>
              <a:t>5.10 — Transform and aggregate</a:t>
            </a:r>
          </a:p>
        </p:txBody>
      </p:sp>
      <p:sp>
        <p:nvSpPr>
          <p:cNvPr id="6" name="Rounded Rectangle 5">
            <a:extLst>
              <a:ext uri="{FF2B5EF4-FFF2-40B4-BE49-F238E27FC236}">
                <a16:creationId xmlns:a16="http://schemas.microsoft.com/office/drawing/2014/main" id="{35E7623B-66CE-B8AA-2FD4-3E61978C9A0C}"/>
              </a:ext>
            </a:extLst>
          </p:cNvPr>
          <p:cNvSpPr/>
          <p:nvPr/>
        </p:nvSpPr>
        <p:spPr>
          <a:xfrm>
            <a:off x="179108" y="2990652"/>
            <a:ext cx="3314182" cy="2033835"/>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a:extLst>
              <a:ext uri="{FF2B5EF4-FFF2-40B4-BE49-F238E27FC236}">
                <a16:creationId xmlns:a16="http://schemas.microsoft.com/office/drawing/2014/main" id="{55613401-730F-153B-F614-8D6E98E08E06}"/>
              </a:ext>
            </a:extLst>
          </p:cNvPr>
          <p:cNvSpPr/>
          <p:nvPr/>
        </p:nvSpPr>
        <p:spPr>
          <a:xfrm>
            <a:off x="333801" y="3126396"/>
            <a:ext cx="73152" cy="671754"/>
          </a:xfrm>
          <a:prstGeom prst="roundRect">
            <a:avLst/>
          </a:prstGeom>
          <a:solidFill>
            <a:srgbClr val="6C43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2ECD42EE-C32D-9413-0AE2-AACB7CDB8068}"/>
              </a:ext>
            </a:extLst>
          </p:cNvPr>
          <p:cNvSpPr txBox="1"/>
          <p:nvPr/>
        </p:nvSpPr>
        <p:spPr>
          <a:xfrm>
            <a:off x="523209" y="3040256"/>
            <a:ext cx="3154680" cy="320040"/>
          </a:xfrm>
          <a:prstGeom prst="rect">
            <a:avLst/>
          </a:prstGeom>
          <a:noFill/>
        </p:spPr>
        <p:txBody>
          <a:bodyPr wrap="none">
            <a:spAutoFit/>
          </a:bodyPr>
          <a:lstStyle/>
          <a:p>
            <a:pPr>
              <a:defRPr sz="1500" b="1">
                <a:solidFill>
                  <a:srgbClr val="2D1F44"/>
                </a:solidFill>
                <a:latin typeface="Aptos"/>
              </a:defRPr>
            </a:pPr>
            <a:r>
              <a:rPr dirty="0" err="1"/>
              <a:t>weekly_revenue_by_store</a:t>
            </a:r>
            <a:endParaRPr dirty="0"/>
          </a:p>
        </p:txBody>
      </p:sp>
      <p:sp>
        <p:nvSpPr>
          <p:cNvPr id="9" name="TextBox 8">
            <a:extLst>
              <a:ext uri="{FF2B5EF4-FFF2-40B4-BE49-F238E27FC236}">
                <a16:creationId xmlns:a16="http://schemas.microsoft.com/office/drawing/2014/main" id="{D3F1E99A-8499-E0F9-4946-FB84C9EA434F}"/>
              </a:ext>
            </a:extLst>
          </p:cNvPr>
          <p:cNvSpPr txBox="1"/>
          <p:nvPr/>
        </p:nvSpPr>
        <p:spPr>
          <a:xfrm>
            <a:off x="418450" y="3429000"/>
            <a:ext cx="2876024" cy="320040"/>
          </a:xfrm>
          <a:prstGeom prst="rect">
            <a:avLst/>
          </a:prstGeom>
          <a:noFill/>
        </p:spPr>
        <p:txBody>
          <a:bodyPr wrap="square">
            <a:spAutoFit/>
          </a:bodyPr>
          <a:lstStyle/>
          <a:p>
            <a:pPr>
              <a:defRPr sz="1500">
                <a:solidFill>
                  <a:srgbClr val="2D1F44"/>
                </a:solidFill>
                <a:latin typeface="Aptos"/>
              </a:defRPr>
            </a:pPr>
            <a:r>
              <a:rPr dirty="0"/>
              <a:t>7-day revenue by store and city.</a:t>
            </a:r>
          </a:p>
        </p:txBody>
      </p:sp>
      <p:sp>
        <p:nvSpPr>
          <p:cNvPr id="26" name="TextBox 25">
            <a:extLst>
              <a:ext uri="{FF2B5EF4-FFF2-40B4-BE49-F238E27FC236}">
                <a16:creationId xmlns:a16="http://schemas.microsoft.com/office/drawing/2014/main" id="{5B1A9023-8E79-70D1-E69E-BC47843593B0}"/>
              </a:ext>
            </a:extLst>
          </p:cNvPr>
          <p:cNvSpPr txBox="1"/>
          <p:nvPr/>
        </p:nvSpPr>
        <p:spPr>
          <a:xfrm>
            <a:off x="10881360" y="6446520"/>
            <a:ext cx="640080" cy="228600"/>
          </a:xfrm>
          <a:prstGeom prst="rect">
            <a:avLst/>
          </a:prstGeom>
          <a:noFill/>
        </p:spPr>
        <p:txBody>
          <a:bodyPr wrap="none">
            <a:spAutoFit/>
          </a:bodyPr>
          <a:lstStyle/>
          <a:p>
            <a:pPr algn="r">
              <a:defRPr sz="900">
                <a:solidFill>
                  <a:srgbClr val="645B6E"/>
                </a:solidFill>
              </a:defRPr>
            </a:pPr>
            <a:r>
              <a:t>14</a:t>
            </a:r>
          </a:p>
        </p:txBody>
      </p:sp>
      <p:pic>
        <p:nvPicPr>
          <p:cNvPr id="28" name="Picture 27">
            <a:extLst>
              <a:ext uri="{FF2B5EF4-FFF2-40B4-BE49-F238E27FC236}">
                <a16:creationId xmlns:a16="http://schemas.microsoft.com/office/drawing/2014/main" id="{93F340B5-D771-8048-FE78-7A4031BE5F37}"/>
              </a:ext>
            </a:extLst>
          </p:cNvPr>
          <p:cNvPicPr>
            <a:picLocks noChangeAspect="1"/>
          </p:cNvPicPr>
          <p:nvPr/>
        </p:nvPicPr>
        <p:blipFill>
          <a:blip r:embed="rId2"/>
          <a:stretch>
            <a:fillRect/>
          </a:stretch>
        </p:blipFill>
        <p:spPr>
          <a:xfrm>
            <a:off x="3815592" y="878039"/>
            <a:ext cx="7063505" cy="575136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1" name="TextBox 30">
            <a:extLst>
              <a:ext uri="{FF2B5EF4-FFF2-40B4-BE49-F238E27FC236}">
                <a16:creationId xmlns:a16="http://schemas.microsoft.com/office/drawing/2014/main" id="{395F3EC7-0D3D-21AE-B3CE-CBFBE1AB85F1}"/>
              </a:ext>
            </a:extLst>
          </p:cNvPr>
          <p:cNvSpPr txBox="1"/>
          <p:nvPr/>
        </p:nvSpPr>
        <p:spPr>
          <a:xfrm>
            <a:off x="226003" y="3935558"/>
            <a:ext cx="3314182" cy="923330"/>
          </a:xfrm>
          <a:prstGeom prst="rect">
            <a:avLst/>
          </a:prstGeom>
          <a:noFill/>
        </p:spPr>
        <p:txBody>
          <a:bodyPr wrap="square">
            <a:spAutoFit/>
          </a:bodyPr>
          <a:lstStyle/>
          <a:p>
            <a:pPr marL="285750" indent="-285750">
              <a:buFont typeface="Arial" panose="020B0604020202020204" pitchFamily="34" charset="0"/>
              <a:buChar char="•"/>
            </a:pPr>
            <a:r>
              <a:rPr lang="en-US" b="1" dirty="0"/>
              <a:t>S03 – Guntur generated the highest weekly revenue of ₹20.38 lakh</a:t>
            </a:r>
          </a:p>
        </p:txBody>
      </p:sp>
    </p:spTree>
    <p:extLst>
      <p:ext uri="{BB962C8B-B14F-4D97-AF65-F5344CB8AC3E}">
        <p14:creationId xmlns:p14="http://schemas.microsoft.com/office/powerpoint/2010/main" val="1910667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500"/>
                                        <p:tgtEl>
                                          <p:spTgt spid="3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31"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7FF"/>
        </a:solidFill>
        <a:effectLst/>
      </p:bgPr>
    </p:bg>
    <p:spTree>
      <p:nvGrpSpPr>
        <p:cNvPr id="1" name="">
          <a:extLst>
            <a:ext uri="{FF2B5EF4-FFF2-40B4-BE49-F238E27FC236}">
              <a16:creationId xmlns:a16="http://schemas.microsoft.com/office/drawing/2014/main" id="{70D929CB-FA2E-269D-881A-766F0176B9AF}"/>
            </a:ext>
          </a:extLst>
        </p:cNvPr>
        <p:cNvGrpSpPr/>
        <p:nvPr/>
      </p:nvGrpSpPr>
      <p:grpSpPr>
        <a:xfrm>
          <a:off x="0" y="0"/>
          <a:ext cx="0" cy="0"/>
          <a:chOff x="0" y="0"/>
          <a:chExt cx="0" cy="0"/>
        </a:xfrm>
      </p:grpSpPr>
      <p:sp>
        <p:nvSpPr>
          <p:cNvPr id="29" name="Rounded Rectangle 9">
            <a:extLst>
              <a:ext uri="{FF2B5EF4-FFF2-40B4-BE49-F238E27FC236}">
                <a16:creationId xmlns:a16="http://schemas.microsoft.com/office/drawing/2014/main" id="{A35E4515-5F79-3012-02DA-68E324735C52}"/>
              </a:ext>
            </a:extLst>
          </p:cNvPr>
          <p:cNvSpPr/>
          <p:nvPr/>
        </p:nvSpPr>
        <p:spPr>
          <a:xfrm>
            <a:off x="277620" y="2560009"/>
            <a:ext cx="3361126" cy="2115686"/>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Oval 1">
            <a:extLst>
              <a:ext uri="{FF2B5EF4-FFF2-40B4-BE49-F238E27FC236}">
                <a16:creationId xmlns:a16="http://schemas.microsoft.com/office/drawing/2014/main" id="{FA36CB4F-ACCC-20C3-7986-B30CDE599A94}"/>
              </a:ext>
            </a:extLst>
          </p:cNvPr>
          <p:cNvSpPr/>
          <p:nvPr/>
        </p:nvSpPr>
        <p:spPr>
          <a:xfrm>
            <a:off x="10652760" y="-320040"/>
            <a:ext cx="1828800" cy="182880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1B4E0B20-71C1-6486-77EB-DCF2D1388257}"/>
              </a:ext>
            </a:extLst>
          </p:cNvPr>
          <p:cNvSpPr/>
          <p:nvPr/>
        </p:nvSpPr>
        <p:spPr>
          <a:xfrm>
            <a:off x="-411480" y="5623560"/>
            <a:ext cx="1554480" cy="155448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5423F3CF-B6EB-EC5C-F4C5-5107EA8DE9E9}"/>
              </a:ext>
            </a:extLst>
          </p:cNvPr>
          <p:cNvSpPr/>
          <p:nvPr/>
        </p:nvSpPr>
        <p:spPr>
          <a:xfrm>
            <a:off x="11201400" y="5440680"/>
            <a:ext cx="1188720" cy="11887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D8D417A6-09E8-4347-EF74-D34867DE7BB4}"/>
              </a:ext>
            </a:extLst>
          </p:cNvPr>
          <p:cNvSpPr txBox="1"/>
          <p:nvPr/>
        </p:nvSpPr>
        <p:spPr>
          <a:xfrm>
            <a:off x="594360" y="347472"/>
            <a:ext cx="10972800" cy="594360"/>
          </a:xfrm>
          <a:prstGeom prst="rect">
            <a:avLst/>
          </a:prstGeom>
          <a:noFill/>
        </p:spPr>
        <p:txBody>
          <a:bodyPr wrap="none">
            <a:spAutoFit/>
          </a:bodyPr>
          <a:lstStyle/>
          <a:p>
            <a:pPr>
              <a:defRPr sz="2800" b="1">
                <a:solidFill>
                  <a:srgbClr val="2D1F44"/>
                </a:solidFill>
                <a:latin typeface="Aptos Display"/>
              </a:defRPr>
            </a:pPr>
            <a:r>
              <a:t>5.10 — Transform and aggregate</a:t>
            </a:r>
          </a:p>
        </p:txBody>
      </p:sp>
      <p:sp>
        <p:nvSpPr>
          <p:cNvPr id="26" name="TextBox 25">
            <a:extLst>
              <a:ext uri="{FF2B5EF4-FFF2-40B4-BE49-F238E27FC236}">
                <a16:creationId xmlns:a16="http://schemas.microsoft.com/office/drawing/2014/main" id="{55FC22F8-FB2A-3007-D311-D1A092582100}"/>
              </a:ext>
            </a:extLst>
          </p:cNvPr>
          <p:cNvSpPr txBox="1"/>
          <p:nvPr/>
        </p:nvSpPr>
        <p:spPr>
          <a:xfrm>
            <a:off x="10881360" y="6446520"/>
            <a:ext cx="640080" cy="228600"/>
          </a:xfrm>
          <a:prstGeom prst="rect">
            <a:avLst/>
          </a:prstGeom>
          <a:noFill/>
        </p:spPr>
        <p:txBody>
          <a:bodyPr wrap="none">
            <a:spAutoFit/>
          </a:bodyPr>
          <a:lstStyle/>
          <a:p>
            <a:pPr algn="r">
              <a:defRPr sz="900">
                <a:solidFill>
                  <a:srgbClr val="645B6E"/>
                </a:solidFill>
              </a:defRPr>
            </a:pPr>
            <a:r>
              <a:t>14</a:t>
            </a:r>
          </a:p>
        </p:txBody>
      </p:sp>
      <p:sp>
        <p:nvSpPr>
          <p:cNvPr id="28" name="TextBox 27">
            <a:extLst>
              <a:ext uri="{FF2B5EF4-FFF2-40B4-BE49-F238E27FC236}">
                <a16:creationId xmlns:a16="http://schemas.microsoft.com/office/drawing/2014/main" id="{5689CAA6-4D14-FB66-5634-B8B7A9FF06AE}"/>
              </a:ext>
            </a:extLst>
          </p:cNvPr>
          <p:cNvSpPr txBox="1"/>
          <p:nvPr/>
        </p:nvSpPr>
        <p:spPr>
          <a:xfrm>
            <a:off x="365760" y="3602719"/>
            <a:ext cx="2971800" cy="923330"/>
          </a:xfrm>
          <a:prstGeom prst="rect">
            <a:avLst/>
          </a:prstGeom>
          <a:noFill/>
        </p:spPr>
        <p:txBody>
          <a:bodyPr wrap="square">
            <a:spAutoFit/>
          </a:bodyPr>
          <a:lstStyle/>
          <a:p>
            <a:pPr marL="285750" indent="-285750">
              <a:buFont typeface="Arial" panose="020B0604020202020204" pitchFamily="34" charset="0"/>
              <a:buChar char="•"/>
            </a:pPr>
            <a:r>
              <a:rPr lang="en-US" b="1" dirty="0"/>
              <a:t>Electronics generated the highest weekly revenue of ₹57.65 lakh</a:t>
            </a:r>
          </a:p>
        </p:txBody>
      </p:sp>
      <p:sp>
        <p:nvSpPr>
          <p:cNvPr id="30" name="TextBox 29">
            <a:extLst>
              <a:ext uri="{FF2B5EF4-FFF2-40B4-BE49-F238E27FC236}">
                <a16:creationId xmlns:a16="http://schemas.microsoft.com/office/drawing/2014/main" id="{03547A52-E394-8400-F7DA-5782CDCD50B9}"/>
              </a:ext>
            </a:extLst>
          </p:cNvPr>
          <p:cNvSpPr txBox="1"/>
          <p:nvPr/>
        </p:nvSpPr>
        <p:spPr>
          <a:xfrm>
            <a:off x="502546" y="2673348"/>
            <a:ext cx="2971800" cy="320040"/>
          </a:xfrm>
          <a:prstGeom prst="rect">
            <a:avLst/>
          </a:prstGeom>
          <a:noFill/>
        </p:spPr>
        <p:txBody>
          <a:bodyPr wrap="none">
            <a:spAutoFit/>
          </a:bodyPr>
          <a:lstStyle/>
          <a:p>
            <a:pPr>
              <a:defRPr sz="1500" b="1">
                <a:solidFill>
                  <a:srgbClr val="2D1F44"/>
                </a:solidFill>
                <a:latin typeface="Aptos"/>
              </a:defRPr>
            </a:pPr>
            <a:r>
              <a:rPr dirty="0" err="1"/>
              <a:t>weekly_revenue_by_category</a:t>
            </a:r>
            <a:endParaRPr dirty="0"/>
          </a:p>
        </p:txBody>
      </p:sp>
      <p:sp>
        <p:nvSpPr>
          <p:cNvPr id="31" name="TextBox 30">
            <a:extLst>
              <a:ext uri="{FF2B5EF4-FFF2-40B4-BE49-F238E27FC236}">
                <a16:creationId xmlns:a16="http://schemas.microsoft.com/office/drawing/2014/main" id="{42A47FE0-4C13-2128-5AB5-6D81121F2BFE}"/>
              </a:ext>
            </a:extLst>
          </p:cNvPr>
          <p:cNvSpPr txBox="1"/>
          <p:nvPr/>
        </p:nvSpPr>
        <p:spPr>
          <a:xfrm>
            <a:off x="562496" y="3009460"/>
            <a:ext cx="2944368" cy="1280160"/>
          </a:xfrm>
          <a:prstGeom prst="rect">
            <a:avLst/>
          </a:prstGeom>
          <a:noFill/>
        </p:spPr>
        <p:txBody>
          <a:bodyPr wrap="square">
            <a:spAutoFit/>
          </a:bodyPr>
          <a:lstStyle/>
          <a:p>
            <a:pPr>
              <a:defRPr sz="1500">
                <a:solidFill>
                  <a:srgbClr val="2D1F44"/>
                </a:solidFill>
                <a:latin typeface="Aptos"/>
              </a:defRPr>
            </a:pPr>
            <a:r>
              <a:rPr dirty="0"/>
              <a:t>7-day revenue by category.</a:t>
            </a:r>
          </a:p>
        </p:txBody>
      </p:sp>
      <p:sp>
        <p:nvSpPr>
          <p:cNvPr id="32" name="Rounded Rectangle 10">
            <a:extLst>
              <a:ext uri="{FF2B5EF4-FFF2-40B4-BE49-F238E27FC236}">
                <a16:creationId xmlns:a16="http://schemas.microsoft.com/office/drawing/2014/main" id="{8DE1ECBC-3EEF-36D9-4AE0-1C3F546E90EF}"/>
              </a:ext>
            </a:extLst>
          </p:cNvPr>
          <p:cNvSpPr/>
          <p:nvPr/>
        </p:nvSpPr>
        <p:spPr>
          <a:xfrm>
            <a:off x="383482" y="2715457"/>
            <a:ext cx="72830" cy="829021"/>
          </a:xfrm>
          <a:prstGeom prst="roundRect">
            <a:avLst/>
          </a:prstGeom>
          <a:solidFill>
            <a:srgbClr val="E65C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a:extLst>
              <a:ext uri="{FF2B5EF4-FFF2-40B4-BE49-F238E27FC236}">
                <a16:creationId xmlns:a16="http://schemas.microsoft.com/office/drawing/2014/main" id="{A8D2610B-2A91-1A4E-C791-8B5500F8D18E}"/>
              </a:ext>
            </a:extLst>
          </p:cNvPr>
          <p:cNvPicPr>
            <a:picLocks noChangeAspect="1"/>
          </p:cNvPicPr>
          <p:nvPr/>
        </p:nvPicPr>
        <p:blipFill>
          <a:blip r:embed="rId2"/>
          <a:stretch>
            <a:fillRect/>
          </a:stretch>
        </p:blipFill>
        <p:spPr>
          <a:xfrm>
            <a:off x="4314629" y="905539"/>
            <a:ext cx="5972371" cy="5713640"/>
          </a:xfrm>
          <a:prstGeom prst="rect">
            <a:avLst/>
          </a:prstGeom>
        </p:spPr>
      </p:pic>
    </p:spTree>
    <p:extLst>
      <p:ext uri="{BB962C8B-B14F-4D97-AF65-F5344CB8AC3E}">
        <p14:creationId xmlns:p14="http://schemas.microsoft.com/office/powerpoint/2010/main" val="3150203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500"/>
                                        <p:tgtEl>
                                          <p:spTgt spid="3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500"/>
                                        <p:tgtEl>
                                          <p:spTgt spid="3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fade">
                                      <p:cBhvr>
                                        <p:cTn id="21" dur="500"/>
                                        <p:tgtEl>
                                          <p:spTgt spid="2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8" grpId="0"/>
      <p:bldP spid="30" grpId="0"/>
      <p:bldP spid="31" grpId="0"/>
      <p:bldP spid="3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7FF"/>
        </a:solidFill>
        <a:effectLst/>
      </p:bgPr>
    </p:bg>
    <p:spTree>
      <p:nvGrpSpPr>
        <p:cNvPr id="1" name="">
          <a:extLst>
            <a:ext uri="{FF2B5EF4-FFF2-40B4-BE49-F238E27FC236}">
              <a16:creationId xmlns:a16="http://schemas.microsoft.com/office/drawing/2014/main" id="{6CA04CFC-6566-CD0A-19C6-F873814FF303}"/>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8E229A32-8256-2B1E-A281-B474C16CA9F0}"/>
              </a:ext>
            </a:extLst>
          </p:cNvPr>
          <p:cNvSpPr/>
          <p:nvPr/>
        </p:nvSpPr>
        <p:spPr>
          <a:xfrm>
            <a:off x="10652760" y="-320040"/>
            <a:ext cx="1828800" cy="182880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7B25AE05-A5E8-140F-5BEA-F0CA579076E6}"/>
              </a:ext>
            </a:extLst>
          </p:cNvPr>
          <p:cNvSpPr/>
          <p:nvPr/>
        </p:nvSpPr>
        <p:spPr>
          <a:xfrm>
            <a:off x="-411480" y="5623560"/>
            <a:ext cx="1554480" cy="155448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9DECE61C-4115-C25A-C152-754DB7D985A2}"/>
              </a:ext>
            </a:extLst>
          </p:cNvPr>
          <p:cNvSpPr/>
          <p:nvPr/>
        </p:nvSpPr>
        <p:spPr>
          <a:xfrm>
            <a:off x="11201400" y="5440680"/>
            <a:ext cx="1188720" cy="11887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BC76D96C-E7A9-4C21-A1C2-D29D976968C7}"/>
              </a:ext>
            </a:extLst>
          </p:cNvPr>
          <p:cNvSpPr txBox="1"/>
          <p:nvPr/>
        </p:nvSpPr>
        <p:spPr>
          <a:xfrm>
            <a:off x="594360" y="347472"/>
            <a:ext cx="10972800" cy="594360"/>
          </a:xfrm>
          <a:prstGeom prst="rect">
            <a:avLst/>
          </a:prstGeom>
          <a:noFill/>
        </p:spPr>
        <p:txBody>
          <a:bodyPr wrap="none">
            <a:spAutoFit/>
          </a:bodyPr>
          <a:lstStyle/>
          <a:p>
            <a:pPr>
              <a:defRPr sz="2800" b="1">
                <a:solidFill>
                  <a:srgbClr val="2D1F44"/>
                </a:solidFill>
                <a:latin typeface="Aptos Display"/>
              </a:defRPr>
            </a:pPr>
            <a:r>
              <a:t>5.10 — Transform and aggregate</a:t>
            </a:r>
          </a:p>
        </p:txBody>
      </p:sp>
      <p:sp>
        <p:nvSpPr>
          <p:cNvPr id="14" name="Rounded Rectangle 13">
            <a:extLst>
              <a:ext uri="{FF2B5EF4-FFF2-40B4-BE49-F238E27FC236}">
                <a16:creationId xmlns:a16="http://schemas.microsoft.com/office/drawing/2014/main" id="{48DFCAF2-51C7-A796-151F-36463817063B}"/>
              </a:ext>
            </a:extLst>
          </p:cNvPr>
          <p:cNvSpPr/>
          <p:nvPr/>
        </p:nvSpPr>
        <p:spPr>
          <a:xfrm>
            <a:off x="768096" y="978407"/>
            <a:ext cx="2944368" cy="1033273"/>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a:extLst>
              <a:ext uri="{FF2B5EF4-FFF2-40B4-BE49-F238E27FC236}">
                <a16:creationId xmlns:a16="http://schemas.microsoft.com/office/drawing/2014/main" id="{6C47C347-CB8A-9F29-0380-1CE219F9EB1C}"/>
              </a:ext>
            </a:extLst>
          </p:cNvPr>
          <p:cNvSpPr/>
          <p:nvPr/>
        </p:nvSpPr>
        <p:spPr>
          <a:xfrm flipH="1">
            <a:off x="902503" y="1081696"/>
            <a:ext cx="78658" cy="844984"/>
          </a:xfrm>
          <a:prstGeom prst="roundRect">
            <a:avLst/>
          </a:prstGeom>
          <a:solidFill>
            <a:srgbClr val="6C43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66B9A399-7826-174C-D5C0-87978BD91987}"/>
              </a:ext>
            </a:extLst>
          </p:cNvPr>
          <p:cNvSpPr txBox="1"/>
          <p:nvPr/>
        </p:nvSpPr>
        <p:spPr>
          <a:xfrm>
            <a:off x="1115568" y="1005841"/>
            <a:ext cx="2971800" cy="320040"/>
          </a:xfrm>
          <a:prstGeom prst="rect">
            <a:avLst/>
          </a:prstGeom>
          <a:noFill/>
        </p:spPr>
        <p:txBody>
          <a:bodyPr wrap="none">
            <a:spAutoFit/>
          </a:bodyPr>
          <a:lstStyle/>
          <a:p>
            <a:pPr>
              <a:defRPr sz="1500" b="1">
                <a:solidFill>
                  <a:srgbClr val="2D1F44"/>
                </a:solidFill>
                <a:latin typeface="Aptos"/>
              </a:defRPr>
            </a:pPr>
            <a:r>
              <a:rPr dirty="0" err="1"/>
              <a:t>top_store_this_week</a:t>
            </a:r>
            <a:endParaRPr dirty="0"/>
          </a:p>
        </p:txBody>
      </p:sp>
      <p:sp>
        <p:nvSpPr>
          <p:cNvPr id="17" name="TextBox 16">
            <a:extLst>
              <a:ext uri="{FF2B5EF4-FFF2-40B4-BE49-F238E27FC236}">
                <a16:creationId xmlns:a16="http://schemas.microsoft.com/office/drawing/2014/main" id="{5DADE34D-0B90-D701-983D-E25012E96605}"/>
              </a:ext>
            </a:extLst>
          </p:cNvPr>
          <p:cNvSpPr txBox="1"/>
          <p:nvPr/>
        </p:nvSpPr>
        <p:spPr>
          <a:xfrm>
            <a:off x="1207008" y="1325881"/>
            <a:ext cx="2944368" cy="553998"/>
          </a:xfrm>
          <a:prstGeom prst="rect">
            <a:avLst/>
          </a:prstGeom>
          <a:noFill/>
        </p:spPr>
        <p:txBody>
          <a:bodyPr wrap="square">
            <a:spAutoFit/>
          </a:bodyPr>
          <a:lstStyle/>
          <a:p>
            <a:pPr>
              <a:defRPr sz="1500">
                <a:solidFill>
                  <a:srgbClr val="2D1F44"/>
                </a:solidFill>
                <a:latin typeface="Aptos"/>
              </a:defRPr>
            </a:pPr>
            <a:r>
              <a:rPr b="1" dirty="0"/>
              <a:t>S03 — Guntur</a:t>
            </a:r>
            <a:br>
              <a:rPr b="1" dirty="0"/>
            </a:br>
            <a:r>
              <a:rPr b="1" dirty="0"/>
              <a:t>₹2,037,560.19</a:t>
            </a:r>
          </a:p>
        </p:txBody>
      </p:sp>
      <p:sp>
        <p:nvSpPr>
          <p:cNvPr id="18" name="Rounded Rectangle 17">
            <a:extLst>
              <a:ext uri="{FF2B5EF4-FFF2-40B4-BE49-F238E27FC236}">
                <a16:creationId xmlns:a16="http://schemas.microsoft.com/office/drawing/2014/main" id="{F1B2F47B-68AD-DC8F-958E-3B43352E213E}"/>
              </a:ext>
            </a:extLst>
          </p:cNvPr>
          <p:cNvSpPr/>
          <p:nvPr/>
        </p:nvSpPr>
        <p:spPr>
          <a:xfrm>
            <a:off x="6503560" y="1006814"/>
            <a:ext cx="5394960" cy="2240280"/>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a:extLst>
              <a:ext uri="{FF2B5EF4-FFF2-40B4-BE49-F238E27FC236}">
                <a16:creationId xmlns:a16="http://schemas.microsoft.com/office/drawing/2014/main" id="{B811DDA4-E835-FA6C-32C5-A14CF53B0E68}"/>
              </a:ext>
            </a:extLst>
          </p:cNvPr>
          <p:cNvSpPr/>
          <p:nvPr/>
        </p:nvSpPr>
        <p:spPr>
          <a:xfrm>
            <a:off x="6709545" y="1162262"/>
            <a:ext cx="73152" cy="1929384"/>
          </a:xfrm>
          <a:prstGeom prst="roundRect">
            <a:avLst/>
          </a:prstGeom>
          <a:solidFill>
            <a:srgbClr val="CD4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A84EA253-7F7B-2889-2353-193610311106}"/>
              </a:ext>
            </a:extLst>
          </p:cNvPr>
          <p:cNvSpPr txBox="1"/>
          <p:nvPr/>
        </p:nvSpPr>
        <p:spPr>
          <a:xfrm>
            <a:off x="6988688" y="1207981"/>
            <a:ext cx="4892040" cy="320040"/>
          </a:xfrm>
          <a:prstGeom prst="rect">
            <a:avLst/>
          </a:prstGeom>
          <a:noFill/>
        </p:spPr>
        <p:txBody>
          <a:bodyPr wrap="none">
            <a:spAutoFit/>
          </a:bodyPr>
          <a:lstStyle/>
          <a:p>
            <a:pPr>
              <a:defRPr sz="1500" b="1">
                <a:solidFill>
                  <a:srgbClr val="2D1F44"/>
                </a:solidFill>
                <a:latin typeface="Aptos"/>
              </a:defRPr>
            </a:pPr>
            <a:r>
              <a:rPr dirty="0" err="1"/>
              <a:t>category_alert</a:t>
            </a:r>
            <a:endParaRPr dirty="0"/>
          </a:p>
        </p:txBody>
      </p:sp>
      <p:sp>
        <p:nvSpPr>
          <p:cNvPr id="21" name="TextBox 20">
            <a:extLst>
              <a:ext uri="{FF2B5EF4-FFF2-40B4-BE49-F238E27FC236}">
                <a16:creationId xmlns:a16="http://schemas.microsoft.com/office/drawing/2014/main" id="{849D8470-E8F6-7380-23C6-827266044AD2}"/>
              </a:ext>
            </a:extLst>
          </p:cNvPr>
          <p:cNvSpPr txBox="1"/>
          <p:nvPr/>
        </p:nvSpPr>
        <p:spPr>
          <a:xfrm>
            <a:off x="7148950" y="1626652"/>
            <a:ext cx="4864608" cy="1463040"/>
          </a:xfrm>
          <a:prstGeom prst="rect">
            <a:avLst/>
          </a:prstGeom>
          <a:noFill/>
        </p:spPr>
        <p:txBody>
          <a:bodyPr wrap="square">
            <a:spAutoFit/>
          </a:bodyPr>
          <a:lstStyle/>
          <a:p>
            <a:pPr>
              <a:defRPr sz="1500">
                <a:solidFill>
                  <a:srgbClr val="2D1F44"/>
                </a:solidFill>
                <a:latin typeface="Aptos"/>
              </a:defRPr>
            </a:pPr>
            <a:r>
              <a:t>Electronics is the alert category.</a:t>
            </a:r>
            <a:br/>
            <a:r>
              <a:t>Weekly revenue: ₹5,764,693.85</a:t>
            </a:r>
            <a:br/>
            <a:r>
              <a:t>6-month weekly baseline: ₹8,760,740.74</a:t>
            </a:r>
            <a:br/>
            <a:r>
              <a:t>Down by approximately 34.2% versus baseline.</a:t>
            </a:r>
          </a:p>
        </p:txBody>
      </p:sp>
      <p:sp>
        <p:nvSpPr>
          <p:cNvPr id="22" name="Rounded Rectangle 21">
            <a:extLst>
              <a:ext uri="{FF2B5EF4-FFF2-40B4-BE49-F238E27FC236}">
                <a16:creationId xmlns:a16="http://schemas.microsoft.com/office/drawing/2014/main" id="{1553535F-E868-4FF2-6B59-50CED95094B3}"/>
              </a:ext>
            </a:extLst>
          </p:cNvPr>
          <p:cNvSpPr/>
          <p:nvPr/>
        </p:nvSpPr>
        <p:spPr>
          <a:xfrm>
            <a:off x="6591982" y="3471123"/>
            <a:ext cx="5394960" cy="2240280"/>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a:extLst>
              <a:ext uri="{FF2B5EF4-FFF2-40B4-BE49-F238E27FC236}">
                <a16:creationId xmlns:a16="http://schemas.microsoft.com/office/drawing/2014/main" id="{DA59A221-A02A-5F41-530B-962563B302A2}"/>
              </a:ext>
            </a:extLst>
          </p:cNvPr>
          <p:cNvSpPr/>
          <p:nvPr/>
        </p:nvSpPr>
        <p:spPr>
          <a:xfrm>
            <a:off x="6738686" y="3630168"/>
            <a:ext cx="73152" cy="1929384"/>
          </a:xfrm>
          <a:prstGeom prst="roundRect">
            <a:avLst/>
          </a:prstGeom>
          <a:solidFill>
            <a:srgbClr val="E65C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B4CFB42F-0B5F-1AED-6B37-A842D07CDC3F}"/>
              </a:ext>
            </a:extLst>
          </p:cNvPr>
          <p:cNvSpPr txBox="1"/>
          <p:nvPr/>
        </p:nvSpPr>
        <p:spPr>
          <a:xfrm>
            <a:off x="6903720" y="3664457"/>
            <a:ext cx="4892040" cy="320040"/>
          </a:xfrm>
          <a:prstGeom prst="rect">
            <a:avLst/>
          </a:prstGeom>
          <a:noFill/>
        </p:spPr>
        <p:txBody>
          <a:bodyPr wrap="none">
            <a:spAutoFit/>
          </a:bodyPr>
          <a:lstStyle/>
          <a:p>
            <a:pPr>
              <a:defRPr sz="1500" b="1">
                <a:solidFill>
                  <a:srgbClr val="2D1F44"/>
                </a:solidFill>
                <a:latin typeface="Aptos"/>
              </a:defRPr>
            </a:pPr>
            <a:r>
              <a:rPr dirty="0"/>
              <a:t>Part 1 → Part 2 connection</a:t>
            </a:r>
          </a:p>
        </p:txBody>
      </p:sp>
      <p:sp>
        <p:nvSpPr>
          <p:cNvPr id="25" name="TextBox 24">
            <a:extLst>
              <a:ext uri="{FF2B5EF4-FFF2-40B4-BE49-F238E27FC236}">
                <a16:creationId xmlns:a16="http://schemas.microsoft.com/office/drawing/2014/main" id="{F43E2970-8C99-C222-E949-3058B74BE32E}"/>
              </a:ext>
            </a:extLst>
          </p:cNvPr>
          <p:cNvSpPr txBox="1"/>
          <p:nvPr/>
        </p:nvSpPr>
        <p:spPr>
          <a:xfrm>
            <a:off x="6931152" y="4096511"/>
            <a:ext cx="4864608" cy="1463040"/>
          </a:xfrm>
          <a:prstGeom prst="rect">
            <a:avLst/>
          </a:prstGeom>
          <a:noFill/>
        </p:spPr>
        <p:txBody>
          <a:bodyPr wrap="square">
            <a:spAutoFit/>
          </a:bodyPr>
          <a:lstStyle/>
          <a:p>
            <a:pPr>
              <a:defRPr sz="1600">
                <a:solidFill>
                  <a:srgbClr val="2D1F44"/>
                </a:solidFill>
                <a:latin typeface="Aptos"/>
              </a:defRPr>
            </a:pPr>
            <a:r>
              <a:rPr dirty="0"/>
              <a:t>The historical CSV provides the six-month baseline. The clean JSON provides the current 7-day signal. Comparing them makes the weekly alert meaningful.</a:t>
            </a:r>
          </a:p>
        </p:txBody>
      </p:sp>
      <p:sp>
        <p:nvSpPr>
          <p:cNvPr id="26" name="TextBox 25">
            <a:extLst>
              <a:ext uri="{FF2B5EF4-FFF2-40B4-BE49-F238E27FC236}">
                <a16:creationId xmlns:a16="http://schemas.microsoft.com/office/drawing/2014/main" id="{BEEA0130-1F06-027F-2F37-5329E399DA04}"/>
              </a:ext>
            </a:extLst>
          </p:cNvPr>
          <p:cNvSpPr txBox="1"/>
          <p:nvPr/>
        </p:nvSpPr>
        <p:spPr>
          <a:xfrm>
            <a:off x="10881360" y="6446520"/>
            <a:ext cx="640080" cy="228600"/>
          </a:xfrm>
          <a:prstGeom prst="rect">
            <a:avLst/>
          </a:prstGeom>
          <a:noFill/>
        </p:spPr>
        <p:txBody>
          <a:bodyPr wrap="none">
            <a:spAutoFit/>
          </a:bodyPr>
          <a:lstStyle/>
          <a:p>
            <a:pPr algn="r">
              <a:defRPr sz="900">
                <a:solidFill>
                  <a:srgbClr val="645B6E"/>
                </a:solidFill>
              </a:defRPr>
            </a:pPr>
            <a:r>
              <a:t>14</a:t>
            </a:r>
          </a:p>
        </p:txBody>
      </p:sp>
      <p:sp>
        <p:nvSpPr>
          <p:cNvPr id="27" name="Rounded Rectangle 21">
            <a:extLst>
              <a:ext uri="{FF2B5EF4-FFF2-40B4-BE49-F238E27FC236}">
                <a16:creationId xmlns:a16="http://schemas.microsoft.com/office/drawing/2014/main" id="{2F59D5D4-D047-30D0-8156-3844611DA331}"/>
              </a:ext>
            </a:extLst>
          </p:cNvPr>
          <p:cNvSpPr/>
          <p:nvPr/>
        </p:nvSpPr>
        <p:spPr>
          <a:xfrm>
            <a:off x="264339" y="2422177"/>
            <a:ext cx="6147339" cy="3978623"/>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D51BFF20-7FCE-962E-4D95-9492A4F92319}"/>
              </a:ext>
            </a:extLst>
          </p:cNvPr>
          <p:cNvSpPr txBox="1"/>
          <p:nvPr/>
        </p:nvSpPr>
        <p:spPr>
          <a:xfrm>
            <a:off x="395968" y="2806226"/>
            <a:ext cx="6076700" cy="3570208"/>
          </a:xfrm>
          <a:prstGeom prst="rect">
            <a:avLst/>
          </a:prstGeom>
          <a:noFill/>
        </p:spPr>
        <p:txBody>
          <a:bodyPr wrap="square">
            <a:spAutoFit/>
          </a:bodyPr>
          <a:lstStyle/>
          <a:p>
            <a:pPr marL="285750" indent="-285750">
              <a:buFont typeface="Wingdings" panose="05000000000000000000" pitchFamily="2" charset="2"/>
              <a:buChar char="q"/>
            </a:pPr>
            <a:r>
              <a:rPr lang="en-US" sz="2000" b="1" dirty="0"/>
              <a:t>Logic of Category Alert</a:t>
            </a:r>
          </a:p>
          <a:p>
            <a:endParaRPr lang="en-US" sz="1400" b="1" dirty="0"/>
          </a:p>
          <a:p>
            <a:pPr marL="285750" indent="-285750">
              <a:buFont typeface="Arial" panose="020B0604020202020204" pitchFamily="34" charset="0"/>
              <a:buChar char="•"/>
            </a:pPr>
            <a:r>
              <a:rPr lang="en-US" sz="1600" b="1" dirty="0"/>
              <a:t>CSV dataset:</a:t>
            </a:r>
            <a:r>
              <a:rPr lang="en-US" sz="1600" dirty="0"/>
              <a:t> Used to calculate the normal </a:t>
            </a:r>
            <a:r>
              <a:rPr lang="en-US" sz="1600" b="1" dirty="0"/>
              <a:t>6-month daily average</a:t>
            </a:r>
            <a:r>
              <a:rPr lang="en-US" sz="1600" dirty="0"/>
              <a:t>.</a:t>
            </a:r>
          </a:p>
          <a:p>
            <a:pPr marL="285750" indent="-285750">
              <a:buFont typeface="Arial" panose="020B0604020202020204" pitchFamily="34" charset="0"/>
              <a:buChar char="•"/>
            </a:pPr>
            <a:r>
              <a:rPr lang="en-US" sz="1600" b="1" dirty="0"/>
              <a:t>Weekly JSON dataset:</a:t>
            </a:r>
            <a:r>
              <a:rPr lang="en-US" sz="1600" dirty="0"/>
              <a:t> Used to get </a:t>
            </a:r>
            <a:r>
              <a:rPr lang="en-US" sz="1600" b="1" dirty="0"/>
              <a:t>this week's category revenue</a:t>
            </a:r>
            <a:r>
              <a:rPr lang="en-US" sz="1600" dirty="0"/>
              <a:t>.</a:t>
            </a:r>
          </a:p>
          <a:p>
            <a:endParaRPr lang="en-US" sz="1600" dirty="0"/>
          </a:p>
          <a:p>
            <a:pPr>
              <a:buNone/>
            </a:pPr>
            <a:r>
              <a:rPr lang="en-US" sz="1600" b="1" dirty="0"/>
              <a:t>How the Alert is Decided</a:t>
            </a:r>
            <a:endParaRPr lang="en-US" sz="1600" dirty="0"/>
          </a:p>
          <a:p>
            <a:pPr marL="285750" indent="-285750">
              <a:buFont typeface="Arial" panose="020B0604020202020204" pitchFamily="34" charset="0"/>
              <a:buChar char="•"/>
            </a:pPr>
            <a:r>
              <a:rPr lang="en-US" sz="1600" b="1" dirty="0"/>
              <a:t>Calculate 6-month daily average from CSV </a:t>
            </a:r>
            <a:r>
              <a:rPr lang="en-US" sz="1600" dirty="0"/>
              <a:t>Electronics daily average = </a:t>
            </a:r>
            <a:r>
              <a:rPr lang="en-US" sz="1600" b="1" dirty="0"/>
              <a:t>₹12,51,534</a:t>
            </a:r>
            <a:endParaRPr lang="en-US" sz="1600" dirty="0"/>
          </a:p>
          <a:p>
            <a:pPr marL="285750" indent="-285750">
              <a:buFont typeface="Arial" panose="020B0604020202020204" pitchFamily="34" charset="0"/>
              <a:buChar char="•"/>
            </a:pPr>
            <a:r>
              <a:rPr lang="en-US" sz="1600" b="1" dirty="0"/>
              <a:t>Convert daily average to weekly average  </a:t>
            </a:r>
            <a:r>
              <a:rPr lang="en-US" sz="1600" dirty="0"/>
              <a:t>₹12,51,534 × 7 = </a:t>
            </a:r>
            <a:r>
              <a:rPr lang="en-US" sz="1600" b="1" dirty="0"/>
              <a:t>₹87,60,741</a:t>
            </a:r>
            <a:endParaRPr lang="en-US" sz="1600" dirty="0"/>
          </a:p>
          <a:p>
            <a:pPr marL="285750" indent="-285750">
              <a:buFont typeface="Arial" panose="020B0604020202020204" pitchFamily="34" charset="0"/>
              <a:buChar char="•"/>
            </a:pPr>
            <a:r>
              <a:rPr lang="en-US" sz="1600" b="1" dirty="0"/>
              <a:t>Calculate the 20% lower limit   </a:t>
            </a:r>
            <a:r>
              <a:rPr lang="en-US" sz="1600" dirty="0"/>
              <a:t>₹87,60,741 × 80% = </a:t>
            </a:r>
            <a:r>
              <a:rPr lang="en-US" sz="1600" b="1" dirty="0"/>
              <a:t>₹70,08,593</a:t>
            </a:r>
            <a:endParaRPr lang="en-US" sz="1600" dirty="0"/>
          </a:p>
          <a:p>
            <a:pPr marL="285750" indent="-285750">
              <a:buFont typeface="Arial" panose="020B0604020202020204" pitchFamily="34" charset="0"/>
              <a:buChar char="•"/>
            </a:pPr>
            <a:r>
              <a:rPr lang="en-US" sz="1600" b="1" dirty="0"/>
              <a:t>Compare this week's revenue </a:t>
            </a:r>
            <a:r>
              <a:rPr lang="en-US" sz="1600" dirty="0"/>
              <a:t>This week's Electronics revenue = </a:t>
            </a:r>
            <a:r>
              <a:rPr lang="en-US" sz="1600" b="1" dirty="0"/>
              <a:t>₹57,64,693.85</a:t>
            </a:r>
          </a:p>
          <a:p>
            <a:pPr marL="285750" indent="-285750">
              <a:buFont typeface="Arial" panose="020B0604020202020204" pitchFamily="34" charset="0"/>
              <a:buChar char="•"/>
            </a:pPr>
            <a:r>
              <a:rPr lang="en-US" sz="1600" dirty="0"/>
              <a:t>₹57,64,693.85 &lt; ₹70,08,593</a:t>
            </a:r>
          </a:p>
        </p:txBody>
      </p:sp>
    </p:spTree>
    <p:extLst>
      <p:ext uri="{BB962C8B-B14F-4D97-AF65-F5344CB8AC3E}">
        <p14:creationId xmlns:p14="http://schemas.microsoft.com/office/powerpoint/2010/main" val="1280001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500"/>
                                        <p:tgtEl>
                                          <p:spTgt spid="2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500"/>
                                        <p:tgtEl>
                                          <p:spTgt spid="2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p:bldP spid="17" grpId="0"/>
      <p:bldP spid="18" grpId="0" animBg="1"/>
      <p:bldP spid="19" grpId="0" animBg="1"/>
      <p:bldP spid="20" grpId="0"/>
      <p:bldP spid="21" grpId="0"/>
      <p:bldP spid="22" grpId="0" animBg="1"/>
      <p:bldP spid="23" grpId="0" animBg="1"/>
      <p:bldP spid="24" grpId="0"/>
      <p:bldP spid="25" grpId="0"/>
      <p:bldP spid="26" grpId="0"/>
      <p:bldP spid="27" grpId="0" animBg="1"/>
      <p:bldP spid="29"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7FF"/>
        </a:solidFill>
        <a:effectLst/>
      </p:bgPr>
    </p:bg>
    <p:spTree>
      <p:nvGrpSpPr>
        <p:cNvPr id="1" name=""/>
        <p:cNvGrpSpPr/>
        <p:nvPr/>
      </p:nvGrpSpPr>
      <p:grpSpPr>
        <a:xfrm>
          <a:off x="0" y="0"/>
          <a:ext cx="0" cy="0"/>
          <a:chOff x="0" y="0"/>
          <a:chExt cx="0" cy="0"/>
        </a:xfrm>
      </p:grpSpPr>
      <p:sp>
        <p:nvSpPr>
          <p:cNvPr id="2" name="Oval 1"/>
          <p:cNvSpPr/>
          <p:nvPr/>
        </p:nvSpPr>
        <p:spPr>
          <a:xfrm>
            <a:off x="10652760" y="-320040"/>
            <a:ext cx="1828800" cy="182880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411480" y="5623560"/>
            <a:ext cx="1554480" cy="155448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01400" y="5440680"/>
            <a:ext cx="1188720" cy="11887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47472"/>
            <a:ext cx="10972800" cy="594360"/>
          </a:xfrm>
          <a:prstGeom prst="rect">
            <a:avLst/>
          </a:prstGeom>
          <a:noFill/>
        </p:spPr>
        <p:txBody>
          <a:bodyPr wrap="none">
            <a:spAutoFit/>
          </a:bodyPr>
          <a:lstStyle/>
          <a:p>
            <a:pPr>
              <a:defRPr sz="2800" b="1">
                <a:solidFill>
                  <a:srgbClr val="2D1F44"/>
                </a:solidFill>
                <a:latin typeface="Aptos Display"/>
              </a:defRPr>
            </a:pPr>
            <a:r>
              <a:t>5.11 — Pipeline summary output</a:t>
            </a:r>
          </a:p>
        </p:txBody>
      </p:sp>
      <p:sp>
        <p:nvSpPr>
          <p:cNvPr id="6" name="Rounded Rectangle 5"/>
          <p:cNvSpPr/>
          <p:nvPr/>
        </p:nvSpPr>
        <p:spPr>
          <a:xfrm>
            <a:off x="640080" y="1143000"/>
            <a:ext cx="10972800" cy="4526280"/>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04672" y="1609344"/>
            <a:ext cx="45720" cy="3291840"/>
          </a:xfrm>
          <a:prstGeom prst="roundRect">
            <a:avLst/>
          </a:prstGeom>
          <a:solidFill>
            <a:srgbClr val="6C43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1344168"/>
            <a:ext cx="10469880" cy="320040"/>
          </a:xfrm>
          <a:prstGeom prst="rect">
            <a:avLst/>
          </a:prstGeom>
          <a:noFill/>
        </p:spPr>
        <p:txBody>
          <a:bodyPr wrap="none">
            <a:spAutoFit/>
          </a:bodyPr>
          <a:lstStyle/>
          <a:p>
            <a:pPr>
              <a:defRPr sz="1500" b="1">
                <a:solidFill>
                  <a:srgbClr val="2D1F44"/>
                </a:solidFill>
                <a:latin typeface="Aptos"/>
              </a:defRPr>
            </a:pPr>
            <a:r>
              <a:t>=== RETAIL SALES PULSE — WEEKLY SUMMARY ===</a:t>
            </a:r>
          </a:p>
        </p:txBody>
      </p:sp>
      <p:sp>
        <p:nvSpPr>
          <p:cNvPr id="9" name="TextBox 8"/>
          <p:cNvSpPr txBox="1"/>
          <p:nvPr/>
        </p:nvSpPr>
        <p:spPr>
          <a:xfrm>
            <a:off x="987552" y="1764792"/>
            <a:ext cx="10442448" cy="3749040"/>
          </a:xfrm>
          <a:prstGeom prst="rect">
            <a:avLst/>
          </a:prstGeom>
          <a:noFill/>
        </p:spPr>
        <p:txBody>
          <a:bodyPr wrap="square">
            <a:spAutoFit/>
          </a:bodyPr>
          <a:lstStyle/>
          <a:p>
            <a:pPr>
              <a:defRPr sz="1400">
                <a:solidFill>
                  <a:srgbClr val="2D1F44"/>
                </a:solidFill>
                <a:latin typeface="Aptos"/>
              </a:defRPr>
            </a:pPr>
            <a:r>
              <a:t>Period: 2026-06-24 to 2026-06-30</a:t>
            </a:r>
            <a:br/>
            <a:br/>
            <a:r>
              <a:t>Records processed: 4,291</a:t>
            </a:r>
            <a:br/>
            <a:br/>
            <a:r>
              <a:t>Top store this week: S03 — Guntur (₹2,037,560.19)</a:t>
            </a:r>
            <a:br/>
            <a:br/>
            <a:r>
              <a:t>Bottom store this week: S10 — Nellore (₹627,119.87)</a:t>
            </a:r>
            <a:br/>
            <a:br/>
            <a:r>
              <a:t>Category alert: Electronics revenue down approximately 34.2% vs 6-month baseline</a:t>
            </a:r>
            <a:br/>
            <a:br/>
            <a:r>
              <a:t>No alert: Apparel, Grocery, Home &amp; Kitchen, Personal Care</a:t>
            </a:r>
            <a:br/>
            <a:br/>
            <a:r>
              <a:t>Pipeline status: COMPLETED SUCCESSFULLY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AF7FF"/>
        </a:solidFill>
        <a:effectLst/>
      </p:bgPr>
    </p:bg>
    <p:spTree>
      <p:nvGrpSpPr>
        <p:cNvPr id="1" name=""/>
        <p:cNvGrpSpPr/>
        <p:nvPr/>
      </p:nvGrpSpPr>
      <p:grpSpPr>
        <a:xfrm>
          <a:off x="0" y="0"/>
          <a:ext cx="0" cy="0"/>
          <a:chOff x="0" y="0"/>
          <a:chExt cx="0" cy="0"/>
        </a:xfrm>
      </p:grpSpPr>
      <p:sp>
        <p:nvSpPr>
          <p:cNvPr id="2" name="Oval 1"/>
          <p:cNvSpPr/>
          <p:nvPr/>
        </p:nvSpPr>
        <p:spPr>
          <a:xfrm>
            <a:off x="10652760" y="-320040"/>
            <a:ext cx="1828800" cy="182880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411480" y="5623560"/>
            <a:ext cx="1554480" cy="155448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01400" y="5440680"/>
            <a:ext cx="1188720" cy="11887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47472"/>
            <a:ext cx="10972800" cy="594360"/>
          </a:xfrm>
          <a:prstGeom prst="rect">
            <a:avLst/>
          </a:prstGeom>
          <a:noFill/>
        </p:spPr>
        <p:txBody>
          <a:bodyPr wrap="none">
            <a:spAutoFit/>
          </a:bodyPr>
          <a:lstStyle/>
          <a:p>
            <a:pPr>
              <a:defRPr sz="2800" b="1">
                <a:solidFill>
                  <a:srgbClr val="2D1F44"/>
                </a:solidFill>
                <a:latin typeface="Aptos Display"/>
              </a:defRPr>
            </a:pPr>
            <a:r>
              <a:t>5.11 — What to add for a Monday-morning email</a:t>
            </a:r>
          </a:p>
        </p:txBody>
      </p:sp>
      <p:sp>
        <p:nvSpPr>
          <p:cNvPr id="6" name="Rounded Rectangle 5"/>
          <p:cNvSpPr/>
          <p:nvPr/>
        </p:nvSpPr>
        <p:spPr>
          <a:xfrm>
            <a:off x="822960" y="1325880"/>
            <a:ext cx="10515600" cy="2971800"/>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60120" y="1481328"/>
            <a:ext cx="73152" cy="2660904"/>
          </a:xfrm>
          <a:prstGeom prst="roundRect">
            <a:avLst/>
          </a:prstGeom>
          <a:solidFill>
            <a:srgbClr val="E65C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70432" y="1527048"/>
            <a:ext cx="9482328" cy="707886"/>
          </a:xfrm>
          <a:prstGeom prst="rect">
            <a:avLst/>
          </a:prstGeom>
          <a:noFill/>
        </p:spPr>
        <p:txBody>
          <a:bodyPr wrap="square">
            <a:spAutoFit/>
          </a:bodyPr>
          <a:lstStyle/>
          <a:p>
            <a:pPr marL="285750" indent="-285750">
              <a:buFont typeface="Wingdings" panose="05000000000000000000" pitchFamily="2" charset="2"/>
              <a:buChar char="q"/>
              <a:defRPr sz="1500" b="1">
                <a:solidFill>
                  <a:srgbClr val="2D1F44"/>
                </a:solidFill>
                <a:latin typeface="Aptos"/>
              </a:defRPr>
            </a:pPr>
            <a:r>
              <a:rPr lang="en-US" sz="2000" b="1" dirty="0"/>
              <a:t>what would you add to this summary if it were being emailed to the operations head every Monday morning?</a:t>
            </a:r>
          </a:p>
        </p:txBody>
      </p:sp>
      <p:sp>
        <p:nvSpPr>
          <p:cNvPr id="9" name="TextBox 8"/>
          <p:cNvSpPr txBox="1"/>
          <p:nvPr/>
        </p:nvSpPr>
        <p:spPr>
          <a:xfrm>
            <a:off x="1193292" y="2372868"/>
            <a:ext cx="9985248" cy="2194560"/>
          </a:xfrm>
          <a:prstGeom prst="rect">
            <a:avLst/>
          </a:prstGeom>
          <a:noFill/>
        </p:spPr>
        <p:txBody>
          <a:bodyPr wrap="square">
            <a:spAutoFit/>
          </a:bodyPr>
          <a:lstStyle/>
          <a:p>
            <a:pPr>
              <a:defRPr sz="1800">
                <a:solidFill>
                  <a:srgbClr val="2D1F44"/>
                </a:solidFill>
                <a:latin typeface="Aptos"/>
              </a:defRPr>
            </a:pPr>
            <a:r>
              <a:t>If this summary were emailed to the Operations Head every Monday morning, I would add key alerts, major changes in store and category performance, and recommended actions so that the Operations Head can quickly identify problems and decide what action needs to be taken.</a:t>
            </a:r>
          </a:p>
        </p:txBody>
      </p:sp>
      <p:sp>
        <p:nvSpPr>
          <p:cNvPr id="10" name="Rounded Rectangle 9"/>
          <p:cNvSpPr/>
          <p:nvPr/>
        </p:nvSpPr>
        <p:spPr>
          <a:xfrm>
            <a:off x="822960" y="4617720"/>
            <a:ext cx="3246120" cy="1143000"/>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60120" y="4773168"/>
            <a:ext cx="73152" cy="832103"/>
          </a:xfrm>
          <a:prstGeom prst="roundRect">
            <a:avLst/>
          </a:prstGeom>
          <a:solidFill>
            <a:srgbClr val="6C43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70432" y="4818888"/>
            <a:ext cx="2743200" cy="320040"/>
          </a:xfrm>
          <a:prstGeom prst="rect">
            <a:avLst/>
          </a:prstGeom>
          <a:noFill/>
        </p:spPr>
        <p:txBody>
          <a:bodyPr wrap="none">
            <a:spAutoFit/>
          </a:bodyPr>
          <a:lstStyle/>
          <a:p>
            <a:pPr>
              <a:defRPr sz="1500" b="1">
                <a:solidFill>
                  <a:srgbClr val="2D1F44"/>
                </a:solidFill>
                <a:latin typeface="Aptos"/>
              </a:defRPr>
            </a:pPr>
            <a:r>
              <a:t>Part 1</a:t>
            </a:r>
          </a:p>
        </p:txBody>
      </p:sp>
      <p:sp>
        <p:nvSpPr>
          <p:cNvPr id="13" name="TextBox 12"/>
          <p:cNvSpPr txBox="1"/>
          <p:nvPr/>
        </p:nvSpPr>
        <p:spPr>
          <a:xfrm>
            <a:off x="1170432" y="5239512"/>
            <a:ext cx="2715768" cy="365760"/>
          </a:xfrm>
          <a:prstGeom prst="rect">
            <a:avLst/>
          </a:prstGeom>
          <a:noFill/>
        </p:spPr>
        <p:txBody>
          <a:bodyPr wrap="square">
            <a:spAutoFit/>
          </a:bodyPr>
          <a:lstStyle/>
          <a:p>
            <a:pPr>
              <a:defRPr sz="1500">
                <a:solidFill>
                  <a:srgbClr val="2D1F44"/>
                </a:solidFill>
                <a:latin typeface="Aptos"/>
              </a:defRPr>
            </a:pPr>
            <a:r>
              <a:t>Find the insight</a:t>
            </a:r>
          </a:p>
        </p:txBody>
      </p:sp>
      <p:sp>
        <p:nvSpPr>
          <p:cNvPr id="14" name="Rounded Rectangle 13"/>
          <p:cNvSpPr/>
          <p:nvPr/>
        </p:nvSpPr>
        <p:spPr>
          <a:xfrm>
            <a:off x="4480560" y="4617720"/>
            <a:ext cx="3246120" cy="1143000"/>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617720" y="4773168"/>
            <a:ext cx="73152" cy="832103"/>
          </a:xfrm>
          <a:prstGeom prst="roundRect">
            <a:avLst/>
          </a:prstGeom>
          <a:solidFill>
            <a:srgbClr val="E65C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28032" y="4818888"/>
            <a:ext cx="2743200" cy="320040"/>
          </a:xfrm>
          <a:prstGeom prst="rect">
            <a:avLst/>
          </a:prstGeom>
          <a:noFill/>
        </p:spPr>
        <p:txBody>
          <a:bodyPr wrap="none">
            <a:spAutoFit/>
          </a:bodyPr>
          <a:lstStyle/>
          <a:p>
            <a:pPr>
              <a:defRPr sz="1500" b="1">
                <a:solidFill>
                  <a:srgbClr val="2D1F44"/>
                </a:solidFill>
                <a:latin typeface="Aptos"/>
              </a:defRPr>
            </a:pPr>
            <a:r>
              <a:t>Part 2</a:t>
            </a:r>
          </a:p>
        </p:txBody>
      </p:sp>
      <p:sp>
        <p:nvSpPr>
          <p:cNvPr id="17" name="TextBox 16"/>
          <p:cNvSpPr txBox="1"/>
          <p:nvPr/>
        </p:nvSpPr>
        <p:spPr>
          <a:xfrm>
            <a:off x="4828032" y="5239512"/>
            <a:ext cx="2715768" cy="365760"/>
          </a:xfrm>
          <a:prstGeom prst="rect">
            <a:avLst/>
          </a:prstGeom>
          <a:noFill/>
        </p:spPr>
        <p:txBody>
          <a:bodyPr wrap="square">
            <a:spAutoFit/>
          </a:bodyPr>
          <a:lstStyle/>
          <a:p>
            <a:pPr>
              <a:defRPr sz="1500">
                <a:solidFill>
                  <a:srgbClr val="2D1F44"/>
                </a:solidFill>
                <a:latin typeface="Aptos"/>
              </a:defRPr>
            </a:pPr>
            <a:r>
              <a:t>Keep it current</a:t>
            </a:r>
          </a:p>
        </p:txBody>
      </p:sp>
      <p:sp>
        <p:nvSpPr>
          <p:cNvPr id="18" name="Rounded Rectangle 17"/>
          <p:cNvSpPr/>
          <p:nvPr/>
        </p:nvSpPr>
        <p:spPr>
          <a:xfrm>
            <a:off x="8138160" y="4617720"/>
            <a:ext cx="3246120" cy="1143000"/>
          </a:xfrm>
          <a:prstGeom prst="roundRect">
            <a:avLst/>
          </a:prstGeom>
          <a:solidFill>
            <a:srgbClr val="FFFFFF"/>
          </a:solidFill>
          <a:ln w="12700">
            <a:solidFill>
              <a:srgbClr val="E8D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275320" y="4773168"/>
            <a:ext cx="73152" cy="832103"/>
          </a:xfrm>
          <a:prstGeom prst="roundRect">
            <a:avLst/>
          </a:prstGeom>
          <a:solidFill>
            <a:srgbClr val="6C43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85632" y="4818888"/>
            <a:ext cx="2743200" cy="320040"/>
          </a:xfrm>
          <a:prstGeom prst="rect">
            <a:avLst/>
          </a:prstGeom>
          <a:noFill/>
        </p:spPr>
        <p:txBody>
          <a:bodyPr wrap="none">
            <a:spAutoFit/>
          </a:bodyPr>
          <a:lstStyle/>
          <a:p>
            <a:pPr>
              <a:defRPr sz="1500" b="1">
                <a:solidFill>
                  <a:srgbClr val="2D1F44"/>
                </a:solidFill>
                <a:latin typeface="Aptos"/>
              </a:defRPr>
            </a:pPr>
            <a:r>
              <a:t>Business value</a:t>
            </a:r>
          </a:p>
        </p:txBody>
      </p:sp>
      <p:sp>
        <p:nvSpPr>
          <p:cNvPr id="21" name="TextBox 20"/>
          <p:cNvSpPr txBox="1"/>
          <p:nvPr/>
        </p:nvSpPr>
        <p:spPr>
          <a:xfrm>
            <a:off x="8485632" y="5239512"/>
            <a:ext cx="2715768" cy="365760"/>
          </a:xfrm>
          <a:prstGeom prst="rect">
            <a:avLst/>
          </a:prstGeom>
          <a:noFill/>
        </p:spPr>
        <p:txBody>
          <a:bodyPr wrap="square">
            <a:spAutoFit/>
          </a:bodyPr>
          <a:lstStyle/>
          <a:p>
            <a:pPr>
              <a:defRPr sz="1500">
                <a:solidFill>
                  <a:srgbClr val="2D1F44"/>
                </a:solidFill>
                <a:latin typeface="Aptos"/>
              </a:defRPr>
            </a:pPr>
            <a:r>
              <a:t>Support decisions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animBg="1"/>
      <p:bldP spid="11" grpId="0" animBg="1"/>
      <p:bldP spid="12" grpId="0"/>
      <p:bldP spid="13" grpId="0"/>
      <p:bldP spid="14" grpId="0" animBg="1"/>
      <p:bldP spid="15" grpId="0" animBg="1"/>
      <p:bldP spid="16" grpId="0"/>
      <p:bldP spid="17" grpId="0"/>
      <p:bldP spid="18" grpId="0" animBg="1"/>
      <p:bldP spid="19" grpId="0" animBg="1"/>
      <p:bldP spid="20" grpId="0"/>
      <p:bldP spid="21"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AF7FF"/>
        </a:solidFill>
        <a:effectLst/>
      </p:bgPr>
    </p:bg>
    <p:spTree>
      <p:nvGrpSpPr>
        <p:cNvPr id="1" name="">
          <a:extLst>
            <a:ext uri="{FF2B5EF4-FFF2-40B4-BE49-F238E27FC236}">
              <a16:creationId xmlns:a16="http://schemas.microsoft.com/office/drawing/2014/main" id="{79A981A6-BC20-C9E4-B4C1-361273D43CA6}"/>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993585F3-2822-516C-70CF-3E6CE54BD461}"/>
              </a:ext>
            </a:extLst>
          </p:cNvPr>
          <p:cNvSpPr/>
          <p:nvPr/>
        </p:nvSpPr>
        <p:spPr>
          <a:xfrm>
            <a:off x="10652760" y="-320040"/>
            <a:ext cx="1828800" cy="182880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A6D58346-B0F2-38F5-7723-FE17715485D6}"/>
              </a:ext>
            </a:extLst>
          </p:cNvPr>
          <p:cNvSpPr/>
          <p:nvPr/>
        </p:nvSpPr>
        <p:spPr>
          <a:xfrm>
            <a:off x="-411480" y="5623560"/>
            <a:ext cx="1554480" cy="155448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45266FA7-8F1D-7570-F728-7110B86FF7AB}"/>
              </a:ext>
            </a:extLst>
          </p:cNvPr>
          <p:cNvSpPr/>
          <p:nvPr/>
        </p:nvSpPr>
        <p:spPr>
          <a:xfrm>
            <a:off x="11201400" y="5440680"/>
            <a:ext cx="1188720" cy="11887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26" name="Picture 2" descr="Any Questions Stock Photo - Download Image Now - Presentation - Speech,  Question Mark, Asking - iStock">
            <a:extLst>
              <a:ext uri="{FF2B5EF4-FFF2-40B4-BE49-F238E27FC236}">
                <a16:creationId xmlns:a16="http://schemas.microsoft.com/office/drawing/2014/main" id="{2D91B564-E78D-848F-E084-5B387977F9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5445" y="1010754"/>
            <a:ext cx="7629832" cy="46128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17662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AF7FF"/>
        </a:solidFill>
        <a:effectLst/>
      </p:bgPr>
    </p:bg>
    <p:spTree>
      <p:nvGrpSpPr>
        <p:cNvPr id="1" name="">
          <a:extLst>
            <a:ext uri="{FF2B5EF4-FFF2-40B4-BE49-F238E27FC236}">
              <a16:creationId xmlns:a16="http://schemas.microsoft.com/office/drawing/2014/main" id="{3CAD2830-3185-C2C3-73AB-54304BE4C34E}"/>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0AADDC57-7429-501F-6271-65906EAB415C}"/>
              </a:ext>
            </a:extLst>
          </p:cNvPr>
          <p:cNvSpPr/>
          <p:nvPr/>
        </p:nvSpPr>
        <p:spPr>
          <a:xfrm>
            <a:off x="10652760" y="-320040"/>
            <a:ext cx="1828800" cy="1828800"/>
          </a:xfrm>
          <a:prstGeom prst="ellipse">
            <a:avLst/>
          </a:prstGeom>
          <a:solidFill>
            <a:srgbClr val="FC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4EECDAEA-8D28-A888-70DD-754A65955529}"/>
              </a:ext>
            </a:extLst>
          </p:cNvPr>
          <p:cNvSpPr/>
          <p:nvPr/>
        </p:nvSpPr>
        <p:spPr>
          <a:xfrm>
            <a:off x="-411480" y="5623560"/>
            <a:ext cx="1554480" cy="155448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A0B878E4-77DB-75B1-4379-5C86A629AEFD}"/>
              </a:ext>
            </a:extLst>
          </p:cNvPr>
          <p:cNvSpPr/>
          <p:nvPr/>
        </p:nvSpPr>
        <p:spPr>
          <a:xfrm>
            <a:off x="11201400" y="5440680"/>
            <a:ext cx="1188720" cy="1188720"/>
          </a:xfrm>
          <a:prstGeom prst="ellipse">
            <a:avLst/>
          </a:prstGeom>
          <a:solidFill>
            <a:srgbClr val="EBD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E13F0C51-63A0-09CE-D911-EC28533D689B}"/>
              </a:ext>
            </a:extLst>
          </p:cNvPr>
          <p:cNvSpPr txBox="1"/>
          <p:nvPr/>
        </p:nvSpPr>
        <p:spPr>
          <a:xfrm>
            <a:off x="3416381" y="2622059"/>
            <a:ext cx="9738360" cy="1200329"/>
          </a:xfrm>
          <a:prstGeom prst="rect">
            <a:avLst/>
          </a:prstGeom>
          <a:noFill/>
        </p:spPr>
        <p:txBody>
          <a:bodyPr wrap="square">
            <a:spAutoFit/>
          </a:bodyPr>
          <a:lstStyle/>
          <a:p>
            <a:pPr>
              <a:defRPr sz="1500" b="1">
                <a:solidFill>
                  <a:srgbClr val="2D1F44"/>
                </a:solidFill>
                <a:latin typeface="Aptos"/>
              </a:defRPr>
            </a:pPr>
            <a:r>
              <a:rPr lang="en-US" sz="7200" dirty="0"/>
              <a:t>THANKYOU</a:t>
            </a:r>
          </a:p>
        </p:txBody>
      </p:sp>
    </p:spTree>
    <p:extLst>
      <p:ext uri="{BB962C8B-B14F-4D97-AF65-F5344CB8AC3E}">
        <p14:creationId xmlns:p14="http://schemas.microsoft.com/office/powerpoint/2010/main" val="32574874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378</TotalTime>
  <Words>1969</Words>
  <Application>Microsoft Office PowerPoint</Application>
  <PresentationFormat>Widescreen</PresentationFormat>
  <Paragraphs>219</Paragraphs>
  <Slides>28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Arial Narrow</vt:lpstr>
      <vt:lpstr>Bahnschrift SemiBold SemiConden</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Vignesh Guthi</dc:creator>
  <cp:keywords/>
  <dc:description>generated using python-pptx</dc:description>
  <cp:lastModifiedBy>Vignesh Guthi</cp:lastModifiedBy>
  <cp:revision>10</cp:revision>
  <dcterms:created xsi:type="dcterms:W3CDTF">2013-01-27T09:14:16Z</dcterms:created>
  <dcterms:modified xsi:type="dcterms:W3CDTF">2026-09-04T15:09:06Z</dcterms:modified>
  <cp:category/>
</cp:coreProperties>
</file>
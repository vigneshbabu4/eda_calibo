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Handelson Six" panose="020B0604020202020204" charset="0"/>
      <p:regular r:id="rId24"/>
    </p:embeddedFont>
    <p:embeddedFont>
      <p:font typeface="Para" panose="020B0604020202020204" charset="0"/>
      <p:regular r:id="rId25"/>
    </p:embeddedFont>
    <p:embeddedFont>
      <p:font typeface="PT Serif" panose="020A0603040505020204" pitchFamily="18" charset="0"/>
      <p:regular r:id="rId26"/>
    </p:embeddedFont>
    <p:embeddedFont>
      <p:font typeface="Roboto" panose="02000000000000000000" pitchFamily="2" charset="0"/>
      <p:regular r:id="rId27"/>
    </p:embeddedFont>
    <p:embeddedFont>
      <p:font typeface="Roboto Bold" panose="02000000000000000000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00200" y="48482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 flipV="1">
            <a:off x="11673891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-99999" t="-14295" b="-1429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00200" y="3016924"/>
            <a:ext cx="14802220" cy="314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2"/>
              </a:lnSpc>
            </a:pPr>
            <a:r>
              <a:rPr lang="en-US" sz="8501" b="1" spc="-34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E-Commerce Data Analysis</a:t>
            </a:r>
          </a:p>
          <a:p>
            <a:pPr algn="l">
              <a:lnSpc>
                <a:spcPts val="13302"/>
              </a:lnSpc>
            </a:pPr>
            <a:endParaRPr lang="en-US" sz="8501" b="1" spc="-34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056567" y="8630362"/>
            <a:ext cx="4337222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 spc="289">
                <a:solidFill>
                  <a:srgbClr val="000000">
                    <a:alpha val="6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G.VIGNESH BABU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75606" y="7828678"/>
            <a:ext cx="4337222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-139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Presented By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0200" y="4991100"/>
            <a:ext cx="1277540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DATASET UNDERSTANDING, DATA CLEANING AND BUSINESS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698685"/>
            <a:ext cx="7696200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973133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About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5405535"/>
            <a:ext cx="18288000" cy="243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7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77"/>
              </a:lnSpc>
              <a:spcBef>
                <a:spcPct val="0"/>
              </a:spcBef>
            </a:pPr>
            <a:r>
              <a:rPr lang="en-US" sz="2709" b="1" spc="43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FOCUS: DATA QUALITY, INVALID RECORDS, PRODUCTS, CHANNELS, PAYMENTS, MARKETING AND CATEGORIES</a:t>
            </a:r>
          </a:p>
          <a:p>
            <a:pPr algn="ctr">
              <a:lnSpc>
                <a:spcPts val="4877"/>
              </a:lnSpc>
              <a:spcBef>
                <a:spcPct val="0"/>
              </a:spcBef>
            </a:pPr>
            <a:endParaRPr lang="en-US" sz="2709" b="1" spc="433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36676" y="3858869"/>
            <a:ext cx="9723358" cy="60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5039"/>
              </a:lnSpc>
              <a:buFont typeface="Arial"/>
              <a:buChar char="•"/>
            </a:pPr>
            <a:r>
              <a:rPr lang="en-US" sz="2799" spc="44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SIZE:</a:t>
            </a:r>
            <a:r>
              <a:rPr lang="en-US" sz="2799" b="1" spc="44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3,055 ROWS × 32 COLUMNS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95014"/>
            <a:ext cx="11689250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spc="41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ANALYSIS BASED ON ECOMMERCE_CUSTOMER.CSV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5271" y="1349245"/>
            <a:ext cx="5502729" cy="8210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Order_ID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Order_Date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Order_Status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Customer_ID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Customer_Age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Customer_Segment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City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Region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Product_Name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Category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Quantity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Unit_Price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Previous_Orders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Website_Session_Minutes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Marketing_Source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16108" y="806320"/>
            <a:ext cx="5781092" cy="9313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Gross_Amount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Discount_Pct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Discount_Amount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Net_Sales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Estimated_Cost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Profit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Profit_Margin_Pct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Shipping_Days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Sales_Channel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Payment_Method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Device</a:t>
            </a: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Return_Status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Delivery_Rating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Customer_Rating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Customer_Loyalty_Points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Customer_Satisfaction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Items_Viewed</a:t>
            </a:r>
            <a:endParaRPr lang="en-US" sz="2400" b="1" spc="38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47625"/>
            <a:ext cx="4081748" cy="942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99"/>
              </a:lnSpc>
              <a:spcBef>
                <a:spcPct val="0"/>
              </a:spcBef>
            </a:pPr>
            <a:r>
              <a:rPr lang="en-US" sz="4499" b="1" spc="71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COLUMNS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050578" cy="10287000"/>
            <a:chOff x="0" y="0"/>
            <a:chExt cx="29104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14375" y="90043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14375" y="-142875"/>
            <a:ext cx="1417831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Statements &amp; Analysis Objectives</a:t>
            </a:r>
          </a:p>
          <a:p>
            <a:pPr algn="l">
              <a:lnSpc>
                <a:spcPts val="7840"/>
              </a:lnSpc>
            </a:pPr>
            <a:endParaRPr lang="en-US" sz="5600" b="1" spc="-224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22265" y="1677035"/>
            <a:ext cx="17965735" cy="737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306" spc="369">
                <a:solidFill>
                  <a:srgbClr val="000000"/>
                </a:solidFill>
                <a:latin typeface="Handelson Six"/>
                <a:ea typeface="Handelson Six"/>
                <a:cs typeface="Handelson Six"/>
                <a:sym typeface="Handelson Six"/>
              </a:rPr>
              <a:t>Problem Statement 1 – Dataset Understanding and Data Cleaning &amp; Duplicate and Invalid Data Handling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e-commerce business is facing data-quality issues that may affect the reliability of its sales analysis.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available transaction data must be examined for missing values, incorrect data types, and incomplete records.</a:t>
            </a:r>
          </a:p>
          <a:p>
            <a:pPr algn="just">
              <a:lnSpc>
                <a:spcPts val="4692"/>
              </a:lnSpc>
              <a:spcBef>
                <a:spcPct val="0"/>
              </a:spcBef>
            </a:pPr>
            <a:r>
              <a:rPr lang="en-US" sz="2606" spc="417">
                <a:solidFill>
                  <a:srgbClr val="000000"/>
                </a:solidFill>
                <a:latin typeface="Handelson Six"/>
                <a:ea typeface="Handelson Six"/>
                <a:cs typeface="Handelson Six"/>
                <a:sym typeface="Handelson Six"/>
              </a:rPr>
              <a:t>Problem Statement 2 – Most-Selling and Most-Profitable Products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business needs to know which products are driving customer demand and which products are generating the most profit.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Differences between high sales volume and high profitability may affect inventory and product strategies.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endParaRPr lang="en-US" sz="2106" spc="337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4512"/>
              </a:lnSpc>
              <a:spcBef>
                <a:spcPct val="0"/>
              </a:spcBef>
            </a:pPr>
            <a:r>
              <a:rPr lang="en-US" sz="2506" spc="401">
                <a:solidFill>
                  <a:srgbClr val="000000"/>
                </a:solidFill>
                <a:latin typeface="Handelson Six"/>
                <a:ea typeface="Handelson Six"/>
                <a:cs typeface="Handelson Six"/>
                <a:sym typeface="Handelson Six"/>
              </a:rPr>
              <a:t>Problem Statement 3 – Sales Channel Preference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business operates through Online, Store, Mobile App, and Marketplace channels but does not know which channel customers prefer most.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Understanding purchasing behavior across these channels is important for improving sales and customer engagement.</a:t>
            </a:r>
          </a:p>
          <a:p>
            <a:pPr algn="just">
              <a:lnSpc>
                <a:spcPts val="3792"/>
              </a:lnSpc>
              <a:spcBef>
                <a:spcPct val="0"/>
              </a:spcBef>
            </a:pPr>
            <a:r>
              <a:rPr lang="en-US" sz="2106" spc="33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analysis should help the business prioritize the channels with the strongest customer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050578" cy="10287000"/>
            <a:chOff x="0" y="0"/>
            <a:chExt cx="29104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0440" cy="2709333"/>
            </a:xfrm>
            <a:custGeom>
              <a:avLst/>
              <a:gdLst/>
              <a:ahLst/>
              <a:cxnLst/>
              <a:rect l="l" t="t" r="r" b="b"/>
              <a:pathLst>
                <a:path w="2910440" h="2709333">
                  <a:moveTo>
                    <a:pt x="0" y="0"/>
                  </a:moveTo>
                  <a:lnTo>
                    <a:pt x="2910440" y="0"/>
                  </a:lnTo>
                  <a:lnTo>
                    <a:pt x="29104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910440" cy="286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14375" y="90043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14375" y="-142875"/>
            <a:ext cx="1417831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Statements &amp; Analysis Objectives</a:t>
            </a:r>
          </a:p>
          <a:p>
            <a:pPr algn="l">
              <a:lnSpc>
                <a:spcPts val="7840"/>
              </a:lnSpc>
            </a:pPr>
            <a:endParaRPr lang="en-US" sz="5600" b="1" spc="-224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612" y="1220720"/>
            <a:ext cx="18101388" cy="925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  <a:spcBef>
                <a:spcPct val="0"/>
              </a:spcBef>
            </a:pP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4 – Customer Payment Method Preference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Customers use multiple payment options, but the business needs to understand which methods are most commonly used.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Low usage or changing preferences may indicate opportunities to improve the payment experience.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analysis should help the business optimize its payment options based on actual customer behavior.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endParaRPr lang="en-US" sz="2100" spc="33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4499"/>
              </a:lnSpc>
              <a:spcBef>
                <a:spcPct val="0"/>
              </a:spcBef>
            </a:pPr>
            <a:r>
              <a:rPr lang="en-US" sz="2499" spc="399">
                <a:solidFill>
                  <a:srgbClr val="000000"/>
                </a:solidFill>
                <a:latin typeface="Handelson Six"/>
                <a:ea typeface="Handelson Six"/>
                <a:cs typeface="Handelson Six"/>
                <a:sym typeface="Handelson Six"/>
              </a:rPr>
              <a:t>Problem Statement 5 – Impact of Marketing Sources on Sales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business is investing in multiple marketing sources but needs to understand which ones are actually generating sales.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Sales performance from Email, Google Ads, Organic, Referral, and Social Media needs to be compared.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results can help management allocate future marketing budgets toward more effective customer acquisition channels.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endParaRPr lang="en-US" sz="2100" spc="33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400" spc="384">
                <a:solidFill>
                  <a:srgbClr val="000000"/>
                </a:solidFill>
                <a:latin typeface="Handelson Six"/>
                <a:ea typeface="Handelson Six"/>
                <a:cs typeface="Handelson Six"/>
                <a:sym typeface="Handelson Six"/>
              </a:rPr>
              <a:t>Problem Statement 6 – Category Attracting Customers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business offers products across several categories but needs to understand where customer demand is strongest.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100" spc="33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Differences in sales between Electronics, Fashion, Sports, Grocery, and Home Appliances can influence inventory and promotional decisions.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endParaRPr lang="en-US" sz="2100" spc="33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7725" y="101917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749636" y="3716029"/>
            <a:ext cx="7538364" cy="6570971"/>
          </a:xfrm>
          <a:custGeom>
            <a:avLst/>
            <a:gdLst/>
            <a:ahLst/>
            <a:cxnLst/>
            <a:rect l="l" t="t" r="r" b="b"/>
            <a:pathLst>
              <a:path w="7538364" h="6570971">
                <a:moveTo>
                  <a:pt x="0" y="0"/>
                </a:moveTo>
                <a:lnTo>
                  <a:pt x="7538364" y="0"/>
                </a:lnTo>
                <a:lnTo>
                  <a:pt x="7538364" y="6570971"/>
                </a:lnTo>
                <a:lnTo>
                  <a:pt x="0" y="657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29816" y="109220"/>
            <a:ext cx="14903768" cy="4865198"/>
            <a:chOff x="0" y="0"/>
            <a:chExt cx="19871691" cy="6486931"/>
          </a:xfrm>
        </p:grpSpPr>
        <p:sp>
          <p:nvSpPr>
            <p:cNvPr id="5" name="TextBox 5"/>
            <p:cNvSpPr txBox="1"/>
            <p:nvPr/>
          </p:nvSpPr>
          <p:spPr>
            <a:xfrm>
              <a:off x="220824" y="-123825"/>
              <a:ext cx="19650866" cy="2575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 spc="-224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Problem Statement 1</a:t>
              </a:r>
            </a:p>
            <a:p>
              <a:pPr algn="l">
                <a:lnSpc>
                  <a:spcPts val="7840"/>
                </a:lnSpc>
              </a:pPr>
              <a:endPara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567551"/>
              <a:ext cx="16610739" cy="491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97699" lvl="1" indent="-298850" algn="l">
                <a:lnSpc>
                  <a:spcPts val="4983"/>
                </a:lnSpc>
                <a:buFont typeface="Arial"/>
                <a:buChar char="•"/>
              </a:pP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Total rows: </a:t>
              </a: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3,055</a:t>
              </a:r>
            </a:p>
            <a:p>
              <a:pPr marL="597699" lvl="1" indent="-298850" algn="l">
                <a:lnSpc>
                  <a:spcPts val="4983"/>
                </a:lnSpc>
                <a:buFont typeface="Arial"/>
                <a:buChar char="•"/>
              </a:pP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Total columns: </a:t>
              </a: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32</a:t>
              </a:r>
            </a:p>
            <a:p>
              <a:pPr marL="597699" lvl="1" indent="-298850" algn="l">
                <a:lnSpc>
                  <a:spcPts val="4983"/>
                </a:lnSpc>
                <a:buFont typeface="Arial"/>
                <a:buChar char="•"/>
              </a:pP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contains </a:t>
              </a: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categorical/object fields</a:t>
              </a: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integer fields</a:t>
              </a: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floating-point numerical fields</a:t>
              </a: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</a:p>
            <a:p>
              <a:pPr marL="597699" lvl="1" indent="-298850" algn="l">
                <a:lnSpc>
                  <a:spcPts val="4983"/>
                </a:lnSpc>
                <a:buFont typeface="Arial"/>
                <a:buChar char="•"/>
              </a:pPr>
              <a:r>
                <a:rPr lang="en-US" sz="2768" b="1" spc="4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Order_Date </a:t>
              </a:r>
              <a:r>
                <a:rPr lang="en-US" sz="2768" spc="44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was initially stored as an object and was converted to a date format during cleaning.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766" y="249399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2115276821"/>
              </p:ext>
            </p:extLst>
          </p:nvPr>
        </p:nvGraphicFramePr>
        <p:xfrm>
          <a:off x="611006" y="5143500"/>
          <a:ext cx="3771900" cy="565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02200" imgH="6781800" progId="Excel.Sheet.12">
                  <p:embed/>
                </p:oleObj>
              </mc:Choice>
              <mc:Fallback>
                <p:oleObj name="Worksheet" r:id="rId2" imgW="4902200" imgH="6781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006" y="5143500"/>
                        <a:ext cx="3771900" cy="565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3533169951"/>
              </p:ext>
            </p:extLst>
          </p:nvPr>
        </p:nvGraphicFramePr>
        <p:xfrm>
          <a:off x="5372100" y="5288708"/>
          <a:ext cx="37719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648200" imgH="5270500" progId="Excel.Sheet.12">
                  <p:embed/>
                </p:oleObj>
              </mc:Choice>
              <mc:Fallback>
                <p:oleObj name="Worksheet" r:id="rId4" imgW="46482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72100" y="5288708"/>
                        <a:ext cx="37719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914400" y="4260318"/>
            <a:ext cx="13132837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 the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numarical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cloumns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 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have to try with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mean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median </a:t>
            </a:r>
            <a:r>
              <a:rPr lang="en-US" sz="2499" spc="3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comapre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those values.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9837" y="483968"/>
            <a:ext cx="1287886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Columns affected by missing values/null values: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455" y="1503142"/>
            <a:ext cx="1956917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Then we </a:t>
            </a:r>
            <a:r>
              <a:rPr lang="en-US" sz="2499" spc="3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spliit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into to parts as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numarical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cloumns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categorical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cloumns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which </a:t>
            </a:r>
          </a:p>
          <a:p>
            <a:pPr algn="l">
              <a:lnSpc>
                <a:spcPts val="4499"/>
              </a:lnSpc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have the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null values.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6973" y="2614185"/>
            <a:ext cx="113996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Mostly we  prefer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fill the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categorical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cloumns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7455" y="1024327"/>
            <a:ext cx="1287886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Null values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are :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2518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6972" y="3122082"/>
            <a:ext cx="641722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City                         76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6972" y="3674532"/>
            <a:ext cx="6074034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Payment_Method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766" y="249399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2706314030"/>
              </p:ext>
            </p:extLst>
          </p:nvPr>
        </p:nvGraphicFramePr>
        <p:xfrm>
          <a:off x="861101" y="3802340"/>
          <a:ext cx="3771900" cy="1042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21200" imgH="1371600" progId="Excel.Sheet.12">
                  <p:embed/>
                </p:oleObj>
              </mc:Choice>
              <mc:Fallback>
                <p:oleObj name="Worksheet" r:id="rId2" imgW="4521200" imgH="1371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1101" y="3802340"/>
                        <a:ext cx="3771900" cy="1042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4204774749"/>
              </p:ext>
            </p:extLst>
          </p:nvPr>
        </p:nvGraphicFramePr>
        <p:xfrm>
          <a:off x="6934200" y="3888523"/>
          <a:ext cx="37719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21200" imgH="1371600" progId="Excel.Sheet.12">
                  <p:embed/>
                </p:oleObj>
              </mc:Choice>
              <mc:Fallback>
                <p:oleObj name="Worksheet" r:id="rId4" imgW="4521200" imgH="1371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34200" y="3888523"/>
                        <a:ext cx="3771900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861101" y="705802"/>
            <a:ext cx="1463897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After comparing  the Mean and Median. I chose Median  to  fill the values.</a:t>
            </a:r>
          </a:p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helps to  reduce the  ouliers.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3608" y="2523628"/>
            <a:ext cx="2888279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For example: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3165607"/>
            <a:ext cx="2040852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07749" y="3154643"/>
            <a:ext cx="1441013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MEDIAN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3863" y="6780031"/>
            <a:ext cx="5551737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spc="384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df.isnull</a:t>
            </a:r>
            <a:r>
              <a:rPr lang="en-US" sz="2400" spc="384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().any().sum()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7766" y="5682537"/>
            <a:ext cx="8692634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2599" spc="4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 again if we have any null values left.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729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454849339"/>
              </p:ext>
            </p:extLst>
          </p:nvPr>
        </p:nvGraphicFramePr>
        <p:xfrm>
          <a:off x="1028700" y="5962650"/>
          <a:ext cx="37719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21200" imgH="3886200" progId="Excel.Sheet.12">
                  <p:embed/>
                </p:oleObj>
              </mc:Choice>
              <mc:Fallback>
                <p:oleObj name="Worksheet" r:id="rId2" imgW="4521200" imgH="3886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5962650"/>
                        <a:ext cx="377190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536037408"/>
              </p:ext>
            </p:extLst>
          </p:nvPr>
        </p:nvGraphicFramePr>
        <p:xfrm>
          <a:off x="1028700" y="5219700"/>
          <a:ext cx="37719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21200" imgH="2006600" progId="Excel.Sheet.12">
                  <p:embed/>
                </p:oleObj>
              </mc:Choice>
              <mc:Fallback>
                <p:oleObj name="Worksheet" r:id="rId4" imgW="4521200" imgH="2006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5219700"/>
                        <a:ext cx="37719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848005113"/>
              </p:ext>
            </p:extLst>
          </p:nvPr>
        </p:nvGraphicFramePr>
        <p:xfrm>
          <a:off x="1028700" y="4324350"/>
          <a:ext cx="37719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521200" imgH="2006600" progId="Excel.Sheet.12">
                  <p:embed/>
                </p:oleObj>
              </mc:Choice>
              <mc:Fallback>
                <p:oleObj name="Worksheet" r:id="rId6" imgW="4521200" imgH="2006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4324350"/>
                        <a:ext cx="3771900" cy="1352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887295" y="1573127"/>
            <a:ext cx="1576591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Removing Duplicated values which are repeated. </a:t>
            </a: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50 rows</a:t>
            </a: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have Duplicated values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7295" y="2686420"/>
            <a:ext cx="1541950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Drop them    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df.drop_duplicates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</a:t>
            </a:r>
            <a:r>
              <a:rPr lang="en-US" sz="2499" b="1" spc="399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inplace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=True)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then we have </a:t>
            </a: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3,000 rows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295" y="3441528"/>
            <a:ext cx="164988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Finding  Invalid data like  Negative values,Exceeded values then given limit(rating).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59947" y="5095875"/>
            <a:ext cx="10826195" cy="1709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3128" lvl="1" indent="-276564" algn="l">
              <a:lnSpc>
                <a:spcPts val="4611"/>
              </a:lnSpc>
              <a:buFont typeface="Arial"/>
              <a:buChar char="•"/>
            </a:pPr>
            <a:r>
              <a:rPr lang="en-US" sz="2561" spc="4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These are the columns we have negative  values </a:t>
            </a:r>
          </a:p>
          <a:p>
            <a:pPr algn="l">
              <a:lnSpc>
                <a:spcPts val="4611"/>
              </a:lnSpc>
            </a:pPr>
            <a:r>
              <a:rPr lang="en-US" sz="2561" spc="4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we have to  replace those </a:t>
            </a:r>
            <a:r>
              <a:rPr lang="en-US" sz="2561" spc="40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values.Except</a:t>
            </a:r>
            <a:r>
              <a:rPr lang="en-US" sz="2561" spc="4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profit , </a:t>
            </a:r>
          </a:p>
          <a:p>
            <a:pPr marL="553128" lvl="1" indent="-276564" algn="l">
              <a:lnSpc>
                <a:spcPts val="4611"/>
              </a:lnSpc>
              <a:buFont typeface="Arial"/>
              <a:buChar char="•"/>
            </a:pPr>
            <a:r>
              <a:rPr lang="en-US" sz="2561" spc="4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profit can be in negative in the Business 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44239" y="6991350"/>
            <a:ext cx="9908966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spc="384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With median I replaced all the  negative values.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5964" y="215264"/>
            <a:ext cx="8167035" cy="565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2699" b="1" spc="43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Duplicate and Invalid Data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0870" y="4667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50870" y="623887"/>
            <a:ext cx="6104573" cy="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2999" b="1" spc="47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Removing the invalid data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460" y="1878415"/>
            <a:ext cx="17386540" cy="562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Shipping_Days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negative shipping days as invalid values.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Customer_Rating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ratings above 5 as invalid.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Quantity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values ≤ 0 as invalid quantities.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Estimated_Cost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negative costs as invalid.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Net_Sales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negative sales values as invalid.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Discount_Amount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negative discount amounts as invalid.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Gross_Amount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negative gross amounts as invalid.</a:t>
            </a:r>
          </a:p>
          <a:p>
            <a:pPr marL="601908" lvl="1" indent="-300954" algn="l">
              <a:lnSpc>
                <a:spcPts val="5018"/>
              </a:lnSpc>
              <a:buFont typeface="Arial"/>
              <a:buChar char="•"/>
            </a:pPr>
            <a:r>
              <a:rPr lang="en-US" sz="2787" b="1" spc="44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Discount_Pct -</a:t>
            </a:r>
            <a:r>
              <a:rPr lang="en-US" sz="2787" spc="4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Identify discount percentages below 0% or above 100% as invalid.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0870" y="4667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28700" y="4032973"/>
            <a:ext cx="6474415" cy="5324972"/>
          </a:xfrm>
          <a:custGeom>
            <a:avLst/>
            <a:gdLst/>
            <a:ahLst/>
            <a:cxnLst/>
            <a:rect l="l" t="t" r="r" b="b"/>
            <a:pathLst>
              <a:path w="6474415" h="5324972">
                <a:moveTo>
                  <a:pt x="0" y="0"/>
                </a:moveTo>
                <a:lnTo>
                  <a:pt x="6474415" y="0"/>
                </a:lnTo>
                <a:lnTo>
                  <a:pt x="6474415" y="5324972"/>
                </a:lnTo>
                <a:lnTo>
                  <a:pt x="0" y="5324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58" t="-591" r="-43241" b="-374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38943" y="4032973"/>
            <a:ext cx="6219596" cy="5664529"/>
          </a:xfrm>
          <a:custGeom>
            <a:avLst/>
            <a:gdLst/>
            <a:ahLst/>
            <a:cxnLst/>
            <a:rect l="l" t="t" r="r" b="b"/>
            <a:pathLst>
              <a:path w="6219596" h="5664529">
                <a:moveTo>
                  <a:pt x="0" y="0"/>
                </a:moveTo>
                <a:lnTo>
                  <a:pt x="6219596" y="0"/>
                </a:lnTo>
                <a:lnTo>
                  <a:pt x="6219596" y="5664528"/>
                </a:lnTo>
                <a:lnTo>
                  <a:pt x="0" y="5664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239" y="594826"/>
            <a:ext cx="1458729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During the analysis we got  invalid data called </a:t>
            </a: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inconsistent capitalization</a:t>
            </a:r>
          </a:p>
          <a:p>
            <a:pPr algn="l">
              <a:lnSpc>
                <a:spcPts val="4499"/>
              </a:lnSpc>
            </a:pP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   </a:t>
            </a: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the 3 columns , </a:t>
            </a: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“City”, “Payment_method”,”Category”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625" y="3105453"/>
            <a:ext cx="164723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Example: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47713" y="2466195"/>
            <a:ext cx="10439400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100" spc="336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df</a:t>
            </a:r>
            <a:r>
              <a:rPr lang="en-US" sz="2100" spc="336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['</a:t>
            </a:r>
            <a:r>
              <a:rPr lang="en-US" sz="2100" spc="336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Payment_Method</a:t>
            </a:r>
            <a:r>
              <a:rPr lang="en-US" sz="2100" spc="336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'] = </a:t>
            </a:r>
            <a:r>
              <a:rPr lang="en-US" sz="2100" spc="336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df</a:t>
            </a:r>
            <a:r>
              <a:rPr lang="en-US" sz="2100" spc="336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['</a:t>
            </a:r>
            <a:r>
              <a:rPr lang="en-US" sz="2100" spc="336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Payment_Method</a:t>
            </a:r>
            <a:r>
              <a:rPr lang="en-US" sz="2100" spc="336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'].</a:t>
            </a:r>
            <a:r>
              <a:rPr lang="en-US" sz="2100" spc="336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str.title</a:t>
            </a:r>
            <a:r>
              <a:rPr lang="en-US" sz="2100" spc="336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()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624" y="2383566"/>
            <a:ext cx="633187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4499"/>
              </a:lnSpc>
              <a:buFont typeface="Arial"/>
              <a:buChar char="•"/>
            </a:pP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By </a:t>
            </a:r>
            <a:r>
              <a:rPr lang="en-US" sz="2499" spc="3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Uing</a:t>
            </a:r>
            <a:r>
              <a:rPr lang="en-US" sz="2499" spc="3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2499" spc="3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str.title</a:t>
            </a:r>
            <a:endParaRPr lang="en-US" sz="2499" spc="39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75805" y="3108613"/>
            <a:ext cx="3259850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499" spc="399" dirty="0" err="1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value_counts</a:t>
            </a:r>
            <a:r>
              <a:rPr lang="en-US" sz="2499" spc="399" dirty="0">
                <a:solidFill>
                  <a:srgbClr val="000000"/>
                </a:solidFill>
                <a:latin typeface="Para"/>
                <a:ea typeface="Para"/>
                <a:cs typeface="Para"/>
                <a:sym typeface="Para"/>
              </a:rPr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36489" y="4116899"/>
            <a:ext cx="15415022" cy="145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3299" b="1" spc="52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NOW THE DATA IS CLEANED  </a:t>
            </a:r>
          </a:p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3299" b="1" spc="52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WITH NO NULL VALUES, NO DUPLICATES, NO INVALID DATA.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98107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5913122" y="2121762"/>
            <a:ext cx="12374878" cy="7592038"/>
          </a:xfrm>
          <a:custGeom>
            <a:avLst/>
            <a:gdLst/>
            <a:ahLst/>
            <a:cxnLst/>
            <a:rect l="l" t="t" r="r" b="b"/>
            <a:pathLst>
              <a:path w="12374878" h="7592038">
                <a:moveTo>
                  <a:pt x="0" y="0"/>
                </a:moveTo>
                <a:lnTo>
                  <a:pt x="12374878" y="0"/>
                </a:lnTo>
                <a:lnTo>
                  <a:pt x="12374878" y="7592038"/>
                </a:lnTo>
                <a:lnTo>
                  <a:pt x="0" y="7592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9470" y="-150501"/>
            <a:ext cx="10865769" cy="113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19"/>
              </a:lnSpc>
              <a:spcBef>
                <a:spcPct val="0"/>
              </a:spcBef>
            </a:pPr>
            <a:r>
              <a:rPr lang="en-US" sz="5399" b="1" spc="-1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51394" y="240027"/>
            <a:ext cx="10117406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MOST-SELLING AND MOST-PROFITABLE PRODUCTS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73170" y="4629150"/>
            <a:ext cx="6105525" cy="89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600"/>
              </a:lnSpc>
              <a:buFont typeface="Arial"/>
              <a:buChar char="•"/>
            </a:pPr>
            <a:r>
              <a:rPr lang="en-US" sz="2000" b="1" spc="32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Novels are the most selling  prodcut </a:t>
            </a:r>
          </a:p>
          <a:p>
            <a:pPr algn="l">
              <a:lnSpc>
                <a:spcPts val="3600"/>
              </a:lnSpc>
            </a:pPr>
            <a:r>
              <a:rPr lang="en-US" sz="2000" b="1" spc="32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    with the Quantity of 1080 sold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640362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4713367" y="1388745"/>
            <a:ext cx="13574633" cy="8259538"/>
          </a:xfrm>
          <a:custGeom>
            <a:avLst/>
            <a:gdLst/>
            <a:ahLst/>
            <a:cxnLst/>
            <a:rect l="l" t="t" r="r" b="b"/>
            <a:pathLst>
              <a:path w="13761246" h="8355489">
                <a:moveTo>
                  <a:pt x="0" y="0"/>
                </a:moveTo>
                <a:lnTo>
                  <a:pt x="13761245" y="0"/>
                </a:lnTo>
                <a:lnTo>
                  <a:pt x="13761245" y="8355488"/>
                </a:lnTo>
                <a:lnTo>
                  <a:pt x="0" y="835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2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9944" y="876300"/>
            <a:ext cx="7130055" cy="49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MOST-PROFITABLE PRODUCTS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01904" y="3872243"/>
            <a:ext cx="5506284" cy="1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320"/>
              </a:lnSpc>
              <a:buFont typeface="Arial"/>
              <a:buChar char="•"/>
            </a:pPr>
            <a:r>
              <a:rPr lang="en-US" sz="2400" b="1" spc="38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Threadmill is the most profitable product, with profit of 482663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453750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219200" y="1028700"/>
            <a:ext cx="14205330" cy="9470220"/>
          </a:xfrm>
          <a:custGeom>
            <a:avLst/>
            <a:gdLst/>
            <a:ahLst/>
            <a:cxnLst/>
            <a:rect l="l" t="t" r="r" b="b"/>
            <a:pathLst>
              <a:path w="14205330" h="9470220">
                <a:moveTo>
                  <a:pt x="0" y="0"/>
                </a:moveTo>
                <a:lnTo>
                  <a:pt x="14205331" y="0"/>
                </a:lnTo>
                <a:lnTo>
                  <a:pt x="14205331" y="9470220"/>
                </a:lnTo>
                <a:lnTo>
                  <a:pt x="0" y="947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9945" y="514350"/>
            <a:ext cx="888265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499" b="1" spc="399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QUANTITY VS PROFIT BY PRODUCT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8487278" y="1606926"/>
            <a:ext cx="9014389" cy="8234842"/>
          </a:xfrm>
          <a:custGeom>
            <a:avLst/>
            <a:gdLst/>
            <a:ahLst/>
            <a:cxnLst/>
            <a:rect l="l" t="t" r="r" b="b"/>
            <a:pathLst>
              <a:path w="9014389" h="8234842">
                <a:moveTo>
                  <a:pt x="0" y="0"/>
                </a:moveTo>
                <a:lnTo>
                  <a:pt x="9014388" y="0"/>
                </a:lnTo>
                <a:lnTo>
                  <a:pt x="9014388" y="8234843"/>
                </a:lnTo>
                <a:lnTo>
                  <a:pt x="0" y="823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663837" y="-154311"/>
            <a:ext cx="10807837" cy="118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5599" b="1" spc="-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51190" y="274767"/>
            <a:ext cx="6750610" cy="59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9"/>
              </a:lnSpc>
              <a:spcBef>
                <a:spcPct val="0"/>
              </a:spcBef>
            </a:pPr>
            <a:r>
              <a:rPr lang="en-US" sz="2899" b="1" spc="463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Sales Channel Preference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220" y="2980652"/>
            <a:ext cx="7893058" cy="262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972" lvl="1" indent="-318986" algn="l">
              <a:lnSpc>
                <a:spcPts val="5318"/>
              </a:lnSpc>
              <a:buFont typeface="Arial"/>
              <a:buChar char="•"/>
            </a:pPr>
            <a:r>
              <a:rPr lang="en-US" sz="2954" b="1" spc="47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Highest purchase: </a:t>
            </a:r>
            <a:r>
              <a:rPr lang="en-US" sz="2954" spc="4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Online and Store (857 purchases each)</a:t>
            </a:r>
          </a:p>
          <a:p>
            <a:pPr marL="637972" lvl="1" indent="-318986" algn="l">
              <a:lnSpc>
                <a:spcPts val="5318"/>
              </a:lnSpc>
              <a:buFont typeface="Arial"/>
              <a:buChar char="•"/>
            </a:pPr>
            <a:r>
              <a:rPr lang="en-US" sz="2954" b="1" spc="47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Mobile App:</a:t>
            </a:r>
            <a:r>
              <a:rPr lang="en-US" sz="2954" spc="4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778 purchases</a:t>
            </a:r>
          </a:p>
          <a:p>
            <a:pPr marL="637972" lvl="1" indent="-318986" algn="l">
              <a:lnSpc>
                <a:spcPts val="5318"/>
              </a:lnSpc>
              <a:buFont typeface="Arial"/>
              <a:buChar char="•"/>
            </a:pPr>
            <a:r>
              <a:rPr lang="en-US" sz="2954" b="1" spc="47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Marketplace:</a:t>
            </a:r>
            <a:r>
              <a:rPr lang="en-US" sz="2954" spc="4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509 purchases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9190974" y="1473903"/>
            <a:ext cx="8068326" cy="7784397"/>
          </a:xfrm>
          <a:custGeom>
            <a:avLst/>
            <a:gdLst/>
            <a:ahLst/>
            <a:cxnLst/>
            <a:rect l="l" t="t" r="r" b="b"/>
            <a:pathLst>
              <a:path w="8068326" h="7784397">
                <a:moveTo>
                  <a:pt x="0" y="0"/>
                </a:moveTo>
                <a:lnTo>
                  <a:pt x="8068326" y="0"/>
                </a:lnTo>
                <a:lnTo>
                  <a:pt x="8068326" y="7784397"/>
                </a:lnTo>
                <a:lnTo>
                  <a:pt x="0" y="7784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663837" y="-154311"/>
            <a:ext cx="10807837" cy="118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5599" b="1" spc="-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4938" y="204784"/>
            <a:ext cx="8991461" cy="59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9"/>
              </a:lnSpc>
              <a:spcBef>
                <a:spcPct val="0"/>
              </a:spcBef>
            </a:pPr>
            <a:r>
              <a:rPr lang="en-US" sz="2899" b="1" spc="463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Customer Payment Method Preference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0873" y="3858483"/>
            <a:ext cx="7893058" cy="286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614" lvl="1" indent="-275807" algn="l">
              <a:lnSpc>
                <a:spcPts val="4598"/>
              </a:lnSpc>
              <a:buFont typeface="Arial"/>
              <a:buChar char="•"/>
            </a:pPr>
            <a:r>
              <a:rPr lang="en-US" sz="2554" b="1" spc="40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Most preferred payment method: Upi (610 purchases)</a:t>
            </a:r>
          </a:p>
          <a:p>
            <a:pPr marL="551614" lvl="1" indent="-275807" algn="l">
              <a:lnSpc>
                <a:spcPts val="4598"/>
              </a:lnSpc>
              <a:buFont typeface="Arial"/>
              <a:buChar char="•"/>
            </a:pPr>
            <a:r>
              <a:rPr lang="en-US" sz="2554" b="1" spc="40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Second preference: Net Banking (505)</a:t>
            </a:r>
          </a:p>
          <a:p>
            <a:pPr algn="l">
              <a:lnSpc>
                <a:spcPts val="4598"/>
              </a:lnSpc>
              <a:spcBef>
                <a:spcPct val="0"/>
              </a:spcBef>
            </a:pPr>
            <a:endParaRPr lang="en-US" sz="2554" b="1" spc="408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12753" y="1028700"/>
            <a:ext cx="11675247" cy="9411960"/>
          </a:xfrm>
          <a:custGeom>
            <a:avLst/>
            <a:gdLst/>
            <a:ahLst/>
            <a:cxnLst/>
            <a:rect l="l" t="t" r="r" b="b"/>
            <a:pathLst>
              <a:path w="11675247" h="9411960">
                <a:moveTo>
                  <a:pt x="0" y="0"/>
                </a:moveTo>
                <a:lnTo>
                  <a:pt x="11675247" y="0"/>
                </a:lnTo>
                <a:lnTo>
                  <a:pt x="11675247" y="9411960"/>
                </a:lnTo>
                <a:lnTo>
                  <a:pt x="0" y="9411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477225" y="-154311"/>
            <a:ext cx="10807837" cy="118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5599" b="1" spc="-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5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99780" y="261934"/>
            <a:ext cx="8554620" cy="565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2699" b="1" spc="43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Impact of Marketing Sources on Sales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668477"/>
            <a:ext cx="6612753" cy="272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5696" lvl="1" indent="-262848" algn="l">
              <a:lnSpc>
                <a:spcPts val="4382"/>
              </a:lnSpc>
              <a:buFont typeface="Arial"/>
              <a:buChar char="•"/>
            </a:pPr>
            <a:r>
              <a:rPr lang="en-US" sz="2434" b="1" spc="38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Top marketing source:</a:t>
            </a:r>
            <a:r>
              <a:rPr lang="en-US" sz="2434" spc="38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Social Media</a:t>
            </a:r>
          </a:p>
          <a:p>
            <a:pPr marL="525696" lvl="1" indent="-262848" algn="l">
              <a:lnSpc>
                <a:spcPts val="4382"/>
              </a:lnSpc>
              <a:buFont typeface="Arial"/>
              <a:buChar char="•"/>
            </a:pPr>
            <a:r>
              <a:rPr lang="en-US" sz="2434" b="1" spc="38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Net Sales generated:</a:t>
            </a:r>
            <a:r>
              <a:rPr lang="en-US" sz="2434" spc="38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2,705,645</a:t>
            </a:r>
          </a:p>
          <a:p>
            <a:pPr marL="525696" lvl="1" indent="-262848" algn="l">
              <a:lnSpc>
                <a:spcPts val="4382"/>
              </a:lnSpc>
              <a:buFont typeface="Arial"/>
              <a:buChar char="•"/>
            </a:pPr>
            <a:r>
              <a:rPr lang="en-US" sz="2434" b="1" spc="38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Lowest among analyzed sources</a:t>
            </a:r>
            <a:r>
              <a:rPr lang="en-US" sz="2434" spc="38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Organic (2,486,754)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9945" y="1076325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274181" y="1028700"/>
            <a:ext cx="12013819" cy="8824185"/>
          </a:xfrm>
          <a:custGeom>
            <a:avLst/>
            <a:gdLst/>
            <a:ahLst/>
            <a:cxnLst/>
            <a:rect l="l" t="t" r="r" b="b"/>
            <a:pathLst>
              <a:path w="12013819" h="8824185">
                <a:moveTo>
                  <a:pt x="0" y="0"/>
                </a:moveTo>
                <a:lnTo>
                  <a:pt x="12013819" y="0"/>
                </a:lnTo>
                <a:lnTo>
                  <a:pt x="12013819" y="8824185"/>
                </a:lnTo>
                <a:lnTo>
                  <a:pt x="0" y="882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477225" y="-154311"/>
            <a:ext cx="10807837" cy="118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5599" b="1" spc="-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6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4067174"/>
            <a:ext cx="6017895" cy="107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499"/>
              </a:lnSpc>
              <a:buFont typeface="Arial"/>
              <a:buChar char="•"/>
            </a:pPr>
            <a:r>
              <a:rPr lang="en-US" sz="2499" b="1" spc="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Highest Net Sales category: </a:t>
            </a:r>
          </a:p>
          <a:p>
            <a:pPr algn="l">
              <a:lnSpc>
                <a:spcPts val="4499"/>
              </a:lnSpc>
            </a:pPr>
            <a:r>
              <a:rPr lang="en-US" sz="2499" spc="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Fashion (1789287)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47661"/>
            <a:ext cx="6368143" cy="146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19"/>
              </a:lnSpc>
              <a:spcBef>
                <a:spcPct val="0"/>
              </a:spcBef>
            </a:pPr>
            <a:r>
              <a:rPr lang="en-US" sz="6899" b="1" spc="3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3867" y="2562063"/>
            <a:ext cx="17700266" cy="50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855" lvl="1" indent="-242428" algn="l">
              <a:lnSpc>
                <a:spcPts val="4042"/>
              </a:lnSpc>
              <a:buFont typeface="Arial"/>
              <a:buChar char="•"/>
            </a:pPr>
            <a:r>
              <a:rPr lang="en-US" sz="2245" spc="3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Future predictions from the cleaned and transformed e-commerce dataset indicate several key trends.</a:t>
            </a:r>
          </a:p>
          <a:p>
            <a:pPr marL="484855" lvl="1" indent="-242428" algn="l">
              <a:lnSpc>
                <a:spcPts val="4042"/>
              </a:lnSpc>
              <a:buFont typeface="Arial"/>
              <a:buChar char="•"/>
            </a:pPr>
            <a:r>
              <a:rPr lang="en-US" sz="2245" spc="3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 behavior is expected to shift towards more personalized shopping experiences, driven by data-driven recommendations across products and channels.</a:t>
            </a:r>
          </a:p>
          <a:p>
            <a:pPr marL="484855" lvl="1" indent="-242428" algn="l">
              <a:lnSpc>
                <a:spcPts val="4042"/>
              </a:lnSpc>
              <a:buFont typeface="Arial"/>
              <a:buChar char="•"/>
            </a:pPr>
            <a:r>
              <a:rPr lang="en-US" sz="2245" spc="3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Sales performance will likely improve with the optimization of payment methods, offering more flexibility and security to consumers.</a:t>
            </a:r>
          </a:p>
          <a:p>
            <a:pPr marL="484855" lvl="1" indent="-242428" algn="l">
              <a:lnSpc>
                <a:spcPts val="4042"/>
              </a:lnSpc>
              <a:buFont typeface="Arial"/>
              <a:buChar char="•"/>
            </a:pPr>
            <a:r>
              <a:rPr lang="en-US" sz="2245" spc="3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Marketing strategies will become increasingly targeted, focusing on high-performing sources and categories, enhancing customer engagement and retention.</a:t>
            </a:r>
          </a:p>
          <a:p>
            <a:pPr marL="484855" lvl="1" indent="-242428" algn="l">
              <a:lnSpc>
                <a:spcPts val="4042"/>
              </a:lnSpc>
              <a:buFont typeface="Arial"/>
              <a:buChar char="•"/>
            </a:pPr>
            <a:r>
              <a:rPr lang="en-US" sz="2245" spc="3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Overall, these insights suggest a promising increase in revenue and profitability for businesses that leverage this comprehensive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13213" y="1358346"/>
            <a:ext cx="6322339" cy="6322339"/>
          </a:xfrm>
          <a:custGeom>
            <a:avLst/>
            <a:gdLst/>
            <a:ahLst/>
            <a:cxnLst/>
            <a:rect l="l" t="t" r="r" b="b"/>
            <a:pathLst>
              <a:path w="6322339" h="6322339">
                <a:moveTo>
                  <a:pt x="0" y="0"/>
                </a:moveTo>
                <a:lnTo>
                  <a:pt x="6322339" y="0"/>
                </a:lnTo>
                <a:lnTo>
                  <a:pt x="6322339" y="6322339"/>
                </a:lnTo>
                <a:lnTo>
                  <a:pt x="0" y="6322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88006" y="4040207"/>
            <a:ext cx="7664171" cy="173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8"/>
              </a:lnSpc>
              <a:spcBef>
                <a:spcPct val="0"/>
              </a:spcBef>
            </a:pPr>
            <a:r>
              <a:rPr lang="en-US" sz="8265" b="1" spc="-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ANY QUESTION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076575"/>
            <a:ext cx="11668766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sz="12000" b="1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THNAK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1130</Words>
  <Application>Microsoft Office PowerPoint</Application>
  <PresentationFormat>Custom</PresentationFormat>
  <Paragraphs>146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Para</vt:lpstr>
      <vt:lpstr>Handelson Six</vt:lpstr>
      <vt:lpstr>Calibri</vt:lpstr>
      <vt:lpstr>PT Serif</vt:lpstr>
      <vt:lpstr>Arial</vt:lpstr>
      <vt:lpstr>Roboto Bold</vt:lpstr>
      <vt:lpstr>Roboto</vt:lpstr>
      <vt:lpstr>Office Theme</vt:lpstr>
      <vt:lpstr>Worksheet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</dc:title>
  <cp:lastModifiedBy>Vignesh Guthi</cp:lastModifiedBy>
  <cp:revision>2</cp:revision>
  <dcterms:created xsi:type="dcterms:W3CDTF">2006-08-16T00:00:00Z</dcterms:created>
  <dcterms:modified xsi:type="dcterms:W3CDTF">2026-08-28T11:09:07Z</dcterms:modified>
  <dc:identifier>DAHTgiYZOKI</dc:identifier>
</cp:coreProperties>
</file>